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59" r:id="rId4"/>
    <p:sldId id="668" r:id="rId5"/>
    <p:sldId id="671" r:id="rId6"/>
    <p:sldId id="669" r:id="rId7"/>
    <p:sldId id="670" r:id="rId8"/>
    <p:sldId id="672" r:id="rId9"/>
    <p:sldId id="673" r:id="rId10"/>
    <p:sldId id="674" r:id="rId11"/>
    <p:sldId id="675" r:id="rId12"/>
    <p:sldId id="676" r:id="rId13"/>
    <p:sldId id="677" r:id="rId14"/>
    <p:sldId id="6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29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DAC97C-5B33-4781-812F-662DF630EBCD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3341F5-7495-47E1-9545-033FF0448F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932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8767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3860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3244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2506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3188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7712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2852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3304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7023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4004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79301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279080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4873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50763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93561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9106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022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9E3A743-186D-4F77-9612-BE4CFC269A59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97158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9B53827-0705-E714-6193-8D30E15280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0500" y="0"/>
            <a:ext cx="12573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127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6A222EB-A81E-4238-B08D-AAB1828C8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14676C-074B-475A-8346-9C901C86C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79C4C8E-197B-4679-AE96-B5147F971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56687" y="1930986"/>
            <a:ext cx="0" cy="3200400"/>
          </a:xfrm>
          <a:prstGeom prst="line">
            <a:avLst/>
          </a:prstGeom>
          <a:ln w="15875" cap="sq">
            <a:solidFill>
              <a:schemeClr val="tx2">
                <a:alpha val="7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A2F8BC53-1D92-2AFC-631B-5986D255097B}"/>
              </a:ext>
            </a:extLst>
          </p:cNvPr>
          <p:cNvSpPr txBox="1"/>
          <p:nvPr/>
        </p:nvSpPr>
        <p:spPr>
          <a:xfrm>
            <a:off x="4352956" y="1266958"/>
            <a:ext cx="7857380" cy="45284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pt-BR" sz="7200" b="0" i="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Encapsulamento</a:t>
            </a:r>
            <a:endParaRPr lang="en-US" sz="7200" b="0" i="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Imagem 1" descr="Java - ícones de logotipo grátis">
            <a:extLst>
              <a:ext uri="{FF2B5EF4-FFF2-40B4-BE49-F238E27FC236}">
                <a16:creationId xmlns:a16="http://schemas.microsoft.com/office/drawing/2014/main" id="{73B0CD15-B44E-4315-4DF4-F7B46587D1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5004" y="1691120"/>
            <a:ext cx="3566680" cy="356668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3CE62C90-F960-52A5-4225-9D5977F813E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910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4B982-FC15-4D85-5175-36591210C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5B1CD2-2C42-7171-FDE6-B3951563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Encapsulamento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AF10BD0-99B4-052A-B6F3-61DACA77C8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4F3A9AC-944C-8F8E-F54B-5EB65400C768}"/>
              </a:ext>
            </a:extLst>
          </p:cNvPr>
          <p:cNvSpPr txBox="1"/>
          <p:nvPr/>
        </p:nvSpPr>
        <p:spPr>
          <a:xfrm>
            <a:off x="854651" y="1481573"/>
            <a:ext cx="10691237" cy="375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653"/>
              </a:spcBef>
            </a:pPr>
            <a:r>
              <a:rPr lang="pt-BR" altLang="pt-BR" sz="3200" dirty="0"/>
              <a:t>A acessibilidade de uma classe, método ou atributo é a forma com que tal elemento pode ser visto e utilizado por outras classes. </a:t>
            </a:r>
          </a:p>
          <a:p>
            <a:pPr algn="just">
              <a:spcBef>
                <a:spcPts val="1653"/>
              </a:spcBef>
            </a:pPr>
            <a:r>
              <a:rPr lang="pt-BR" altLang="pt-BR" sz="3200" dirty="0"/>
              <a:t>Este conceito é também conhecido como acessibilidade ou </a:t>
            </a:r>
            <a:r>
              <a:rPr lang="pt-BR" altLang="pt-BR" sz="3200" i="1" dirty="0"/>
              <a:t>data </a:t>
            </a:r>
            <a:r>
              <a:rPr lang="pt-BR" altLang="pt-BR" sz="3200" i="1" dirty="0" err="1"/>
              <a:t>biding</a:t>
            </a:r>
            <a:r>
              <a:rPr lang="pt-BR" altLang="pt-BR" sz="3200" dirty="0"/>
              <a:t> (ocultamento de dados) sendo muito importante dentro da orientação à objetos.</a:t>
            </a:r>
          </a:p>
        </p:txBody>
      </p:sp>
    </p:spTree>
    <p:extLst>
      <p:ext uri="{BB962C8B-B14F-4D97-AF65-F5344CB8AC3E}">
        <p14:creationId xmlns:p14="http://schemas.microsoft.com/office/powerpoint/2010/main" val="730938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E3B32-4E3A-259C-3CB8-8EC7813B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6CCE9A-BBA5-8F59-E0D2-9254F838E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Encapsulamento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8C99559-E2E2-DDB0-71A6-3919F65722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06854491-052F-2F31-1E86-F7DDE7BD4EB1}"/>
              </a:ext>
            </a:extLst>
          </p:cNvPr>
          <p:cNvSpPr txBox="1"/>
          <p:nvPr/>
        </p:nvSpPr>
        <p:spPr>
          <a:xfrm>
            <a:off x="854651" y="1481573"/>
            <a:ext cx="10691237" cy="4742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653"/>
              </a:spcBef>
            </a:pPr>
            <a:r>
              <a:rPr lang="pt-BR" altLang="pt-BR" sz="3200" dirty="0"/>
              <a:t>A determinação da acessibilidade de uma classe ou membro de classe é feita pelos qualificadores de acesso (</a:t>
            </a:r>
            <a:r>
              <a:rPr lang="pt-BR" altLang="pt-BR" sz="3200" i="1" dirty="0" err="1"/>
              <a:t>access</a:t>
            </a:r>
            <a:r>
              <a:rPr lang="pt-BR" altLang="pt-BR" sz="3200" i="1" dirty="0"/>
              <a:t> </a:t>
            </a:r>
            <a:r>
              <a:rPr lang="pt-BR" altLang="pt-BR" sz="3200" i="1" dirty="0" err="1"/>
              <a:t>qualifiers</a:t>
            </a:r>
            <a:r>
              <a:rPr lang="pt-BR" altLang="pt-BR" sz="3200" dirty="0"/>
              <a:t>), ou seja, por palavras  reservadas da linguagem que definem o grau de encapsulamento exigido por uma classe ou seus elementos, isto é, são especificações para restringir-se o acesso as declarações pertencentes a uma classe ou a própria classe como um todo.</a:t>
            </a:r>
          </a:p>
          <a:p>
            <a:pPr algn="just">
              <a:spcBef>
                <a:spcPts val="1653"/>
              </a:spcBef>
            </a:pPr>
            <a:endParaRPr lang="pt-BR" altLang="pt-BR" sz="3200" dirty="0"/>
          </a:p>
        </p:txBody>
      </p:sp>
    </p:spTree>
    <p:extLst>
      <p:ext uri="{BB962C8B-B14F-4D97-AF65-F5344CB8AC3E}">
        <p14:creationId xmlns:p14="http://schemas.microsoft.com/office/powerpoint/2010/main" val="1252786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CBE3E0FA-B63E-A7E1-06A8-9E8BA0284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0972801" cy="599003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733585D0-88F2-9642-DB36-DAF78F4AB3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565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1D713-2B80-0C3D-B2C8-71F03BD1A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2A2E32-B294-A284-4203-1D5861F0B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Encapsulamento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03E724B-363D-B86D-8FF8-2C889DFDFD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graphicFrame>
        <p:nvGraphicFramePr>
          <p:cNvPr id="3" name="Group 1">
            <a:extLst>
              <a:ext uri="{FF2B5EF4-FFF2-40B4-BE49-F238E27FC236}">
                <a16:creationId xmlns:a16="http://schemas.microsoft.com/office/drawing/2014/main" id="{9BFB6CE5-AD22-1E92-871A-E386472F90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5539544"/>
              </p:ext>
            </p:extLst>
          </p:nvPr>
        </p:nvGraphicFramePr>
        <p:xfrm>
          <a:off x="883694" y="1398190"/>
          <a:ext cx="10244968" cy="4623034"/>
        </p:xfrm>
        <a:graphic>
          <a:graphicData uri="http://schemas.openxmlformats.org/drawingml/2006/table">
            <a:tbl>
              <a:tblPr/>
              <a:tblGrid>
                <a:gridCol w="1766077">
                  <a:extLst>
                    <a:ext uri="{9D8B030D-6E8A-4147-A177-3AD203B41FA5}">
                      <a16:colId xmlns:a16="http://schemas.microsoft.com/office/drawing/2014/main" val="700220975"/>
                    </a:ext>
                  </a:extLst>
                </a:gridCol>
                <a:gridCol w="8478891">
                  <a:extLst>
                    <a:ext uri="{9D8B030D-6E8A-4147-A177-3AD203B41FA5}">
                      <a16:colId xmlns:a16="http://schemas.microsoft.com/office/drawing/2014/main" val="2140495436"/>
                    </a:ext>
                  </a:extLst>
                </a:gridCol>
              </a:tblGrid>
              <a:tr h="439232"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pt-BR" altLang="pt-B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Qualificador</a:t>
                      </a:r>
                    </a:p>
                  </a:txBody>
                  <a:tcPr marL="99208" marR="99208" marT="99185" marB="5158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8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pt-BR" altLang="pt-B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Significado</a:t>
                      </a:r>
                    </a:p>
                  </a:txBody>
                  <a:tcPr marL="99208" marR="99208" marT="99185" marB="5158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8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9118202"/>
                  </a:ext>
                </a:extLst>
              </a:tr>
              <a:tr h="774266"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pt-BR" altLang="pt-BR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public</a:t>
                      </a:r>
                    </a:p>
                  </a:txBody>
                  <a:tcPr marL="99208" marR="99208" marT="99185" marB="51588" horzOverflow="overflow">
                    <a:lnL>
                      <a:noFill/>
                    </a:lnL>
                    <a:lnR>
                      <a:noFill/>
                    </a:lnR>
                    <a:lnT w="18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Indica que o conteúdo público da classe pode ser utilizado livremente por outras classes do mesmo ou de outro pacote.</a:t>
                      </a:r>
                    </a:p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pt-BR" alt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99208" marR="99208" marT="99185" marB="51588" horzOverflow="overflow">
                    <a:lnL>
                      <a:noFill/>
                    </a:lnL>
                    <a:lnR>
                      <a:noFill/>
                    </a:lnR>
                    <a:lnT w="18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3904263"/>
                  </a:ext>
                </a:extLst>
              </a:tr>
              <a:tr h="763042"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pt-BR" altLang="pt-BR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package</a:t>
                      </a:r>
                    </a:p>
                  </a:txBody>
                  <a:tcPr marL="99208" marR="99208" marT="99185" marB="5158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pt-BR" alt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Indica que o conteúdo público da classe pode ser utilizado livremente por outras classes pertencentes ao mesmo pacote.</a:t>
                      </a:r>
                    </a:p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pt-BR" altLang="pt-B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99208" marR="99208" marT="99185" marB="5158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820085"/>
                  </a:ext>
                </a:extLst>
              </a:tr>
              <a:tr h="583305"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pt-BR" altLang="pt-BR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private</a:t>
                      </a:r>
                    </a:p>
                  </a:txBody>
                  <a:tcPr marL="99208" marR="99208" marT="99185" marB="5158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pt-BR" alt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Indica que apenas manipulações internas podem haver dentro da classe, não permitindo acesso nem mesmo por suas instâncias.</a:t>
                      </a:r>
                    </a:p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pt-BR" altLang="pt-B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99208" marR="99208" marT="99185" marB="5158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9381602"/>
                  </a:ext>
                </a:extLst>
              </a:tr>
              <a:tr h="775217"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pt-BR" altLang="pt-BR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protected</a:t>
                      </a:r>
                    </a:p>
                  </a:txBody>
                  <a:tcPr marL="99208" marR="99208" marT="99185" marB="5158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Indica que existe proteção e os detalhes da execução da classe não são apresentados.</a:t>
                      </a:r>
                    </a:p>
                  </a:txBody>
                  <a:tcPr marL="99208" marR="99208" marT="99185" marB="5158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43877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2488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D0809-7D04-24FA-E9AF-0459774EB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870A61-F1BA-D7D0-C3CD-81ED07301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Encapsulamento Prático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C1C43A9-7D1F-3E87-B556-BFC09F73D7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B14B476-B0BB-BDF2-451A-7A3656B45791}"/>
              </a:ext>
            </a:extLst>
          </p:cNvPr>
          <p:cNvSpPr txBox="1"/>
          <p:nvPr/>
        </p:nvSpPr>
        <p:spPr>
          <a:xfrm>
            <a:off x="854651" y="1481573"/>
            <a:ext cx="10691237" cy="3771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653"/>
              </a:spcBef>
            </a:pPr>
            <a:r>
              <a:rPr lang="pt-BR" altLang="pt-BR" sz="2400" dirty="0"/>
              <a:t>Restringir o acesso a certas partes de uma classe equivale a controlar seu uso, o que oferece várias vantagens dentre elas:</a:t>
            </a:r>
          </a:p>
          <a:p>
            <a:pPr lvl="1" algn="just">
              <a:lnSpc>
                <a:spcPct val="90000"/>
              </a:lnSpc>
              <a:spcBef>
                <a:spcPts val="1653"/>
              </a:spcBef>
              <a:buFont typeface="Arial" panose="020B0604020202020204" pitchFamily="34" charset="0"/>
              <a:buChar char="•"/>
            </a:pPr>
            <a:r>
              <a:rPr lang="pt-BR" altLang="pt-BR" sz="2400" dirty="0"/>
              <a:t> O usuário da classe passa a conhecer apenas aquilo que é necessário para o uso da classe;</a:t>
            </a:r>
          </a:p>
          <a:p>
            <a:pPr lvl="1" algn="just">
              <a:lnSpc>
                <a:spcPct val="90000"/>
              </a:lnSpc>
              <a:spcBef>
                <a:spcPts val="1653"/>
              </a:spcBef>
              <a:buFont typeface="Arial" panose="020B0604020202020204" pitchFamily="34" charset="0"/>
              <a:buChar char="•"/>
            </a:pPr>
            <a:r>
              <a:rPr lang="pt-BR" altLang="pt-BR" sz="2400" dirty="0"/>
              <a:t> Detalhes da forma de implementação são ocultos dos usuários da classe;</a:t>
            </a:r>
          </a:p>
          <a:p>
            <a:pPr algn="just">
              <a:spcBef>
                <a:spcPts val="1653"/>
              </a:spcBef>
            </a:pPr>
            <a:endParaRPr lang="pt-BR" altLang="pt-BR" sz="2400" dirty="0"/>
          </a:p>
          <a:p>
            <a:pPr algn="just">
              <a:spcBef>
                <a:spcPts val="1653"/>
              </a:spcBef>
            </a:pPr>
            <a:endParaRPr lang="pt-BR" altLang="pt-BR" sz="2400" dirty="0"/>
          </a:p>
        </p:txBody>
      </p:sp>
    </p:spTree>
    <p:extLst>
      <p:ext uri="{BB962C8B-B14F-4D97-AF65-F5344CB8AC3E}">
        <p14:creationId xmlns:p14="http://schemas.microsoft.com/office/powerpoint/2010/main" val="1031675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47AE4-6F6F-1777-8147-F40D4F9F0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0A4473-9F18-2A6D-F0C6-3F047A03A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Encapsulamento Prático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DBF300D-E8DA-ED16-FBB1-0120FA8E6F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C0092F0-619F-9A38-1EA6-7D6AA05852F5}"/>
              </a:ext>
            </a:extLst>
          </p:cNvPr>
          <p:cNvSpPr txBox="1"/>
          <p:nvPr/>
        </p:nvSpPr>
        <p:spPr>
          <a:xfrm>
            <a:off x="854651" y="1481573"/>
            <a:ext cx="10691237" cy="309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90000"/>
              </a:lnSpc>
              <a:spcBef>
                <a:spcPts val="1653"/>
              </a:spcBef>
              <a:buFont typeface="Arial" panose="020B0604020202020204" pitchFamily="34" charset="0"/>
              <a:buChar char="•"/>
            </a:pPr>
            <a:r>
              <a:rPr lang="pt-BR" altLang="pt-BR" sz="2646" dirty="0"/>
              <a:t> Pode-se assegurar que certos atributos tenham valores restritos a um conjunto mantendo-se a consistência e a integridade dos dados armazenados na classe;</a:t>
            </a:r>
          </a:p>
          <a:p>
            <a:pPr lvl="1" algn="just">
              <a:lnSpc>
                <a:spcPct val="90000"/>
              </a:lnSpc>
              <a:spcBef>
                <a:spcPts val="1653"/>
              </a:spcBef>
              <a:buFont typeface="Arial" panose="020B0604020202020204" pitchFamily="34" charset="0"/>
              <a:buChar char="•"/>
            </a:pPr>
            <a:r>
              <a:rPr lang="pt-BR" altLang="pt-BR" sz="2646" dirty="0"/>
              <a:t> Pode-se garantir que determinadas operações sejam realizadas numa certa sequência ou tenham seu funcionamento condicionado a estados da classe.</a:t>
            </a:r>
          </a:p>
          <a:p>
            <a:pPr algn="just">
              <a:spcBef>
                <a:spcPts val="1653"/>
              </a:spcBef>
            </a:pPr>
            <a:endParaRPr lang="pt-BR" altLang="pt-BR" sz="2400" dirty="0"/>
          </a:p>
        </p:txBody>
      </p:sp>
    </p:spTree>
    <p:extLst>
      <p:ext uri="{BB962C8B-B14F-4D97-AF65-F5344CB8AC3E}">
        <p14:creationId xmlns:p14="http://schemas.microsoft.com/office/powerpoint/2010/main" val="4122684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9595F-85E8-992F-D3FC-019CB1A32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5DCF93-4283-11E0-78D3-3DDEFD6EA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Padrão </a:t>
            </a:r>
            <a:r>
              <a:rPr lang="pt-BR" b="1" dirty="0" err="1"/>
              <a:t>JavaBeans</a:t>
            </a:r>
            <a:endParaRPr lang="pt-BR" b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E842BAD-4867-1586-07E1-70A1BDF8A9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073B008A-4406-2472-4924-73045D0F9AEA}"/>
              </a:ext>
            </a:extLst>
          </p:cNvPr>
          <p:cNvSpPr txBox="1"/>
          <p:nvPr/>
        </p:nvSpPr>
        <p:spPr>
          <a:xfrm>
            <a:off x="854651" y="1481573"/>
            <a:ext cx="10691237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  <a:spcBef>
                <a:spcPts val="1653"/>
              </a:spcBef>
            </a:pPr>
            <a:r>
              <a:rPr lang="pt-BR" sz="2400" dirty="0"/>
              <a:t>Um "Bean" é essencialmente uma classe Java que segue algumas regras simples para ser tratada como um componente reutilizável:</a:t>
            </a:r>
            <a:endParaRPr lang="pt-BR" altLang="pt-BR" sz="24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0691280-05BF-FFC7-A194-CC9E98EE30E0}"/>
              </a:ext>
            </a:extLst>
          </p:cNvPr>
          <p:cNvSpPr txBox="1"/>
          <p:nvPr/>
        </p:nvSpPr>
        <p:spPr>
          <a:xfrm>
            <a:off x="854651" y="2399529"/>
            <a:ext cx="1030518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400" b="1" dirty="0"/>
              <a:t>Construtor público sem argumentos:</a:t>
            </a:r>
            <a:r>
              <a:rPr lang="pt-BR" sz="2400" dirty="0"/>
              <a:t> Permite que ferramentas criem instâncias da classe facilmente.</a:t>
            </a:r>
          </a:p>
          <a:p>
            <a:pPr>
              <a:buNone/>
            </a:pPr>
            <a:endParaRPr lang="pt-BR" sz="2400" dirty="0"/>
          </a:p>
          <a:p>
            <a:pPr>
              <a:buNone/>
            </a:pPr>
            <a:r>
              <a:rPr lang="pt-BR" sz="2400" b="1" dirty="0"/>
              <a:t>Atributos Privados (</a:t>
            </a:r>
            <a:r>
              <a:rPr lang="pt-BR" sz="2400" b="1" dirty="0" err="1">
                <a:latin typeface="Courier New" panose="02070309020205020404" pitchFamily="49" charset="0"/>
              </a:rPr>
              <a:t>private</a:t>
            </a:r>
            <a:r>
              <a:rPr lang="pt-BR" sz="2400" b="1" dirty="0"/>
              <a:t>):</a:t>
            </a:r>
            <a:r>
              <a:rPr lang="pt-BR" sz="2400" dirty="0"/>
              <a:t> Garante que os dados internos não sejam acessados diretamente de fora da classe.</a:t>
            </a:r>
          </a:p>
          <a:p>
            <a:pPr>
              <a:buNone/>
            </a:pPr>
            <a:endParaRPr lang="pt-BR" sz="2400" dirty="0"/>
          </a:p>
          <a:p>
            <a:pPr>
              <a:buNone/>
            </a:pPr>
            <a:r>
              <a:rPr lang="pt-BR" sz="2400" b="1" dirty="0"/>
              <a:t>Métodos </a:t>
            </a:r>
            <a:r>
              <a:rPr lang="pt-BR" sz="2400" b="1" dirty="0" err="1"/>
              <a:t>Getters</a:t>
            </a:r>
            <a:r>
              <a:rPr lang="pt-BR" sz="2400" b="1" dirty="0"/>
              <a:t> e </a:t>
            </a:r>
            <a:r>
              <a:rPr lang="pt-BR" sz="2400" b="1" dirty="0" err="1"/>
              <a:t>Setters</a:t>
            </a:r>
            <a:r>
              <a:rPr lang="pt-BR" sz="2400" b="1" dirty="0"/>
              <a:t> Públicos:</a:t>
            </a:r>
            <a:r>
              <a:rPr lang="pt-BR" sz="2400" dirty="0"/>
              <a:t> São a "porta de entrada" controlada para ler ou modificar os atributos.</a:t>
            </a:r>
          </a:p>
        </p:txBody>
      </p:sp>
    </p:spTree>
    <p:extLst>
      <p:ext uri="{BB962C8B-B14F-4D97-AF65-F5344CB8AC3E}">
        <p14:creationId xmlns:p14="http://schemas.microsoft.com/office/powerpoint/2010/main" val="3182788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340F4-0A97-2596-2360-61B653FCD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913920-6AC7-A6E2-4687-5D71D8510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Lógica dos </a:t>
            </a:r>
            <a:r>
              <a:rPr lang="pt-BR" b="1" dirty="0" err="1"/>
              <a:t>Getters</a:t>
            </a:r>
            <a:r>
              <a:rPr lang="pt-BR" b="1" dirty="0"/>
              <a:t> e </a:t>
            </a:r>
            <a:r>
              <a:rPr lang="pt-BR" b="1" dirty="0" err="1"/>
              <a:t>Setters</a:t>
            </a:r>
            <a:endParaRPr lang="pt-BR" b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35818A8-5FD8-FC09-2122-D4CB6C3C74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77CE66BF-6322-0DD2-3AA6-E609CAF8210D}"/>
              </a:ext>
            </a:extLst>
          </p:cNvPr>
          <p:cNvSpPr txBox="1"/>
          <p:nvPr/>
        </p:nvSpPr>
        <p:spPr>
          <a:xfrm>
            <a:off x="646110" y="1457236"/>
            <a:ext cx="106903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400" dirty="0"/>
              <a:t>O objetivo principal aqui é o </a:t>
            </a:r>
            <a:r>
              <a:rPr lang="pt-BR" sz="2400" b="1" dirty="0"/>
              <a:t>Encapsulamento</a:t>
            </a:r>
            <a:r>
              <a:rPr lang="pt-BR" sz="2400" dirty="0"/>
              <a:t>. Imagine que a classe é um cofre; os atributos são o que está guardado lá dentro e os métodos </a:t>
            </a:r>
            <a:r>
              <a:rPr lang="pt-BR" sz="2400" dirty="0" err="1">
                <a:latin typeface="Courier New" panose="02070309020205020404" pitchFamily="49" charset="0"/>
              </a:rPr>
              <a:t>get</a:t>
            </a:r>
            <a:r>
              <a:rPr lang="pt-BR" sz="2400" dirty="0"/>
              <a:t> e </a:t>
            </a:r>
            <a:r>
              <a:rPr lang="pt-BR" sz="2400" dirty="0">
                <a:latin typeface="Courier New" panose="02070309020205020404" pitchFamily="49" charset="0"/>
              </a:rPr>
              <a:t>set</a:t>
            </a:r>
            <a:r>
              <a:rPr lang="pt-BR" sz="2400" dirty="0"/>
              <a:t> são a interface de segurança.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30ACC03-E078-9AC3-9B10-389D3D5F6F0B}"/>
              </a:ext>
            </a:extLst>
          </p:cNvPr>
          <p:cNvSpPr txBox="1"/>
          <p:nvPr/>
        </p:nvSpPr>
        <p:spPr>
          <a:xfrm>
            <a:off x="646109" y="3123337"/>
            <a:ext cx="1086701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pt-BR" sz="2400" b="1" dirty="0" err="1"/>
              <a:t>Getter</a:t>
            </a:r>
            <a:r>
              <a:rPr lang="pt-BR" sz="2400" b="1" dirty="0"/>
              <a:t> (O Leitor)</a:t>
            </a:r>
          </a:p>
          <a:p>
            <a:pPr algn="just">
              <a:buNone/>
            </a:pPr>
            <a:r>
              <a:rPr lang="pt-BR" sz="2400" dirty="0"/>
              <a:t>Serve para recuperar o valor de um atributo. Por convenção, ele começa com </a:t>
            </a:r>
            <a:r>
              <a:rPr lang="pt-BR" sz="2400" dirty="0" err="1">
                <a:latin typeface="Courier New" panose="02070309020205020404" pitchFamily="49" charset="0"/>
              </a:rPr>
              <a:t>get</a:t>
            </a:r>
            <a:r>
              <a:rPr lang="pt-BR" sz="2400" dirty="0"/>
              <a:t> seguido do nome do atributo com a primeira letra maiúscula.</a:t>
            </a:r>
          </a:p>
          <a:p>
            <a:pPr algn="just">
              <a:buNone/>
            </a:pPr>
            <a:endParaRPr lang="pt-BR" sz="2400" dirty="0"/>
          </a:p>
          <a:p>
            <a:pPr algn="just"/>
            <a:r>
              <a:rPr lang="pt-BR" sz="2400" b="1" dirty="0"/>
              <a:t>Exemplo:</a:t>
            </a:r>
            <a:r>
              <a:rPr lang="pt-BR" sz="2400" dirty="0"/>
              <a:t> </a:t>
            </a:r>
          </a:p>
          <a:p>
            <a:pPr lvl="2" algn="just"/>
            <a:r>
              <a:rPr lang="pt-BR" sz="24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Courier New" panose="02070309020205020404" pitchFamily="49" charset="0"/>
              </a:rPr>
              <a:t>public</a:t>
            </a:r>
            <a:r>
              <a:rPr lang="pt-BR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urier New" panose="02070309020205020404" pitchFamily="49" charset="0"/>
              </a:rPr>
              <a:t> </a:t>
            </a:r>
            <a:r>
              <a:rPr lang="pt-BR" sz="24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Courier New" panose="02070309020205020404" pitchFamily="49" charset="0"/>
              </a:rPr>
              <a:t>float</a:t>
            </a:r>
            <a:r>
              <a:rPr lang="pt-BR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urier New" panose="02070309020205020404" pitchFamily="49" charset="0"/>
              </a:rPr>
              <a:t> </a:t>
            </a:r>
            <a:r>
              <a:rPr lang="pt-BR" sz="24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Courier New" panose="02070309020205020404" pitchFamily="49" charset="0"/>
              </a:rPr>
              <a:t>getVelocidade</a:t>
            </a:r>
            <a:r>
              <a:rPr lang="pt-BR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urier New" panose="02070309020205020404" pitchFamily="49" charset="0"/>
              </a:rPr>
              <a:t>() {</a:t>
            </a:r>
          </a:p>
          <a:p>
            <a:pPr lvl="2" algn="just"/>
            <a:r>
              <a:rPr lang="pt-BR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urier New" panose="02070309020205020404" pitchFamily="49" charset="0"/>
              </a:rPr>
              <a:t>    </a:t>
            </a:r>
            <a:r>
              <a:rPr lang="pt-BR" sz="24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Courier New" panose="02070309020205020404" pitchFamily="49" charset="0"/>
              </a:rPr>
              <a:t>return</a:t>
            </a:r>
            <a:r>
              <a:rPr lang="pt-BR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urier New" panose="02070309020205020404" pitchFamily="49" charset="0"/>
              </a:rPr>
              <a:t> </a:t>
            </a:r>
            <a:r>
              <a:rPr lang="pt-BR" sz="24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Courier New" panose="02070309020205020404" pitchFamily="49" charset="0"/>
              </a:rPr>
              <a:t>this.velocidade</a:t>
            </a:r>
            <a:r>
              <a:rPr lang="pt-BR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urier New" panose="02070309020205020404" pitchFamily="49" charset="0"/>
              </a:rPr>
              <a:t>; </a:t>
            </a:r>
          </a:p>
          <a:p>
            <a:pPr lvl="2" algn="just"/>
            <a:r>
              <a:rPr lang="pt-BR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urier New" panose="02070309020205020404" pitchFamily="49" charset="0"/>
              </a:rPr>
              <a:t>}</a:t>
            </a:r>
            <a:endParaRPr lang="pt-BR" sz="2400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253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F0610-E791-96EA-4F79-4DA5B06E4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E08C4C-4C97-D063-84D0-FDE44A6B9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Lógica dos </a:t>
            </a:r>
            <a:r>
              <a:rPr lang="pt-BR" b="1" dirty="0" err="1"/>
              <a:t>Getters</a:t>
            </a:r>
            <a:r>
              <a:rPr lang="pt-BR" b="1" dirty="0"/>
              <a:t> e </a:t>
            </a:r>
            <a:r>
              <a:rPr lang="pt-BR" b="1" dirty="0" err="1"/>
              <a:t>Setters</a:t>
            </a:r>
            <a:endParaRPr lang="pt-BR" b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9045BD8-BB02-C30A-FC16-CDD445A93F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0C61A7B5-C397-A807-CF98-6174232D0872}"/>
              </a:ext>
            </a:extLst>
          </p:cNvPr>
          <p:cNvSpPr txBox="1"/>
          <p:nvPr/>
        </p:nvSpPr>
        <p:spPr>
          <a:xfrm>
            <a:off x="646109" y="1460792"/>
            <a:ext cx="1086701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 err="1"/>
              <a:t>Setter</a:t>
            </a:r>
            <a:r>
              <a:rPr lang="pt-BR" sz="2400" b="1" dirty="0"/>
              <a:t> (O Gravador)</a:t>
            </a:r>
          </a:p>
          <a:p>
            <a:r>
              <a:rPr lang="pt-BR" sz="2400" dirty="0"/>
              <a:t>Serve para alterar o valor de um atributo. Ele começa com </a:t>
            </a:r>
            <a:r>
              <a:rPr lang="pt-BR" dirty="0"/>
              <a:t>set</a:t>
            </a:r>
            <a:r>
              <a:rPr lang="pt-BR" sz="2400" dirty="0"/>
              <a:t> e recebe um parâmetro do mesmo tipo do atributo.</a:t>
            </a:r>
          </a:p>
          <a:p>
            <a:pPr algn="just">
              <a:buNone/>
            </a:pPr>
            <a:endParaRPr lang="pt-BR" sz="2400" dirty="0"/>
          </a:p>
          <a:p>
            <a:pPr algn="just"/>
            <a:r>
              <a:rPr lang="pt-BR" sz="2400" b="1" dirty="0"/>
              <a:t>Exemplo:</a:t>
            </a:r>
            <a:r>
              <a:rPr lang="pt-BR" sz="2400" dirty="0"/>
              <a:t> </a:t>
            </a:r>
          </a:p>
          <a:p>
            <a:pPr lvl="2" algn="just"/>
            <a:r>
              <a:rPr lang="pt-BR" sz="24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Courier New" panose="02070309020205020404" pitchFamily="49" charset="0"/>
              </a:rPr>
              <a:t>public</a:t>
            </a:r>
            <a:r>
              <a:rPr lang="pt-BR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urier New" panose="02070309020205020404" pitchFamily="49" charset="0"/>
              </a:rPr>
              <a:t> </a:t>
            </a:r>
            <a:r>
              <a:rPr lang="pt-BR" sz="24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Courier New" panose="02070309020205020404" pitchFamily="49" charset="0"/>
              </a:rPr>
              <a:t>void</a:t>
            </a:r>
            <a:r>
              <a:rPr lang="pt-BR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urier New" panose="02070309020205020404" pitchFamily="49" charset="0"/>
              </a:rPr>
              <a:t> </a:t>
            </a:r>
            <a:r>
              <a:rPr lang="pt-BR" sz="24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Courier New" panose="02070309020205020404" pitchFamily="49" charset="0"/>
              </a:rPr>
              <a:t>setVelocidade</a:t>
            </a:r>
            <a:r>
              <a:rPr lang="pt-BR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urier New" panose="02070309020205020404" pitchFamily="49" charset="0"/>
              </a:rPr>
              <a:t>(</a:t>
            </a:r>
            <a:r>
              <a:rPr lang="pt-BR" sz="24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Courier New" panose="02070309020205020404" pitchFamily="49" charset="0"/>
              </a:rPr>
              <a:t>float</a:t>
            </a:r>
            <a:r>
              <a:rPr lang="pt-BR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urier New" panose="02070309020205020404" pitchFamily="49" charset="0"/>
              </a:rPr>
              <a:t> velocidade) {</a:t>
            </a:r>
          </a:p>
          <a:p>
            <a:pPr lvl="2" algn="just"/>
            <a:r>
              <a:rPr lang="pt-BR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urier New" panose="02070309020205020404" pitchFamily="49" charset="0"/>
              </a:rPr>
              <a:t>    </a:t>
            </a:r>
            <a:r>
              <a:rPr lang="pt-BR" sz="24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Courier New" panose="02070309020205020404" pitchFamily="49" charset="0"/>
              </a:rPr>
              <a:t>this.velocidade</a:t>
            </a:r>
            <a:r>
              <a:rPr lang="pt-BR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urier New" panose="02070309020205020404" pitchFamily="49" charset="0"/>
              </a:rPr>
              <a:t> = velocidade; </a:t>
            </a:r>
          </a:p>
          <a:p>
            <a:pPr lvl="2" algn="just"/>
            <a:r>
              <a:rPr lang="pt-BR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urier New" panose="02070309020205020404" pitchFamily="49" charset="0"/>
              </a:rPr>
              <a:t>}</a:t>
            </a:r>
            <a:endParaRPr lang="pt-BR" sz="2400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498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E6870-6389-9F8C-4ECC-07DF01123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F4BC70-2213-645D-FF18-8DA681496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Por que usar </a:t>
            </a:r>
            <a:r>
              <a:rPr lang="pt-BR" b="1" dirty="0" err="1"/>
              <a:t>Getters</a:t>
            </a:r>
            <a:r>
              <a:rPr lang="pt-BR" b="1" dirty="0"/>
              <a:t> e </a:t>
            </a:r>
            <a:r>
              <a:rPr lang="pt-BR" b="1" dirty="0" err="1"/>
              <a:t>Setters</a:t>
            </a:r>
            <a:r>
              <a:rPr lang="pt-BR" b="1" dirty="0"/>
              <a:t> em vez de atributos públicos?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6C3AA4C-D5BC-B896-7608-96632C1869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AEE301BD-BBAA-0FFA-66A6-3181822BD50D}"/>
              </a:ext>
            </a:extLst>
          </p:cNvPr>
          <p:cNvSpPr txBox="1"/>
          <p:nvPr/>
        </p:nvSpPr>
        <p:spPr>
          <a:xfrm>
            <a:off x="646111" y="1994564"/>
            <a:ext cx="1103327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b="1" dirty="0"/>
              <a:t>Controle de Acesso:</a:t>
            </a:r>
            <a:r>
              <a:rPr lang="pt-BR" sz="2400" dirty="0"/>
              <a:t> Você pode tornar um atributo "somente leitura" bastando não criar o método </a:t>
            </a:r>
            <a:r>
              <a:rPr lang="pt-BR" sz="2400" dirty="0">
                <a:latin typeface="Courier New" panose="02070309020205020404" pitchFamily="49" charset="0"/>
              </a:rPr>
              <a:t>set</a:t>
            </a:r>
            <a:r>
              <a:rPr lang="pt-BR" sz="2400" dirty="0"/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b="1" dirty="0"/>
              <a:t>Validação de Dados:</a:t>
            </a:r>
            <a:r>
              <a:rPr lang="pt-BR" sz="2400" dirty="0"/>
              <a:t> No </a:t>
            </a:r>
            <a:r>
              <a:rPr lang="pt-BR" sz="2400" dirty="0">
                <a:latin typeface="Courier New" panose="02070309020205020404" pitchFamily="49" charset="0"/>
              </a:rPr>
              <a:t>set</a:t>
            </a:r>
            <a:r>
              <a:rPr lang="pt-BR" sz="2400" dirty="0"/>
              <a:t>, você pode impedir que um </a:t>
            </a:r>
            <a:r>
              <a:rPr lang="pt-BR" sz="2400" dirty="0">
                <a:latin typeface="Courier New" panose="02070309020205020404" pitchFamily="49" charset="0"/>
              </a:rPr>
              <a:t>Carro</a:t>
            </a:r>
            <a:r>
              <a:rPr lang="pt-BR" sz="2400" dirty="0"/>
              <a:t> tenha velocidade negativa antes de atribuir o valor.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b="1" dirty="0"/>
              <a:t>Flexibilidade:</a:t>
            </a:r>
            <a:r>
              <a:rPr lang="pt-BR" sz="2400" dirty="0"/>
              <a:t> Se no futuro você precisar mudar como o dado é armazenado, você altera apenas o código dentro do método, sem quebrar as outras classes que usam o seu Bean.</a:t>
            </a:r>
          </a:p>
        </p:txBody>
      </p:sp>
    </p:spTree>
    <p:extLst>
      <p:ext uri="{BB962C8B-B14F-4D97-AF65-F5344CB8AC3E}">
        <p14:creationId xmlns:p14="http://schemas.microsoft.com/office/powerpoint/2010/main" val="4834029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F13FD-1C71-7BC2-F531-08B0D6FF9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016D4F-546B-08EC-E1BA-565E4DD47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Por que usar </a:t>
            </a:r>
            <a:r>
              <a:rPr lang="pt-BR" b="1" dirty="0" err="1"/>
              <a:t>Getters</a:t>
            </a:r>
            <a:r>
              <a:rPr lang="pt-BR" b="1" dirty="0"/>
              <a:t> e </a:t>
            </a:r>
            <a:r>
              <a:rPr lang="pt-BR" b="1" dirty="0" err="1"/>
              <a:t>Setters</a:t>
            </a:r>
            <a:r>
              <a:rPr lang="pt-BR" b="1" dirty="0"/>
              <a:t> em vez de atributos públicos?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F0B9C6A-6D73-BB52-2AD1-0730ED3429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E988DB2-D8CD-D21F-2C1C-99A69F80B2CA}"/>
              </a:ext>
            </a:extLst>
          </p:cNvPr>
          <p:cNvSpPr txBox="1"/>
          <p:nvPr/>
        </p:nvSpPr>
        <p:spPr>
          <a:xfrm>
            <a:off x="646111" y="2025735"/>
            <a:ext cx="1103327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b="1" dirty="0"/>
              <a:t>Compatibilidade com Frameworks:</a:t>
            </a:r>
            <a:r>
              <a:rPr lang="pt-BR" sz="2400" dirty="0"/>
              <a:t> Ferramentas como o </a:t>
            </a:r>
            <a:r>
              <a:rPr lang="pt-BR" sz="2400" b="1" dirty="0" err="1"/>
              <a:t>Hibernate</a:t>
            </a:r>
            <a:r>
              <a:rPr lang="pt-BR" sz="2400" dirty="0"/>
              <a:t> ou geradores de interface (como o seu gerador de Frames Swing) usam reflexão para procurar por esses padrões de nomes e automatizar a criação de telas e tabelas.</a:t>
            </a:r>
          </a:p>
        </p:txBody>
      </p:sp>
    </p:spTree>
    <p:extLst>
      <p:ext uri="{BB962C8B-B14F-4D97-AF65-F5344CB8AC3E}">
        <p14:creationId xmlns:p14="http://schemas.microsoft.com/office/powerpoint/2010/main" val="13051337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B3DE2-011F-EE70-C03D-1EB44B2FD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04BEC55-E8C4-2BAA-06FC-DFEAE74752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0500" y="0"/>
            <a:ext cx="12573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8907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Í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Í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136</TotalTime>
  <Words>660</Words>
  <Application>Microsoft Office PowerPoint</Application>
  <PresentationFormat>Widescreen</PresentationFormat>
  <Paragraphs>56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1" baseType="lpstr">
      <vt:lpstr>Aptos</vt:lpstr>
      <vt:lpstr>Arial</vt:lpstr>
      <vt:lpstr>Calibri</vt:lpstr>
      <vt:lpstr>Century Gothic</vt:lpstr>
      <vt:lpstr>Courier New</vt:lpstr>
      <vt:lpstr>Wingdings 3</vt:lpstr>
      <vt:lpstr>Íon</vt:lpstr>
      <vt:lpstr>Apresentação do PowerPoint</vt:lpstr>
      <vt:lpstr>Apresentação do PowerPoint</vt:lpstr>
      <vt:lpstr>Encapsulamento</vt:lpstr>
      <vt:lpstr>Encapsulamento</vt:lpstr>
      <vt:lpstr>Apresentação do PowerPoint</vt:lpstr>
      <vt:lpstr>Encapsulamento</vt:lpstr>
      <vt:lpstr>Encapsulamento Prático</vt:lpstr>
      <vt:lpstr>Encapsulamento Prático</vt:lpstr>
      <vt:lpstr>Padrão JavaBeans</vt:lpstr>
      <vt:lpstr>Lógica dos Getters e Setters</vt:lpstr>
      <vt:lpstr>Lógica dos Getters e Setters</vt:lpstr>
      <vt:lpstr>Por que usar Getters e Setters em vez de atributos públicos?</vt:lpstr>
      <vt:lpstr>Por que usar Getters e Setters em vez de atributos públicos?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PAULO CESAR B. DA SILVA</dc:creator>
  <cp:lastModifiedBy>PAULO CESAR B. DA SILVA</cp:lastModifiedBy>
  <cp:revision>19</cp:revision>
  <dcterms:created xsi:type="dcterms:W3CDTF">2026-05-09T23:28:48Z</dcterms:created>
  <dcterms:modified xsi:type="dcterms:W3CDTF">2026-05-10T19:59:21Z</dcterms:modified>
</cp:coreProperties>
</file>