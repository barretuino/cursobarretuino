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9" r:id="rId4"/>
    <p:sldId id="670" r:id="rId5"/>
    <p:sldId id="671" r:id="rId6"/>
    <p:sldId id="668" r:id="rId7"/>
    <p:sldId id="669" r:id="rId8"/>
    <p:sldId id="672" r:id="rId9"/>
    <p:sldId id="673" r:id="rId10"/>
    <p:sldId id="674" r:id="rId11"/>
    <p:sldId id="675" r:id="rId12"/>
    <p:sldId id="677" r:id="rId13"/>
    <p:sldId id="678" r:id="rId14"/>
    <p:sldId id="679" r:id="rId15"/>
    <p:sldId id="680" r:id="rId16"/>
    <p:sldId id="681" r:id="rId17"/>
    <p:sldId id="682" r:id="rId18"/>
    <p:sldId id="683" r:id="rId19"/>
    <p:sldId id="684" r:id="rId20"/>
    <p:sldId id="685" r:id="rId21"/>
    <p:sldId id="686" r:id="rId22"/>
    <p:sldId id="66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DAC97C-5B33-4781-812F-662DF630EBCD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341F5-7495-47E1-9545-033FF0448F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3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0227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C54B0-5A4D-6B98-E9CD-4FB90E6D4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E2DFD98-2622-3F46-EB65-471B1CBC9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11AF258-27C9-A38A-A359-05CB2D1E4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7B3B6AF-4610-F774-535F-D1D974375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7338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3F9DF-8E03-4219-CB6B-F22141014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A18170D-1869-4430-EDB2-284D01CB6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A5CE20D-AE9D-F0D4-4EB0-39B0743336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C8B9CA-5893-29BF-D08E-FCDA984863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5659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B0C02-9961-8159-4E7B-4A01C0D97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8DAA5CA-105E-F66B-F036-7A101FA33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01CCD9C-22A5-10D2-255D-E41235BA66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5153CA2-8C7B-90AF-F4C5-A023AD9E8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8112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E3764-79D8-8B96-3213-5D84775BB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5D63D48-8490-00CD-6C78-AE4C07C473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2096D49-041A-CD8F-5DD0-7AEE9342C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8A1376-1C31-2B13-E24C-6C7A66377D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4575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EF34F-FAE2-EAB6-7108-1D4321244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18CB4C7-F42B-2BB8-8753-B891D8FDD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0210249-97B0-114E-8746-B76D0BD0D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8EC6EFC-DC01-7F83-E762-412F25DE05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6818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2DA06-A691-49EB-AC0E-C81E39C55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B554D31-0C94-4CB7-6188-359E7A5E56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08AEF57-7A5B-98C3-F734-38DC1E18E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5AE72B-3584-2660-1D67-9745D5623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1568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E58EE-148A-6B00-48E6-D295752B1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BF95F3D-F5AC-4C91-B32D-F290B34E3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6872DB7-9DEE-56BC-6FD3-19601FD91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D6F851-3A00-2AEE-0685-C967D688E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822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52F3E-D35A-A454-6F2F-B56870467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CA1BEC3-C09E-BA76-7DC2-418A32681C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4C466D4-C446-F991-DAD9-C9BD2456F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3F7C4F-F354-24DC-865F-234EE9F68F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4957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846B4-8CE2-18D3-1761-070D90EEE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161F6F9-6EC8-2D6E-785E-03AEECA2D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5F5E282-A9A6-6AAF-F388-D90D07D4F2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96A82B-EA9E-B2C2-21E7-B59DE7C79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56030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4CA14-DD4C-301C-5267-CE3A37F67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9613A06-A8CF-5DAB-76E6-510E793F9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C33289B-A444-BC1E-3003-5C6CFE0CD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9161538-BE51-CF9E-B155-48DBF2DEC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22294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7B4ED-30B0-D073-FA1E-A758C2F9F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57EE0F8-8E37-AF00-5A19-E6B66A280A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7D44E03-7AC7-6D05-CF77-930BE1C62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B4F15F6-3EE0-BE28-53F7-F15966D647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2720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2DEED-9220-06D5-2C32-0AFFD38C4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7BB0394-B91D-B92D-A08B-5E7F4FA1A7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107C8F-B240-9D65-F785-3493EA1AD6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CE83FC2-A9E5-9BC6-8786-3BD200F21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7472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4661A-16FD-E013-E9AF-BDDC8CA23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0EAF5A9-40E5-B6BA-2C84-44F7FF0BA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A37538B-23ED-D45E-91B9-CC2A008E4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865C56-52C6-F813-D981-ECDF4DF82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27072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D6C2F-AE87-70C3-A74C-AE00EBB67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69889D2-7667-6853-4134-47574A9DBF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BB1E46B-CFCF-6DF9-3C97-4B9C4F30F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21AEDA-FA60-5A7F-4D49-0C93557F62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65537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327AC-B705-308F-3B9C-705B75F4E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99D1878-B8E7-AB53-FBBF-F3F50396E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DDA43AB-70FB-F092-16A6-801D0E0179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3933C8-CF5B-2C9F-6BEC-1D9DE1C63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75351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BEFDE-0E54-41D7-15CE-03EBA4E88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B8AC042-AF7B-5AF0-2F3C-600BB56B3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03E6820-C0B5-3267-9325-4DB3462E7C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DF5F251-7EF3-213E-4B43-D953B1122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24438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9CB4D-FEDF-D71C-C473-D7618B485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3B5388A-22F9-813D-0B8C-94B755F74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67851DA-225A-A30B-E384-EC0611262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11FFDF1-D399-456A-0124-D74A1735B9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84503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820E7-DECC-D015-D7E3-6963AD7CF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2F33116-3A03-B7DF-9E1F-C43747748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29A2DE7-6413-DE23-876C-1E8A8A569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56F3717-75CA-E29F-9B4C-3B17B71468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6844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876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86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24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50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18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712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85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30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02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00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93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7908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87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076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356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10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2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9E3A743-186D-4F77-9612-BE4CFC269A59}" type="datetimeFigureOut">
              <a:rPr lang="pt-BR" smtClean="0"/>
              <a:t>13/05/2026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7158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9B53827-0705-E714-6193-8D30E1528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2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F8BC53-1D92-2AFC-631B-5986D255097B}"/>
              </a:ext>
            </a:extLst>
          </p:cNvPr>
          <p:cNvSpPr txBox="1"/>
          <p:nvPr/>
        </p:nvSpPr>
        <p:spPr>
          <a:xfrm>
            <a:off x="4751690" y="1266958"/>
            <a:ext cx="7458645" cy="4528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pt-BR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Tratamento de Ações</a:t>
            </a:r>
            <a:endParaRPr lang="en-US" sz="7200" b="0" i="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m 1" descr="Java - ícones de logotipo grátis">
            <a:extLst>
              <a:ext uri="{FF2B5EF4-FFF2-40B4-BE49-F238E27FC236}">
                <a16:creationId xmlns:a16="http://schemas.microsoft.com/office/drawing/2014/main" id="{73B0CD15-B44E-4315-4DF4-F7B46587D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04" y="1691120"/>
            <a:ext cx="3566680" cy="356668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CE62C90-F960-52A5-4225-9D5977F813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10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4B982-FC15-4D85-5175-36591210C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5B1CD2-2C42-7171-FDE6-B3951563F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Tratamento de Ações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AF10BD0-99B4-052A-B6F3-61DACA77C8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Text Box 1026">
            <a:extLst>
              <a:ext uri="{FF2B5EF4-FFF2-40B4-BE49-F238E27FC236}">
                <a16:creationId xmlns:a16="http://schemas.microsoft.com/office/drawing/2014/main" id="{7B056312-23F5-5642-9CFF-E54C9C54D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09" y="1414160"/>
            <a:ext cx="10542999" cy="1924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pt-BR" altLang="pt-BR" sz="2646" dirty="0"/>
              <a:t>Programas com interfaces gráficas esperam por eventos do usuário e executam tarefas (ações) em consequência destes eventos.</a:t>
            </a:r>
          </a:p>
          <a:p>
            <a:pPr algn="just" eaLnBrk="1" hangingPunct="1">
              <a:spcBef>
                <a:spcPct val="50000"/>
              </a:spcBef>
            </a:pPr>
            <a:r>
              <a:rPr lang="pt-BR" altLang="pt-BR" sz="2646" dirty="0"/>
              <a:t>Normalmente eventos estão associados a elementos da interface, por exemplo:</a:t>
            </a:r>
          </a:p>
        </p:txBody>
      </p:sp>
      <p:sp>
        <p:nvSpPr>
          <p:cNvPr id="8" name="Text Box 1028">
            <a:extLst>
              <a:ext uri="{FF2B5EF4-FFF2-40B4-BE49-F238E27FC236}">
                <a16:creationId xmlns:a16="http://schemas.microsoft.com/office/drawing/2014/main" id="{3B10CF57-BD70-5680-7DBC-6D6927686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1136" y="3364341"/>
            <a:ext cx="8105652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pt-BR" altLang="pt-BR" sz="2646"/>
              <a:t> Clicar botão com o mouse;</a:t>
            </a:r>
          </a:p>
        </p:txBody>
      </p:sp>
      <p:sp>
        <p:nvSpPr>
          <p:cNvPr id="9" name="Text Box 1029">
            <a:extLst>
              <a:ext uri="{FF2B5EF4-FFF2-40B4-BE49-F238E27FC236}">
                <a16:creationId xmlns:a16="http://schemas.microsoft.com/office/drawing/2014/main" id="{5316CFFD-954E-227F-EB20-F041DEF69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1136" y="4094060"/>
            <a:ext cx="8105652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pt-BR" altLang="pt-BR" sz="2646"/>
              <a:t> Digitar texto em uma área de texto;</a:t>
            </a:r>
          </a:p>
        </p:txBody>
      </p:sp>
      <p:sp>
        <p:nvSpPr>
          <p:cNvPr id="10" name="Text Box 1030">
            <a:extLst>
              <a:ext uri="{FF2B5EF4-FFF2-40B4-BE49-F238E27FC236}">
                <a16:creationId xmlns:a16="http://schemas.microsoft.com/office/drawing/2014/main" id="{480EDB5F-F5E4-717B-CC58-7BF216054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1136" y="4809779"/>
            <a:ext cx="8105652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pt-BR" altLang="pt-BR" sz="2646"/>
              <a:t> Fechar uma janela;</a:t>
            </a:r>
          </a:p>
        </p:txBody>
      </p:sp>
      <p:sp>
        <p:nvSpPr>
          <p:cNvPr id="11" name="Text Box 1031">
            <a:extLst>
              <a:ext uri="{FF2B5EF4-FFF2-40B4-BE49-F238E27FC236}">
                <a16:creationId xmlns:a16="http://schemas.microsoft.com/office/drawing/2014/main" id="{60EB4F4B-65BC-E6C3-54C6-3F64C6348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1136" y="5570997"/>
            <a:ext cx="8105652" cy="49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Char char="•"/>
            </a:pPr>
            <a:r>
              <a:rPr lang="pt-BR" altLang="pt-BR" sz="2646" dirty="0"/>
              <a:t> Marcar uma opção em uma caixa de seleção.</a:t>
            </a:r>
          </a:p>
        </p:txBody>
      </p:sp>
    </p:spTree>
    <p:extLst>
      <p:ext uri="{BB962C8B-B14F-4D97-AF65-F5344CB8AC3E}">
        <p14:creationId xmlns:p14="http://schemas.microsoft.com/office/powerpoint/2010/main" val="73093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2C690-26FB-C08F-3D89-45F62BE24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712633-FD61-9006-3F9B-CF4580E75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Tratamento de Ações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A715F61-E6C9-6195-A61C-62D065E075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Text Box 1026">
            <a:extLst>
              <a:ext uri="{FF2B5EF4-FFF2-40B4-BE49-F238E27FC236}">
                <a16:creationId xmlns:a16="http://schemas.microsoft.com/office/drawing/2014/main" id="{2538F555-681A-17AB-F52F-723B62461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09" y="1414160"/>
            <a:ext cx="10542999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pt-BR" sz="2800" dirty="0"/>
              <a:t>Esta é uma das partes mais importantes do desenvolvimento desktop. Sem o tratamento de eventos, sua interface é apenas uma "foto". O tratamento de eventos é o que dá vida ao software, permitindo que ele reaja a cliques, teclas e movimentos do mouse.</a:t>
            </a:r>
            <a:endParaRPr lang="pt-BR" altLang="pt-BR" sz="2646" dirty="0"/>
          </a:p>
        </p:txBody>
      </p:sp>
    </p:spTree>
    <p:extLst>
      <p:ext uri="{BB962C8B-B14F-4D97-AF65-F5344CB8AC3E}">
        <p14:creationId xmlns:p14="http://schemas.microsoft.com/office/powerpoint/2010/main" val="2946435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939B9-1870-DAE1-FD00-90934EF8E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5D48E-3316-F7E7-870F-57BD8D360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Tratamento por Delegação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3B503A2-88FB-F5D3-344B-6A50222AE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3" name="Text Box 1026">
            <a:extLst>
              <a:ext uri="{FF2B5EF4-FFF2-40B4-BE49-F238E27FC236}">
                <a16:creationId xmlns:a16="http://schemas.microsoft.com/office/drawing/2014/main" id="{3BA206FD-2E93-0D81-598B-FBFA0ABBD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0" y="1323331"/>
            <a:ext cx="10542999" cy="400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2800" dirty="0"/>
              <a:t>O Java utiliza um padrão de projeto chamado </a:t>
            </a:r>
            <a:r>
              <a:rPr lang="pt-BR" sz="2800" b="1" dirty="0" err="1"/>
              <a:t>Observer</a:t>
            </a:r>
            <a:r>
              <a:rPr lang="pt-BR" sz="2800" dirty="0"/>
              <a:t>. Imagine que o botão é um "locutor" e o seu código é um "ouvinte".</a:t>
            </a:r>
          </a:p>
          <a:p>
            <a:pPr marL="514350" indent="-514350" algn="just">
              <a:spcBef>
                <a:spcPts val="1200"/>
              </a:spcBef>
              <a:buFont typeface="+mj-lt"/>
              <a:buAutoNum type="arabicPeriod"/>
            </a:pPr>
            <a:r>
              <a:rPr lang="pt-BR" sz="2800" b="1" dirty="0"/>
              <a:t>Evento (Event):</a:t>
            </a:r>
            <a:r>
              <a:rPr lang="pt-BR" sz="2800" dirty="0"/>
              <a:t> É o objeto que descreve o que aconteceu (</a:t>
            </a:r>
            <a:r>
              <a:rPr lang="pt-BR" sz="2800" dirty="0" err="1"/>
              <a:t>ex</a:t>
            </a:r>
            <a:r>
              <a:rPr lang="pt-BR" sz="2800" dirty="0"/>
              <a:t>: "O botão X foi clicado").</a:t>
            </a:r>
          </a:p>
          <a:p>
            <a:pPr marL="514350" indent="-514350" algn="just">
              <a:spcBef>
                <a:spcPts val="1200"/>
              </a:spcBef>
              <a:buFont typeface="+mj-lt"/>
              <a:buAutoNum type="arabicPeriod"/>
            </a:pPr>
            <a:r>
              <a:rPr lang="pt-BR" sz="2800" b="1" dirty="0"/>
              <a:t>Fonte (</a:t>
            </a:r>
            <a:r>
              <a:rPr lang="pt-BR" sz="2800" b="1" dirty="0" err="1"/>
              <a:t>Source</a:t>
            </a:r>
            <a:r>
              <a:rPr lang="pt-BR" sz="2800" b="1" dirty="0"/>
              <a:t>):</a:t>
            </a:r>
            <a:r>
              <a:rPr lang="pt-BR" sz="2800" dirty="0"/>
              <a:t> O componente que gerou o evento (</a:t>
            </a:r>
            <a:r>
              <a:rPr lang="pt-BR" sz="2800" dirty="0" err="1"/>
              <a:t>ex</a:t>
            </a:r>
            <a:r>
              <a:rPr lang="pt-BR" sz="2800" dirty="0"/>
              <a:t>: </a:t>
            </a:r>
            <a:r>
              <a:rPr lang="pt-BR" dirty="0" err="1"/>
              <a:t>JButton</a:t>
            </a:r>
            <a:r>
              <a:rPr lang="pt-BR" sz="2800" dirty="0"/>
              <a:t>).</a:t>
            </a:r>
          </a:p>
          <a:p>
            <a:pPr marL="514350" indent="-514350" algn="just">
              <a:spcBef>
                <a:spcPts val="1200"/>
              </a:spcBef>
              <a:buFont typeface="+mj-lt"/>
              <a:buAutoNum type="arabicPeriod"/>
            </a:pPr>
            <a:r>
              <a:rPr lang="pt-BR" sz="2800" b="1" dirty="0"/>
              <a:t>Ouvinte (</a:t>
            </a:r>
            <a:r>
              <a:rPr lang="pt-BR" sz="2800" b="1" dirty="0" err="1"/>
              <a:t>Listener</a:t>
            </a:r>
            <a:r>
              <a:rPr lang="pt-BR" sz="2800" b="1" dirty="0"/>
              <a:t>):</a:t>
            </a:r>
            <a:r>
              <a:rPr lang="pt-BR" sz="2800" dirty="0"/>
              <a:t> A interface que recebe a notificação e executa uma ação.</a:t>
            </a:r>
          </a:p>
        </p:txBody>
      </p:sp>
    </p:spTree>
    <p:extLst>
      <p:ext uri="{BB962C8B-B14F-4D97-AF65-F5344CB8AC3E}">
        <p14:creationId xmlns:p14="http://schemas.microsoft.com/office/powerpoint/2010/main" val="818016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F0C48-A30B-41D5-3F4C-DEC1A6DBA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F1F383-B52F-559E-8DBF-B87E9B9C6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Tratamento por Delegação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38FB061-1246-473C-489B-5D36B0E793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3" name="Text Box 1026">
            <a:extLst>
              <a:ext uri="{FF2B5EF4-FFF2-40B4-BE49-F238E27FC236}">
                <a16:creationId xmlns:a16="http://schemas.microsoft.com/office/drawing/2014/main" id="{A7AE1010-C746-75CB-DA8B-59E0E473D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0" y="1323331"/>
            <a:ext cx="87321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800" dirty="0"/>
              <a:t>Estratégia básica (exemplo: </a:t>
            </a:r>
            <a:r>
              <a:rPr lang="pt-BR" altLang="pt-BR" sz="2800" i="1" dirty="0" err="1"/>
              <a:t>JButton</a:t>
            </a:r>
            <a:r>
              <a:rPr lang="pt-BR" altLang="pt-BR" sz="2800" dirty="0"/>
              <a:t>)</a:t>
            </a:r>
          </a:p>
        </p:txBody>
      </p:sp>
      <p:sp>
        <p:nvSpPr>
          <p:cNvPr id="5" name="Text Box 1028">
            <a:extLst>
              <a:ext uri="{FF2B5EF4-FFF2-40B4-BE49-F238E27FC236}">
                <a16:creationId xmlns:a16="http://schemas.microsoft.com/office/drawing/2014/main" id="{E7DE1327-672B-9A3E-061F-054FFD799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723" y="2073076"/>
            <a:ext cx="10790553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pt-BR" altLang="pt-BR" sz="2400" dirty="0"/>
              <a:t> cria-se uma classe auxiliar que implementa uma interface </a:t>
            </a:r>
            <a:r>
              <a:rPr lang="pt-BR" altLang="pt-BR" sz="2400" i="1" dirty="0" err="1"/>
              <a:t>listener</a:t>
            </a:r>
            <a:r>
              <a:rPr lang="pt-BR" altLang="pt-BR" sz="2400" dirty="0"/>
              <a:t> (no caso de </a:t>
            </a:r>
            <a:r>
              <a:rPr lang="pt-BR" altLang="pt-BR" sz="2400" dirty="0" err="1">
                <a:latin typeface="Courier New" panose="02070309020205020404" pitchFamily="49" charset="0"/>
              </a:rPr>
              <a:t>JButton</a:t>
            </a:r>
            <a:r>
              <a:rPr lang="pt-BR" altLang="pt-BR" sz="2400" dirty="0"/>
              <a:t>, </a:t>
            </a:r>
            <a:r>
              <a:rPr lang="pt-BR" altLang="pt-BR" sz="2400" dirty="0" err="1">
                <a:latin typeface="Courier New" panose="02070309020205020404" pitchFamily="49" charset="0"/>
              </a:rPr>
              <a:t>ActionListener</a:t>
            </a:r>
            <a:r>
              <a:rPr lang="pt-BR" altLang="pt-BR" sz="2400" dirty="0"/>
              <a:t>)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</a:pPr>
            <a:r>
              <a:rPr lang="pt-BR" altLang="pt-BR" sz="2400" dirty="0">
                <a:latin typeface="Courier New" panose="02070309020205020404" pitchFamily="49" charset="0"/>
              </a:rPr>
              <a:t>	 </a:t>
            </a:r>
            <a:r>
              <a:rPr lang="pt-BR" altLang="pt-BR" sz="2400" dirty="0" err="1">
                <a:latin typeface="Courier New" panose="02070309020205020404" pitchFamily="49" charset="0"/>
              </a:rPr>
              <a:t>import</a:t>
            </a:r>
            <a:r>
              <a:rPr lang="pt-BR" altLang="pt-BR" sz="2400" dirty="0"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latin typeface="Courier New" panose="02070309020205020404" pitchFamily="49" charset="0"/>
              </a:rPr>
              <a:t>java.awt.event</a:t>
            </a:r>
            <a:r>
              <a:rPr lang="pt-BR" altLang="pt-BR" sz="2400" dirty="0">
                <a:latin typeface="Courier New" panose="02070309020205020404" pitchFamily="49" charset="0"/>
              </a:rPr>
              <a:t>.*;</a:t>
            </a:r>
          </a:p>
          <a:p>
            <a:pPr eaLnBrk="1" hangingPunct="1"/>
            <a:r>
              <a:rPr lang="pt-BR" altLang="pt-BR" sz="2400" dirty="0">
                <a:latin typeface="Courier New" panose="02070309020205020404" pitchFamily="49" charset="0"/>
              </a:rPr>
              <a:t>	 </a:t>
            </a:r>
            <a:r>
              <a:rPr lang="pt-BR" altLang="pt-BR" sz="2400" dirty="0" err="1">
                <a:latin typeface="Courier New" panose="02070309020205020404" pitchFamily="49" charset="0"/>
              </a:rPr>
              <a:t>class</a:t>
            </a:r>
            <a:r>
              <a:rPr lang="pt-BR" altLang="pt-BR" sz="2400" dirty="0">
                <a:latin typeface="Courier New" panose="02070309020205020404" pitchFamily="49" charset="0"/>
              </a:rPr>
              <a:t> Listener1 </a:t>
            </a:r>
          </a:p>
          <a:p>
            <a:pPr eaLnBrk="1" hangingPunct="1"/>
            <a:r>
              <a:rPr lang="pt-BR" altLang="pt-BR" sz="2400" dirty="0">
                <a:latin typeface="Courier New" panose="02070309020205020404" pitchFamily="49" charset="0"/>
              </a:rPr>
              <a:t>      	 	</a:t>
            </a:r>
            <a:r>
              <a:rPr lang="pt-BR" altLang="pt-BR" sz="2400" dirty="0" err="1">
                <a:solidFill>
                  <a:srgbClr val="FFFF00"/>
                </a:solidFill>
                <a:latin typeface="Courier New" panose="02070309020205020404" pitchFamily="49" charset="0"/>
              </a:rPr>
              <a:t>implements</a:t>
            </a:r>
            <a:r>
              <a:rPr lang="pt-BR" altLang="pt-BR" sz="2400" dirty="0">
                <a:solidFill>
                  <a:srgbClr val="FFFF00"/>
                </a:solidFill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solidFill>
                  <a:srgbClr val="FFFF00"/>
                </a:solidFill>
                <a:latin typeface="Courier New" panose="02070309020205020404" pitchFamily="49" charset="0"/>
              </a:rPr>
              <a:t>ActionListener</a:t>
            </a:r>
            <a:r>
              <a:rPr lang="pt-BR" altLang="pt-BR" sz="2400" dirty="0">
                <a:latin typeface="Courier New" panose="02070309020205020404" pitchFamily="49" charset="0"/>
              </a:rPr>
              <a:t>{</a:t>
            </a:r>
          </a:p>
        </p:txBody>
      </p:sp>
      <p:sp>
        <p:nvSpPr>
          <p:cNvPr id="6" name="Text Box 1029">
            <a:extLst>
              <a:ext uri="{FF2B5EF4-FFF2-40B4-BE49-F238E27FC236}">
                <a16:creationId xmlns:a16="http://schemas.microsoft.com/office/drawing/2014/main" id="{2DC8FAA9-6480-1997-2EB1-6086C1313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55" y="4220109"/>
            <a:ext cx="1020532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pt-BR" altLang="pt-BR" sz="2400" dirty="0"/>
              <a:t> a classe deve implementar um método a ativar em caso de evento:</a:t>
            </a:r>
          </a:p>
          <a:p>
            <a:pPr eaLnBrk="1" hangingPunct="1"/>
            <a:endParaRPr lang="pt-BR" altLang="pt-BR" sz="2400" dirty="0"/>
          </a:p>
          <a:p>
            <a:pPr lvl="2" eaLnBrk="1" hangingPunct="1"/>
            <a:r>
              <a:rPr lang="pt-BR" altLang="pt-BR" sz="2400" dirty="0">
                <a:latin typeface="Courier New" panose="02070309020205020404" pitchFamily="49" charset="0"/>
              </a:rPr>
              <a:t>  </a:t>
            </a:r>
            <a:r>
              <a:rPr lang="pt-BR" altLang="pt-BR" sz="2400" dirty="0" err="1">
                <a:solidFill>
                  <a:srgbClr val="FFFF00"/>
                </a:solidFill>
                <a:latin typeface="Courier New" panose="02070309020205020404" pitchFamily="49" charset="0"/>
              </a:rPr>
              <a:t>public</a:t>
            </a:r>
            <a:r>
              <a:rPr lang="pt-BR" altLang="pt-BR" sz="2400" dirty="0">
                <a:solidFill>
                  <a:srgbClr val="FFFF00"/>
                </a:solidFill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solidFill>
                  <a:srgbClr val="FFFF00"/>
                </a:solidFill>
                <a:latin typeface="Courier New" panose="02070309020205020404" pitchFamily="49" charset="0"/>
              </a:rPr>
              <a:t>void</a:t>
            </a:r>
            <a:r>
              <a:rPr lang="pt-BR" altLang="pt-BR" sz="2400" dirty="0">
                <a:solidFill>
                  <a:srgbClr val="FFFF00"/>
                </a:solidFill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solidFill>
                  <a:srgbClr val="FFFF00"/>
                </a:solidFill>
                <a:latin typeface="Courier New" panose="02070309020205020404" pitchFamily="49" charset="0"/>
              </a:rPr>
              <a:t>actionPerformed</a:t>
            </a:r>
            <a:r>
              <a:rPr lang="pt-BR" altLang="pt-BR" sz="2400" dirty="0">
                <a:solidFill>
                  <a:srgbClr val="FFFF00"/>
                </a:solidFill>
                <a:latin typeface="Courier New" panose="02070309020205020404" pitchFamily="49" charset="0"/>
              </a:rPr>
              <a:t> (</a:t>
            </a:r>
            <a:r>
              <a:rPr lang="pt-BR" altLang="pt-BR" sz="2400" dirty="0" err="1">
                <a:solidFill>
                  <a:srgbClr val="FFFF00"/>
                </a:solidFill>
                <a:latin typeface="Courier New" panose="02070309020205020404" pitchFamily="49" charset="0"/>
              </a:rPr>
              <a:t>ActionEvent</a:t>
            </a:r>
            <a:r>
              <a:rPr lang="pt-BR" altLang="pt-BR" sz="2400" dirty="0">
                <a:solidFill>
                  <a:srgbClr val="FFFF00"/>
                </a:solidFill>
                <a:latin typeface="Courier New" panose="02070309020205020404" pitchFamily="49" charset="0"/>
              </a:rPr>
              <a:t> </a:t>
            </a:r>
            <a:r>
              <a:rPr lang="pt-BR" altLang="pt-BR" sz="2400" dirty="0" err="1">
                <a:solidFill>
                  <a:srgbClr val="FFFF00"/>
                </a:solidFill>
                <a:latin typeface="Courier New" panose="02070309020205020404" pitchFamily="49" charset="0"/>
              </a:rPr>
              <a:t>ev</a:t>
            </a:r>
            <a:r>
              <a:rPr lang="pt-BR" altLang="pt-BR" sz="2400" dirty="0">
                <a:solidFill>
                  <a:srgbClr val="FFFF00"/>
                </a:solidFill>
                <a:latin typeface="Courier New" panose="02070309020205020404" pitchFamily="49" charset="0"/>
              </a:rPr>
              <a:t>)</a:t>
            </a:r>
          </a:p>
          <a:p>
            <a:pPr lvl="2" eaLnBrk="1" hangingPunct="1"/>
            <a:r>
              <a:rPr lang="pt-BR" altLang="pt-BR" sz="2400" dirty="0">
                <a:latin typeface="Courier New" panose="02070309020205020404" pitchFamily="49" charset="0"/>
              </a:rPr>
              <a:t>  {</a:t>
            </a:r>
          </a:p>
          <a:p>
            <a:pPr lvl="2" eaLnBrk="1" hangingPunct="1"/>
            <a:r>
              <a:rPr lang="pt-BR" altLang="pt-BR" sz="2400" dirty="0">
                <a:latin typeface="Courier New" panose="02070309020205020404" pitchFamily="49" charset="0"/>
              </a:rPr>
              <a:t>	</a:t>
            </a:r>
            <a:r>
              <a:rPr lang="pt-BR" altLang="pt-BR" sz="2400" dirty="0" err="1">
                <a:latin typeface="Courier New" panose="02070309020205020404" pitchFamily="49" charset="0"/>
              </a:rPr>
              <a:t>System.out.println</a:t>
            </a:r>
            <a:r>
              <a:rPr lang="pt-BR" altLang="pt-BR" sz="2400" dirty="0">
                <a:latin typeface="Courier New" panose="02070309020205020404" pitchFamily="49" charset="0"/>
              </a:rPr>
              <a:t> (“Teste acionado”);</a:t>
            </a:r>
          </a:p>
          <a:p>
            <a:pPr lvl="2" eaLnBrk="1" hangingPunct="1"/>
            <a:r>
              <a:rPr lang="pt-BR" altLang="pt-BR" sz="2400" dirty="0">
                <a:latin typeface="Courier New" panose="02070309020205020404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3657994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FACE9-DF8A-910E-73CE-DDCC38019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7ABCF1-749E-1182-1338-40D66464C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Tratamento por Delegação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8066945-6540-04CA-F136-348AC5302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5F8D121-199C-693C-4B7D-A674DB074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0889" y="2006775"/>
            <a:ext cx="475980" cy="395483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1984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A46F2CF7-7FAA-B450-2CA7-32CCBA271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6105" y="2790741"/>
            <a:ext cx="2381647" cy="1111203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1984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3F02EBD9-CEB6-2A48-1A0D-E113D5821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5714" y="2790741"/>
            <a:ext cx="2381648" cy="1111203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1984"/>
          </a:p>
        </p:txBody>
      </p:sp>
      <p:graphicFrame>
        <p:nvGraphicFramePr>
          <p:cNvPr id="10" name="Group 6">
            <a:extLst>
              <a:ext uri="{FF2B5EF4-FFF2-40B4-BE49-F238E27FC236}">
                <a16:creationId xmlns:a16="http://schemas.microsoft.com/office/drawing/2014/main" id="{D395C981-41E7-BD5B-115F-822FEDD850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413106"/>
              </p:ext>
            </p:extLst>
          </p:nvPr>
        </p:nvGraphicFramePr>
        <p:xfrm>
          <a:off x="3143091" y="4141683"/>
          <a:ext cx="2169908" cy="437481"/>
        </p:xfrm>
        <a:graphic>
          <a:graphicData uri="http://schemas.openxmlformats.org/drawingml/2006/table">
            <a:tbl>
              <a:tblPr/>
              <a:tblGrid>
                <a:gridCol w="542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4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4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4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748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pt-BR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100796" marR="100796" marT="50478" marB="50478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pt-BR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100796" marR="100796" marT="50478" marB="504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pt-BR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100796" marR="100796" marT="50478" marB="504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pt-BR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</a:endParaRPr>
                    </a:p>
                  </a:txBody>
                  <a:tcPr marL="100796" marR="100796" marT="50478" marB="5047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C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Rectangle 18">
            <a:extLst>
              <a:ext uri="{FF2B5EF4-FFF2-40B4-BE49-F238E27FC236}">
                <a16:creationId xmlns:a16="http://schemas.microsoft.com/office/drawing/2014/main" id="{C22B814C-064F-459F-85AF-6C280F30CC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4590" y="3149477"/>
            <a:ext cx="475980" cy="395483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pt-BR" altLang="pt-BR" sz="1984"/>
          </a:p>
        </p:txBody>
      </p:sp>
      <p:sp>
        <p:nvSpPr>
          <p:cNvPr id="12" name="Line 19">
            <a:extLst>
              <a:ext uri="{FF2B5EF4-FFF2-40B4-BE49-F238E27FC236}">
                <a16:creationId xmlns:a16="http://schemas.microsoft.com/office/drawing/2014/main" id="{38B5AD86-1594-2046-4FCC-7FF3F675EB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6879" y="2192267"/>
            <a:ext cx="556476" cy="55647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sz="1984"/>
          </a:p>
        </p:txBody>
      </p:sp>
      <p:sp>
        <p:nvSpPr>
          <p:cNvPr id="13" name="Line 20">
            <a:extLst>
              <a:ext uri="{FF2B5EF4-FFF2-40B4-BE49-F238E27FC236}">
                <a16:creationId xmlns:a16="http://schemas.microsoft.com/office/drawing/2014/main" id="{C15EA3E4-E9E8-5167-CC32-4617103CE2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2580" y="3347217"/>
            <a:ext cx="0" cy="7944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sz="1984"/>
          </a:p>
        </p:txBody>
      </p:sp>
      <p:sp>
        <p:nvSpPr>
          <p:cNvPr id="14" name="Line 21">
            <a:extLst>
              <a:ext uri="{FF2B5EF4-FFF2-40B4-BE49-F238E27FC236}">
                <a16:creationId xmlns:a16="http://schemas.microsoft.com/office/drawing/2014/main" id="{DF204F04-AECA-DFE2-F4E5-D86EB89869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398581" y="4388423"/>
            <a:ext cx="0" cy="3972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diamond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sz="1984"/>
          </a:p>
        </p:txBody>
      </p:sp>
      <p:sp>
        <p:nvSpPr>
          <p:cNvPr id="15" name="Line 22">
            <a:extLst>
              <a:ext uri="{FF2B5EF4-FFF2-40B4-BE49-F238E27FC236}">
                <a16:creationId xmlns:a16="http://schemas.microsoft.com/office/drawing/2014/main" id="{51D7E944-859B-4E47-9A32-3FF8CD9947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2080" y="4783906"/>
            <a:ext cx="230115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sz="1984"/>
          </a:p>
        </p:txBody>
      </p:sp>
      <p:sp>
        <p:nvSpPr>
          <p:cNvPr id="16" name="Line 23">
            <a:extLst>
              <a:ext uri="{FF2B5EF4-FFF2-40B4-BE49-F238E27FC236}">
                <a16:creationId xmlns:a16="http://schemas.microsoft.com/office/drawing/2014/main" id="{E99ED36A-A638-D6F1-DBF3-74A76A043F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08481" y="3352467"/>
            <a:ext cx="0" cy="142793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sz="1984"/>
          </a:p>
        </p:txBody>
      </p:sp>
      <p:sp>
        <p:nvSpPr>
          <p:cNvPr id="17" name="Line 24">
            <a:extLst>
              <a:ext uri="{FF2B5EF4-FFF2-40B4-BE49-F238E27FC236}">
                <a16:creationId xmlns:a16="http://schemas.microsoft.com/office/drawing/2014/main" id="{2B563134-D563-FF64-9C04-965D822B37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08481" y="3347217"/>
            <a:ext cx="39723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sz="1984"/>
          </a:p>
        </p:txBody>
      </p:sp>
      <p:sp>
        <p:nvSpPr>
          <p:cNvPr id="18" name="Text Box 25">
            <a:extLst>
              <a:ext uri="{FF2B5EF4-FFF2-40B4-BE49-F238E27FC236}">
                <a16:creationId xmlns:a16="http://schemas.microsoft.com/office/drawing/2014/main" id="{2F144D1C-BBC1-6C69-58B6-8828D595F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155" y="1522046"/>
            <a:ext cx="1342034" cy="39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984"/>
              <a:t>txtEntrada</a:t>
            </a:r>
          </a:p>
        </p:txBody>
      </p:sp>
      <p:sp>
        <p:nvSpPr>
          <p:cNvPr id="19" name="Text Box 26">
            <a:extLst>
              <a:ext uri="{FF2B5EF4-FFF2-40B4-BE49-F238E27FC236}">
                <a16:creationId xmlns:a16="http://schemas.microsoft.com/office/drawing/2014/main" id="{A50E3F6B-0878-020E-DC07-CA995C74B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6852" y="2377759"/>
            <a:ext cx="2144177" cy="39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984"/>
              <a:t>Objeto JTextField</a:t>
            </a:r>
          </a:p>
        </p:txBody>
      </p:sp>
      <p:sp>
        <p:nvSpPr>
          <p:cNvPr id="20" name="Text Box 27">
            <a:extLst>
              <a:ext uri="{FF2B5EF4-FFF2-40B4-BE49-F238E27FC236}">
                <a16:creationId xmlns:a16="http://schemas.microsoft.com/office/drawing/2014/main" id="{21DEA764-F9A0-D55B-5F6C-5792DE228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8853" y="2816990"/>
            <a:ext cx="1261884" cy="363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764"/>
              <a:t>listenerList</a:t>
            </a:r>
          </a:p>
        </p:txBody>
      </p:sp>
      <p:sp>
        <p:nvSpPr>
          <p:cNvPr id="21" name="Text Box 28">
            <a:extLst>
              <a:ext uri="{FF2B5EF4-FFF2-40B4-BE49-F238E27FC236}">
                <a16:creationId xmlns:a16="http://schemas.microsoft.com/office/drawing/2014/main" id="{9BCC0770-52A4-5DFC-E222-343CACD73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9250" y="4076937"/>
            <a:ext cx="396262" cy="39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984" b="1"/>
              <a:t>...</a:t>
            </a:r>
          </a:p>
        </p:txBody>
      </p:sp>
      <p:sp>
        <p:nvSpPr>
          <p:cNvPr id="22" name="Text Box 29">
            <a:extLst>
              <a:ext uri="{FF2B5EF4-FFF2-40B4-BE49-F238E27FC236}">
                <a16:creationId xmlns:a16="http://schemas.microsoft.com/office/drawing/2014/main" id="{30B5A40F-AA24-60B3-35BC-0078310D6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112" y="5093642"/>
            <a:ext cx="5514651" cy="70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984"/>
              <a:t>Esta referência é criada pela instrução</a:t>
            </a:r>
          </a:p>
          <a:p>
            <a:pPr algn="ctr" eaLnBrk="1" hangingPunct="1"/>
            <a:r>
              <a:rPr lang="pt-BR" altLang="pt-BR" sz="1984">
                <a:latin typeface="Courier New" panose="02070309020205020404" pitchFamily="49" charset="0"/>
              </a:rPr>
              <a:t>txtEntrada.addActionListener(this);</a:t>
            </a:r>
          </a:p>
        </p:txBody>
      </p:sp>
      <p:sp>
        <p:nvSpPr>
          <p:cNvPr id="23" name="Line 30">
            <a:extLst>
              <a:ext uri="{FF2B5EF4-FFF2-40B4-BE49-F238E27FC236}">
                <a16:creationId xmlns:a16="http://schemas.microsoft.com/office/drawing/2014/main" id="{4779F87C-9905-09E4-6D5C-BDCB29871CD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762728" y="4806655"/>
            <a:ext cx="316737" cy="31848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 sz="1984"/>
          </a:p>
        </p:txBody>
      </p:sp>
      <p:sp>
        <p:nvSpPr>
          <p:cNvPr id="24" name="Text Box 31">
            <a:extLst>
              <a:ext uri="{FF2B5EF4-FFF2-40B4-BE49-F238E27FC236}">
                <a16:creationId xmlns:a16="http://schemas.microsoft.com/office/drawing/2014/main" id="{34942BEF-2EB9-8F58-D2B9-F553883FB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1720" y="2386509"/>
            <a:ext cx="2911566" cy="39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984"/>
              <a:t>Tratamento dos eventos</a:t>
            </a:r>
          </a:p>
        </p:txBody>
      </p:sp>
      <p:sp>
        <p:nvSpPr>
          <p:cNvPr id="25" name="Text Box 32">
            <a:extLst>
              <a:ext uri="{FF2B5EF4-FFF2-40B4-BE49-F238E27FC236}">
                <a16:creationId xmlns:a16="http://schemas.microsoft.com/office/drawing/2014/main" id="{BA76F56E-8599-4FB1-C1DF-23F19564B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0964" y="2876488"/>
            <a:ext cx="2301151" cy="940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102">
                <a:solidFill>
                  <a:schemeClr val="bg2"/>
                </a:solidFill>
              </a:rPr>
              <a:t>public void </a:t>
            </a:r>
            <a:r>
              <a:rPr lang="pt-BR" altLang="pt-BR" sz="1102"/>
              <a:t>actionPerformed (</a:t>
            </a:r>
          </a:p>
          <a:p>
            <a:pPr eaLnBrk="1" hangingPunct="1"/>
            <a:r>
              <a:rPr lang="pt-BR" altLang="pt-BR" sz="1102"/>
              <a:t>ActionEvent e)</a:t>
            </a:r>
          </a:p>
          <a:p>
            <a:pPr eaLnBrk="1" hangingPunct="1"/>
            <a:r>
              <a:rPr lang="pt-BR" altLang="pt-BR" sz="1102"/>
              <a:t>{</a:t>
            </a:r>
          </a:p>
          <a:p>
            <a:pPr eaLnBrk="1" hangingPunct="1"/>
            <a:r>
              <a:rPr lang="pt-BR" altLang="pt-BR" sz="1102"/>
              <a:t>     </a:t>
            </a:r>
            <a:r>
              <a:rPr lang="pt-BR" altLang="pt-BR" sz="1102">
                <a:solidFill>
                  <a:srgbClr val="009900"/>
                </a:solidFill>
              </a:rPr>
              <a:t>// ações do evento</a:t>
            </a:r>
          </a:p>
          <a:p>
            <a:pPr eaLnBrk="1" hangingPunct="1"/>
            <a:r>
              <a:rPr lang="pt-BR" altLang="pt-BR" sz="1102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08228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21CE0-C9F5-D9D8-FFDD-ED7B61BAA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5C3E4D-2EA3-04B1-2B39-07D5C55D2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Os Principais Tipos de Eventos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550DA94-98F3-D0E6-05ED-39DFADADFE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3" name="Text Box 1026">
            <a:extLst>
              <a:ext uri="{FF2B5EF4-FFF2-40B4-BE49-F238E27FC236}">
                <a16:creationId xmlns:a16="http://schemas.microsoft.com/office/drawing/2014/main" id="{74348183-5B2F-E0A8-181B-DD7479830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0" y="1323331"/>
            <a:ext cx="10542999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2800" dirty="0"/>
              <a:t>Não tratamos tudo com o mesmo código. Existem "ouvintes" específicos para cada situação:</a:t>
            </a:r>
          </a:p>
          <a:p>
            <a:pPr marL="457200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 err="1"/>
              <a:t>ActionListener</a:t>
            </a:r>
            <a:r>
              <a:rPr lang="pt-BR" sz="2800" dirty="0"/>
              <a:t>: O mais comum. Captura cliques em botões ou o "</a:t>
            </a:r>
            <a:r>
              <a:rPr lang="pt-BR" sz="2800" dirty="0" err="1"/>
              <a:t>Enter</a:t>
            </a:r>
            <a:r>
              <a:rPr lang="pt-BR" sz="2800" dirty="0"/>
              <a:t>" em campos de texto.</a:t>
            </a:r>
          </a:p>
          <a:p>
            <a:pPr marL="457200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 err="1"/>
              <a:t>MouseListener</a:t>
            </a:r>
            <a:r>
              <a:rPr lang="pt-BR" sz="2800" b="1" dirty="0"/>
              <a:t> / </a:t>
            </a:r>
            <a:r>
              <a:rPr lang="pt-BR" sz="2800" b="1" dirty="0" err="1"/>
              <a:t>MouseMotionListener</a:t>
            </a:r>
            <a:r>
              <a:rPr lang="pt-BR" sz="2800" dirty="0"/>
              <a:t>: Captura entrada/saída do mouse, cliques e arrastes.</a:t>
            </a:r>
          </a:p>
          <a:p>
            <a:pPr marL="457200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 err="1"/>
              <a:t>KeyListener</a:t>
            </a:r>
            <a:r>
              <a:rPr lang="pt-BR" sz="2800" dirty="0"/>
              <a:t>: Captura teclas pressionadas (útil para atalhos ou filtros).</a:t>
            </a:r>
          </a:p>
          <a:p>
            <a:pPr marL="457200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 err="1"/>
              <a:t>WindowListener</a:t>
            </a:r>
            <a:r>
              <a:rPr lang="pt-BR" sz="2800" dirty="0"/>
              <a:t>: Captura quando a janela abre, fecha ou minimiza.</a:t>
            </a:r>
          </a:p>
        </p:txBody>
      </p:sp>
    </p:spTree>
    <p:extLst>
      <p:ext uri="{BB962C8B-B14F-4D97-AF65-F5344CB8AC3E}">
        <p14:creationId xmlns:p14="http://schemas.microsoft.com/office/powerpoint/2010/main" val="129960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B4941-9C22-1D0E-4C32-89A510CA2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38E067-119A-D580-A74E-310E71391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Implementação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EDFA040-B34A-4322-E3FA-5504372C7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3" name="Text Box 1026">
            <a:extLst>
              <a:ext uri="{FF2B5EF4-FFF2-40B4-BE49-F238E27FC236}">
                <a16:creationId xmlns:a16="http://schemas.microsoft.com/office/drawing/2014/main" id="{D081BCD7-2D6A-F57B-1AD8-E04702AAF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0" y="1323331"/>
            <a:ext cx="10542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pt-BR" sz="2800" dirty="0"/>
              <a:t>Existem três formas de implementar um </a:t>
            </a:r>
            <a:r>
              <a:rPr lang="pt-BR" sz="2800" dirty="0" err="1"/>
              <a:t>ActionListener</a:t>
            </a:r>
            <a:r>
              <a:rPr lang="pt-BR" sz="2800" dirty="0"/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0D1E2CB-CF55-2911-9A7F-E5BE0E5D930D}"/>
              </a:ext>
            </a:extLst>
          </p:cNvPr>
          <p:cNvSpPr txBox="1"/>
          <p:nvPr/>
        </p:nvSpPr>
        <p:spPr>
          <a:xfrm>
            <a:off x="924231" y="2074783"/>
            <a:ext cx="10542999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pt-BR" sz="2800" b="1" dirty="0"/>
              <a:t>1. A forma clássica (Implementando na Classe)</a:t>
            </a:r>
          </a:p>
          <a:p>
            <a:pPr>
              <a:spcBef>
                <a:spcPts val="1200"/>
              </a:spcBef>
              <a:buNone/>
            </a:pPr>
            <a:r>
              <a:rPr lang="pt-BR" sz="2800" dirty="0"/>
              <a:t>A própria classe da janela se torna o ouvinte.</a:t>
            </a:r>
          </a:p>
          <a:p>
            <a:pPr lvl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 Pró:</a:t>
            </a:r>
            <a:r>
              <a:rPr lang="pt-BR" sz="2800" dirty="0"/>
              <a:t> Simples para exemplos pequenos.</a:t>
            </a:r>
          </a:p>
          <a:p>
            <a:pPr lvl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 Contra:</a:t>
            </a:r>
            <a:r>
              <a:rPr lang="pt-BR" sz="2800" dirty="0"/>
              <a:t> Se houver 10 botões, o método </a:t>
            </a:r>
            <a:r>
              <a:rPr lang="pt-BR" sz="2800" dirty="0" err="1">
                <a:latin typeface="Courier New" panose="02070309020205020404" pitchFamily="49" charset="0"/>
              </a:rPr>
              <a:t>actionPerformed</a:t>
            </a:r>
            <a:r>
              <a:rPr lang="pt-BR" sz="2800" dirty="0"/>
              <a:t> vira um emaranhado de </a:t>
            </a:r>
            <a:r>
              <a:rPr lang="pt-BR" sz="2800" dirty="0" err="1">
                <a:latin typeface="Courier New" panose="02070309020205020404" pitchFamily="49" charset="0"/>
              </a:rPr>
              <a:t>if</a:t>
            </a:r>
            <a:r>
              <a:rPr lang="pt-BR" sz="2800" dirty="0">
                <a:latin typeface="Courier New" panose="02070309020205020404" pitchFamily="49" charset="0"/>
              </a:rPr>
              <a:t>/</a:t>
            </a:r>
            <a:r>
              <a:rPr lang="pt-BR" sz="2800" dirty="0" err="1">
                <a:latin typeface="Courier New" panose="02070309020205020404" pitchFamily="49" charset="0"/>
              </a:rPr>
              <a:t>else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5246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BB47C-13B2-4788-FC2D-6D8218831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393DB2-60F7-9CDB-8228-F03D8354C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pt-BR" sz="4000" b="1" dirty="0"/>
              <a:t>A forma clássica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47694B9-4AD6-3337-44A7-2ACEE3BE82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013760E-DB6D-D234-41A6-E95A2EF46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472" y="2242755"/>
            <a:ext cx="7516274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466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019BC-97E3-F605-AA76-CE3A30904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A0C159-06A2-2C20-E8BE-3B1B0D05F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Implementação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10E38AE-8FDE-36AE-88CE-EDDBB35A4F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10E6541-D820-AA8C-ED6D-0641A3401675}"/>
              </a:ext>
            </a:extLst>
          </p:cNvPr>
          <p:cNvSpPr txBox="1"/>
          <p:nvPr/>
        </p:nvSpPr>
        <p:spPr>
          <a:xfrm>
            <a:off x="824500" y="1366861"/>
            <a:ext cx="10542999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pt-BR" sz="2800" b="1" dirty="0"/>
              <a:t>2. Classes Anônimas (O padrão até o Java 7)</a:t>
            </a:r>
          </a:p>
          <a:p>
            <a:pPr>
              <a:spcBef>
                <a:spcPts val="1200"/>
              </a:spcBef>
            </a:pPr>
            <a:r>
              <a:rPr lang="pt-BR" sz="2800" dirty="0"/>
              <a:t>Criamos um ouvinte "na hora" para cada componente.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Pró:</a:t>
            </a:r>
            <a:r>
              <a:rPr lang="pt-BR" sz="2800" dirty="0"/>
              <a:t> Cada botão tem seu próprio código isolado.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Contra:</a:t>
            </a:r>
            <a:r>
              <a:rPr lang="pt-BR" sz="2800" dirty="0"/>
              <a:t> O código fica muito extenso e verboso.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89A6326-665F-0C89-F02A-2EB58D6F6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4856" y="3683785"/>
            <a:ext cx="8325505" cy="234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43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D866A-4A17-5097-7161-8AEF117C7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DB4B2-29DA-1E27-0929-0539E806A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Implementação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39ED759-EA3C-5EF4-B31E-FE0C5120D8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E718168-F3D8-85C7-2F34-AB8A2F54080F}"/>
              </a:ext>
            </a:extLst>
          </p:cNvPr>
          <p:cNvSpPr txBox="1"/>
          <p:nvPr/>
        </p:nvSpPr>
        <p:spPr>
          <a:xfrm>
            <a:off x="924231" y="1353423"/>
            <a:ext cx="1054299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pt-BR" sz="2800" b="1" dirty="0"/>
              <a:t>3. Expressões Lambda (O padrão moderno - Java 8+)</a:t>
            </a:r>
          </a:p>
          <a:p>
            <a:pPr>
              <a:spcBef>
                <a:spcPts val="1200"/>
              </a:spcBef>
            </a:pPr>
            <a:r>
              <a:rPr lang="pt-BR" sz="2800" dirty="0"/>
              <a:t>Como </a:t>
            </a:r>
            <a:r>
              <a:rPr lang="pt-BR" sz="2800" dirty="0" err="1"/>
              <a:t>ActionListener</a:t>
            </a:r>
            <a:r>
              <a:rPr lang="pt-BR" sz="2800" dirty="0"/>
              <a:t> é uma interface funcional (tem apenas um método), podemos simplificar drasticamente.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Pró:</a:t>
            </a:r>
            <a:r>
              <a:rPr lang="pt-BR" sz="2800" dirty="0"/>
              <a:t> Limpo, legível e moderno.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B11479D-B9F4-A466-5D7D-292973AEC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647" y="3674527"/>
            <a:ext cx="8463063" cy="154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587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BC907-28A7-AF5A-B2AB-632C824DA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B0010B-0A5E-D437-8EC7-57DABA7F0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Anatomia do objeto </a:t>
            </a:r>
            <a:r>
              <a:rPr lang="pt-BR" b="1" dirty="0" err="1">
                <a:solidFill>
                  <a:srgbClr val="FFFF00"/>
                </a:solidFill>
              </a:rPr>
              <a:t>ActionEvent</a:t>
            </a:r>
            <a:endParaRPr lang="pt-BR" b="1" dirty="0">
              <a:solidFill>
                <a:srgbClr val="FFFF00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AFDCFBF-6611-37AB-43D5-6B0CCE9069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F3036C1-F7BD-C93E-467A-CFBBF3F149F7}"/>
              </a:ext>
            </a:extLst>
          </p:cNvPr>
          <p:cNvSpPr txBox="1"/>
          <p:nvPr/>
        </p:nvSpPr>
        <p:spPr>
          <a:xfrm>
            <a:off x="776748" y="1335973"/>
            <a:ext cx="10412361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pt-BR" sz="2800" dirty="0"/>
              <a:t>Dentro do método de tratamento, o parâmetro </a:t>
            </a:r>
            <a:r>
              <a:rPr lang="pt-BR" sz="2800" dirty="0">
                <a:solidFill>
                  <a:srgbClr val="FFFF00"/>
                </a:solidFill>
                <a:latin typeface="Courier New" panose="02070309020205020404" pitchFamily="49" charset="0"/>
              </a:rPr>
              <a:t>e</a:t>
            </a:r>
            <a:r>
              <a:rPr lang="pt-BR" sz="2800" dirty="0"/>
              <a:t> (ou </a:t>
            </a:r>
            <a:r>
              <a:rPr lang="pt-BR" sz="2800" dirty="0" err="1">
                <a:solidFill>
                  <a:srgbClr val="FFFF00"/>
                </a:solidFill>
                <a:latin typeface="Courier New" panose="02070309020205020404" pitchFamily="49" charset="0"/>
              </a:rPr>
              <a:t>event</a:t>
            </a:r>
            <a:r>
              <a:rPr lang="pt-BR" sz="2800" dirty="0"/>
              <a:t>) traz informações valiosas:</a:t>
            </a:r>
          </a:p>
          <a:p>
            <a:pPr lvl="1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latin typeface="Courier New" panose="02070309020205020404" pitchFamily="49" charset="0"/>
              </a:rPr>
              <a:t> </a:t>
            </a:r>
            <a:r>
              <a:rPr lang="pt-BR" sz="2800" dirty="0" err="1">
                <a:solidFill>
                  <a:srgbClr val="FFFF00"/>
                </a:solidFill>
                <a:latin typeface="Courier New" panose="02070309020205020404" pitchFamily="49" charset="0"/>
              </a:rPr>
              <a:t>e.getSource</a:t>
            </a:r>
            <a:r>
              <a:rPr lang="pt-BR" sz="2800" dirty="0">
                <a:solidFill>
                  <a:srgbClr val="FFFF00"/>
                </a:solidFill>
                <a:latin typeface="Courier New" panose="02070309020205020404" pitchFamily="49" charset="0"/>
              </a:rPr>
              <a:t>()</a:t>
            </a:r>
            <a:r>
              <a:rPr lang="pt-BR" sz="2800" dirty="0"/>
              <a:t>: Retorna quem disparou o evento (útil para identificar o botão).</a:t>
            </a:r>
          </a:p>
          <a:p>
            <a:pPr lvl="1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latin typeface="Courier New" panose="02070309020205020404" pitchFamily="49" charset="0"/>
              </a:rPr>
              <a:t> </a:t>
            </a:r>
            <a:r>
              <a:rPr lang="pt-BR" sz="2800" dirty="0" err="1">
                <a:solidFill>
                  <a:srgbClr val="FFFF00"/>
                </a:solidFill>
                <a:latin typeface="Courier New" panose="02070309020205020404" pitchFamily="49" charset="0"/>
              </a:rPr>
              <a:t>e.getActionCommand</a:t>
            </a:r>
            <a:r>
              <a:rPr lang="pt-BR" sz="2800" dirty="0">
                <a:solidFill>
                  <a:srgbClr val="FFFF00"/>
                </a:solidFill>
                <a:latin typeface="Courier New" panose="02070309020205020404" pitchFamily="49" charset="0"/>
              </a:rPr>
              <a:t>()</a:t>
            </a:r>
            <a:r>
              <a:rPr lang="pt-BR" sz="2800" dirty="0"/>
              <a:t>: Retorna o texto do botão.</a:t>
            </a:r>
          </a:p>
          <a:p>
            <a:pPr lvl="1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latin typeface="Courier New" panose="02070309020205020404" pitchFamily="49" charset="0"/>
              </a:rPr>
              <a:t> </a:t>
            </a:r>
            <a:r>
              <a:rPr lang="pt-BR" sz="2800" dirty="0" err="1">
                <a:solidFill>
                  <a:srgbClr val="FFFF00"/>
                </a:solidFill>
                <a:latin typeface="Courier New" panose="02070309020205020404" pitchFamily="49" charset="0"/>
              </a:rPr>
              <a:t>e.getWhen</a:t>
            </a:r>
            <a:r>
              <a:rPr lang="pt-BR" sz="2800" dirty="0">
                <a:solidFill>
                  <a:srgbClr val="FFFF00"/>
                </a:solidFill>
                <a:latin typeface="Courier New" panose="02070309020205020404" pitchFamily="49" charset="0"/>
              </a:rPr>
              <a:t>()</a:t>
            </a:r>
            <a:r>
              <a:rPr lang="pt-BR" sz="2800" dirty="0"/>
              <a:t>: O momento exato (</a:t>
            </a:r>
            <a:r>
              <a:rPr lang="pt-BR" sz="2800" dirty="0" err="1"/>
              <a:t>timestamp</a:t>
            </a:r>
            <a:r>
              <a:rPr lang="pt-BR" sz="2800" dirty="0"/>
              <a:t>) do clique.</a:t>
            </a:r>
          </a:p>
        </p:txBody>
      </p:sp>
    </p:spTree>
    <p:extLst>
      <p:ext uri="{BB962C8B-B14F-4D97-AF65-F5344CB8AC3E}">
        <p14:creationId xmlns:p14="http://schemas.microsoft.com/office/powerpoint/2010/main" val="1196907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B3FCB-8A78-DBC9-B270-88B9AF6ED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31A84B-5408-7405-5B4D-C515996EA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42885"/>
            <a:ext cx="10542999" cy="1400530"/>
          </a:xfrm>
        </p:spPr>
        <p:txBody>
          <a:bodyPr/>
          <a:lstStyle/>
          <a:p>
            <a:r>
              <a:rPr lang="pt-BR" b="1" dirty="0"/>
              <a:t>O problema da Interface Travada</a:t>
            </a:r>
            <a:endParaRPr lang="pt-BR" b="1" dirty="0">
              <a:solidFill>
                <a:srgbClr val="FFFF00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6940406-CD99-68BB-9098-6416E31FD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778B31C-4AC1-551B-2BAB-74B69A7FE20E}"/>
              </a:ext>
            </a:extLst>
          </p:cNvPr>
          <p:cNvSpPr txBox="1"/>
          <p:nvPr/>
        </p:nvSpPr>
        <p:spPr>
          <a:xfrm>
            <a:off x="646109" y="1389851"/>
            <a:ext cx="1061182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pt-BR" sz="2800" dirty="0"/>
              <a:t>Se você colocar um código que demora (</a:t>
            </a:r>
            <a:r>
              <a:rPr lang="pt-BR" sz="2800" dirty="0" err="1"/>
              <a:t>ex</a:t>
            </a:r>
            <a:r>
              <a:rPr lang="pt-BR" sz="2800" dirty="0"/>
              <a:t>: uma consulta pesada ao banco de dados ou a leitura de um arquivo grande) dentro de um </a:t>
            </a:r>
            <a:r>
              <a:rPr lang="pt-BR" sz="2800" dirty="0" err="1">
                <a:latin typeface="Courier New" panose="02070309020205020404" pitchFamily="49" charset="0"/>
              </a:rPr>
              <a:t>ActionListener</a:t>
            </a:r>
            <a:r>
              <a:rPr lang="pt-BR" sz="2800" dirty="0"/>
              <a:t>, a </a:t>
            </a:r>
            <a:r>
              <a:rPr lang="pt-BR" sz="2800" b="1" dirty="0"/>
              <a:t>janela vai congelar</a:t>
            </a:r>
            <a:r>
              <a:rPr lang="pt-BR" sz="2800" dirty="0"/>
              <a:t>.</a:t>
            </a:r>
          </a:p>
          <a:p>
            <a:pPr algn="just">
              <a:spcBef>
                <a:spcPts val="1200"/>
              </a:spcBef>
              <a:buNone/>
            </a:pPr>
            <a:r>
              <a:rPr lang="pt-BR" sz="2800" b="1" dirty="0"/>
              <a:t>Por que?</a:t>
            </a:r>
            <a:r>
              <a:rPr lang="pt-BR" sz="2800" dirty="0"/>
              <a:t> O Swing usa uma única Thread (chamada </a:t>
            </a:r>
            <a:r>
              <a:rPr lang="pt-BR" sz="2800" b="1" dirty="0"/>
              <a:t>EDT - Event </a:t>
            </a:r>
            <a:r>
              <a:rPr lang="pt-BR" sz="2800" b="1" dirty="0" err="1"/>
              <a:t>Dispatch</a:t>
            </a:r>
            <a:r>
              <a:rPr lang="pt-BR" sz="2800" b="1" dirty="0"/>
              <a:t> Thread</a:t>
            </a:r>
            <a:r>
              <a:rPr lang="pt-BR" sz="2800" dirty="0"/>
              <a:t>) para desenhar a tela e processar cliques. Se a Thread estiver ocupada calculando, ela não consegue redesenhar o botão "pressionado".</a:t>
            </a:r>
          </a:p>
          <a:p>
            <a:pPr algn="just">
              <a:spcBef>
                <a:spcPts val="1200"/>
              </a:spcBef>
              <a:buNone/>
            </a:pPr>
            <a:r>
              <a:rPr lang="pt-BR" sz="2800" b="1" dirty="0"/>
              <a:t>Solução:</a:t>
            </a:r>
            <a:r>
              <a:rPr lang="pt-BR" sz="2800" dirty="0"/>
              <a:t> Use o </a:t>
            </a:r>
            <a:r>
              <a:rPr lang="pt-BR" sz="2800" dirty="0" err="1">
                <a:latin typeface="Courier New" panose="02070309020205020404" pitchFamily="49" charset="0"/>
              </a:rPr>
              <a:t>SwingWorker</a:t>
            </a:r>
            <a:r>
              <a:rPr lang="pt-BR" sz="2800" dirty="0"/>
              <a:t> ou uma nova </a:t>
            </a:r>
            <a:r>
              <a:rPr lang="pt-BR" sz="2800" dirty="0">
                <a:latin typeface="Courier New" panose="02070309020205020404" pitchFamily="49" charset="0"/>
              </a:rPr>
              <a:t>Thread</a:t>
            </a:r>
            <a:r>
              <a:rPr lang="pt-BR" sz="2800" dirty="0"/>
              <a:t> para processos pesados.</a:t>
            </a:r>
          </a:p>
        </p:txBody>
      </p:sp>
    </p:spTree>
    <p:extLst>
      <p:ext uri="{BB962C8B-B14F-4D97-AF65-F5344CB8AC3E}">
        <p14:creationId xmlns:p14="http://schemas.microsoft.com/office/powerpoint/2010/main" val="3264318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CBD05-C500-2DF1-FAE4-E3D548E0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ECAD0-728D-6D60-AEDD-B39A66510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42885"/>
            <a:ext cx="10542999" cy="1400530"/>
          </a:xfrm>
        </p:spPr>
        <p:txBody>
          <a:bodyPr/>
          <a:lstStyle/>
          <a:p>
            <a:r>
              <a:rPr lang="pt-BR" b="1" dirty="0" err="1"/>
              <a:t>SwingWorker</a:t>
            </a:r>
            <a:r>
              <a:rPr lang="pt-BR" b="1" dirty="0"/>
              <a:t> </a:t>
            </a:r>
            <a:endParaRPr lang="pt-BR" b="1" dirty="0">
              <a:solidFill>
                <a:srgbClr val="FFFF00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3284E55-4DBA-D45A-0702-4D8471DC6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D2FBC3A-2EA5-7E9E-91B3-6468AFFE571C}"/>
              </a:ext>
            </a:extLst>
          </p:cNvPr>
          <p:cNvSpPr txBox="1"/>
          <p:nvPr/>
        </p:nvSpPr>
        <p:spPr>
          <a:xfrm>
            <a:off x="646109" y="1389851"/>
            <a:ext cx="1061182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pt-BR" sz="2800" dirty="0"/>
              <a:t>Como discutimos anteriormente, a </a:t>
            </a:r>
            <a:r>
              <a:rPr lang="pt-BR" sz="2800" b="1" dirty="0"/>
              <a:t>EDT (Event </a:t>
            </a:r>
            <a:r>
              <a:rPr lang="pt-BR" sz="2800" b="1" dirty="0" err="1"/>
              <a:t>Dispatch</a:t>
            </a:r>
            <a:r>
              <a:rPr lang="pt-BR" sz="2800" b="1" dirty="0"/>
              <a:t> Thread)</a:t>
            </a:r>
            <a:r>
              <a:rPr lang="pt-BR" sz="2800" dirty="0"/>
              <a:t> é a thread única do Java responsável por desenhar a interface e processar eventos. Se você colocar um processo demorado (como uma consulta ao banco de dados Oracle que você mencionou antes) dentro de um botão, a tela "congela".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9E0BEAE-3278-3FE5-F9D9-79D64B5C23DD}"/>
              </a:ext>
            </a:extLst>
          </p:cNvPr>
          <p:cNvSpPr txBox="1"/>
          <p:nvPr/>
        </p:nvSpPr>
        <p:spPr>
          <a:xfrm>
            <a:off x="646109" y="4084124"/>
            <a:ext cx="1061182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O </a:t>
            </a:r>
            <a:r>
              <a:rPr lang="pt-BR" sz="2800" dirty="0" err="1">
                <a:solidFill>
                  <a:srgbClr val="FFFF00"/>
                </a:solidFill>
                <a:latin typeface="Courier New" panose="02070309020205020404" pitchFamily="49" charset="0"/>
              </a:rPr>
              <a:t>SwingWorker</a:t>
            </a:r>
            <a:r>
              <a:rPr lang="pt-BR" sz="2800" dirty="0"/>
              <a:t> é a solução elegante para isso: ele executa a tarefa pesada em uma thread de fundo e fornece métodos para atualizar a interface com segurança.</a:t>
            </a:r>
          </a:p>
        </p:txBody>
      </p:sp>
    </p:spTree>
    <p:extLst>
      <p:ext uri="{BB962C8B-B14F-4D97-AF65-F5344CB8AC3E}">
        <p14:creationId xmlns:p14="http://schemas.microsoft.com/office/powerpoint/2010/main" val="2338577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3523F-8A4D-F197-4AA7-893C04A0A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D1FB88-642F-C5AB-6353-3E51145F1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42885"/>
            <a:ext cx="10542999" cy="1400530"/>
          </a:xfrm>
        </p:spPr>
        <p:txBody>
          <a:bodyPr/>
          <a:lstStyle/>
          <a:p>
            <a:r>
              <a:rPr lang="pt-BR" b="1" dirty="0"/>
              <a:t>Pilares do </a:t>
            </a:r>
            <a:r>
              <a:rPr lang="pt-BR" b="1" dirty="0" err="1"/>
              <a:t>SwingWorker</a:t>
            </a:r>
            <a:r>
              <a:rPr lang="pt-BR" b="1" dirty="0"/>
              <a:t> </a:t>
            </a:r>
            <a:endParaRPr lang="pt-BR" b="1" dirty="0">
              <a:solidFill>
                <a:srgbClr val="FFFF00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8EE51D9-66D6-D848-597F-1CF190D2E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768AF6C7-5E05-34B1-6142-5ABC0E7E68C8}"/>
              </a:ext>
            </a:extLst>
          </p:cNvPr>
          <p:cNvSpPr txBox="1"/>
          <p:nvPr/>
        </p:nvSpPr>
        <p:spPr>
          <a:xfrm>
            <a:off x="646109" y="1242368"/>
            <a:ext cx="10611825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2800" dirty="0"/>
              <a:t>Para usar o </a:t>
            </a:r>
            <a:r>
              <a:rPr lang="pt-BR" sz="2800" dirty="0" err="1"/>
              <a:t>SwingWorker</a:t>
            </a:r>
            <a:r>
              <a:rPr lang="pt-BR" sz="2800" dirty="0"/>
              <a:t>&lt;T, V&gt;, você precisa entender três métodos principais:</a:t>
            </a:r>
          </a:p>
          <a:p>
            <a:pPr marL="514350" indent="-514350" algn="just">
              <a:spcBef>
                <a:spcPts val="1200"/>
              </a:spcBef>
              <a:buFont typeface="+mj-lt"/>
              <a:buAutoNum type="arabicPeriod"/>
            </a:pPr>
            <a:r>
              <a:rPr lang="pt-BR" sz="2800" b="1" dirty="0" err="1"/>
              <a:t>doInBackground</a:t>
            </a:r>
            <a:r>
              <a:rPr lang="pt-BR" sz="2800" b="1" dirty="0"/>
              <a:t>()</a:t>
            </a:r>
            <a:r>
              <a:rPr lang="pt-BR" sz="2800" dirty="0"/>
              <a:t>: Aqui vai o código pesado. Ele roda em uma thread separada. </a:t>
            </a:r>
            <a:r>
              <a:rPr lang="pt-BR" sz="2800" b="1" dirty="0"/>
              <a:t>Nunca</a:t>
            </a:r>
            <a:r>
              <a:rPr lang="pt-BR" sz="2800" dirty="0"/>
              <a:t> mexa em componentes visuais aqui.</a:t>
            </a:r>
          </a:p>
          <a:p>
            <a:pPr marL="514350" indent="-514350" algn="just">
              <a:spcBef>
                <a:spcPts val="1200"/>
              </a:spcBef>
              <a:buFont typeface="+mj-lt"/>
              <a:buAutoNum type="arabicPeriod"/>
            </a:pPr>
            <a:r>
              <a:rPr lang="pt-BR" sz="2800" b="1" dirty="0" err="1"/>
              <a:t>process</a:t>
            </a:r>
            <a:r>
              <a:rPr lang="pt-BR" sz="2800" b="1" dirty="0"/>
              <a:t>(</a:t>
            </a:r>
            <a:r>
              <a:rPr lang="pt-BR" sz="2800" b="1" dirty="0" err="1"/>
              <a:t>List</a:t>
            </a:r>
            <a:r>
              <a:rPr lang="pt-BR" sz="2800" b="1" dirty="0"/>
              <a:t>&lt;V&gt; </a:t>
            </a:r>
            <a:r>
              <a:rPr lang="pt-BR" sz="2800" b="1" dirty="0" err="1"/>
              <a:t>chunks</a:t>
            </a:r>
            <a:r>
              <a:rPr lang="pt-BR" sz="2800" b="1" dirty="0"/>
              <a:t>)</a:t>
            </a:r>
            <a:r>
              <a:rPr lang="pt-BR" sz="2800" dirty="0"/>
              <a:t>: Recebe dados parciais enquanto a tarefa ainda está rodando (útil para atualizar barras de progresso).</a:t>
            </a:r>
          </a:p>
          <a:p>
            <a:pPr marL="514350" indent="-514350" algn="just">
              <a:spcBef>
                <a:spcPts val="1200"/>
              </a:spcBef>
              <a:buFont typeface="+mj-lt"/>
              <a:buAutoNum type="arabicPeriod"/>
            </a:pPr>
            <a:r>
              <a:rPr lang="pt-BR" sz="2800" b="1" dirty="0" err="1"/>
              <a:t>done</a:t>
            </a:r>
            <a:r>
              <a:rPr lang="pt-BR" sz="2800" b="1" dirty="0"/>
              <a:t>()</a:t>
            </a:r>
            <a:r>
              <a:rPr lang="pt-BR" sz="2800" dirty="0"/>
              <a:t>: Executado automaticamente na EDT assim que a tarefa termina. É o lugar perfeito para mostrar o resultado final na tela.</a:t>
            </a:r>
          </a:p>
          <a:p>
            <a:pPr algn="just">
              <a:spcBef>
                <a:spcPts val="1200"/>
              </a:spcBef>
              <a:buNone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67702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01B7E-10A7-E008-57C5-DF9866C9A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D13FDE-DB11-9D8F-9E71-E8C022A92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42885"/>
            <a:ext cx="10542999" cy="1400530"/>
          </a:xfrm>
        </p:spPr>
        <p:txBody>
          <a:bodyPr/>
          <a:lstStyle/>
          <a:p>
            <a:r>
              <a:rPr lang="pt-BR" b="1" dirty="0"/>
              <a:t>Simulando uma Carga de Dados</a:t>
            </a:r>
            <a:endParaRPr lang="pt-BR" b="1" dirty="0">
              <a:solidFill>
                <a:srgbClr val="FFFF00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816DF2E-08A9-4DBD-6D80-2B67B7B88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AB5B3DA-1392-EB08-03BD-394CA54A4EF3}"/>
              </a:ext>
            </a:extLst>
          </p:cNvPr>
          <p:cNvSpPr txBox="1"/>
          <p:nvPr/>
        </p:nvSpPr>
        <p:spPr>
          <a:xfrm>
            <a:off x="646109" y="1242368"/>
            <a:ext cx="10611825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2800" dirty="0"/>
              <a:t>Para usar o </a:t>
            </a:r>
            <a:r>
              <a:rPr lang="pt-BR" sz="2800" dirty="0" err="1"/>
              <a:t>SwingWorker</a:t>
            </a:r>
            <a:r>
              <a:rPr lang="pt-BR" sz="2800" dirty="0"/>
              <a:t>&lt;T, V&gt;, você precisa entender três métodos principais:</a:t>
            </a:r>
          </a:p>
          <a:p>
            <a:pPr marL="514350" indent="-514350" algn="just">
              <a:spcBef>
                <a:spcPts val="1200"/>
              </a:spcBef>
              <a:buFont typeface="+mj-lt"/>
              <a:buAutoNum type="arabicPeriod"/>
            </a:pPr>
            <a:r>
              <a:rPr lang="pt-BR" sz="2800" b="1" dirty="0" err="1"/>
              <a:t>doInBackground</a:t>
            </a:r>
            <a:r>
              <a:rPr lang="pt-BR" sz="2800" b="1" dirty="0"/>
              <a:t>()</a:t>
            </a:r>
            <a:r>
              <a:rPr lang="pt-BR" sz="2800" dirty="0"/>
              <a:t>: Aqui vai o código pesado. Ele roda em uma thread separada. </a:t>
            </a:r>
            <a:r>
              <a:rPr lang="pt-BR" sz="2800" b="1" dirty="0"/>
              <a:t>Nunca</a:t>
            </a:r>
            <a:r>
              <a:rPr lang="pt-BR" sz="2800" dirty="0"/>
              <a:t> mexa em componentes visuais aqui.</a:t>
            </a:r>
          </a:p>
          <a:p>
            <a:pPr marL="514350" indent="-514350" algn="just">
              <a:spcBef>
                <a:spcPts val="1200"/>
              </a:spcBef>
              <a:buFont typeface="+mj-lt"/>
              <a:buAutoNum type="arabicPeriod"/>
            </a:pPr>
            <a:r>
              <a:rPr lang="pt-BR" sz="2800" b="1" dirty="0" err="1"/>
              <a:t>process</a:t>
            </a:r>
            <a:r>
              <a:rPr lang="pt-BR" sz="2800" b="1" dirty="0"/>
              <a:t>(</a:t>
            </a:r>
            <a:r>
              <a:rPr lang="pt-BR" sz="2800" b="1" dirty="0" err="1"/>
              <a:t>List</a:t>
            </a:r>
            <a:r>
              <a:rPr lang="pt-BR" sz="2800" b="1" dirty="0"/>
              <a:t>&lt;V&gt; </a:t>
            </a:r>
            <a:r>
              <a:rPr lang="pt-BR" sz="2800" b="1" dirty="0" err="1"/>
              <a:t>chunks</a:t>
            </a:r>
            <a:r>
              <a:rPr lang="pt-BR" sz="2800" b="1" dirty="0"/>
              <a:t>)</a:t>
            </a:r>
            <a:r>
              <a:rPr lang="pt-BR" sz="2800" dirty="0"/>
              <a:t>: Recebe dados parciais enquanto a tarefa ainda está rodando (útil para atualizar barras de progresso).</a:t>
            </a:r>
          </a:p>
          <a:p>
            <a:pPr marL="514350" indent="-514350" algn="just">
              <a:spcBef>
                <a:spcPts val="1200"/>
              </a:spcBef>
              <a:buFont typeface="+mj-lt"/>
              <a:buAutoNum type="arabicPeriod"/>
            </a:pPr>
            <a:r>
              <a:rPr lang="pt-BR" sz="2800" b="1" dirty="0" err="1"/>
              <a:t>done</a:t>
            </a:r>
            <a:r>
              <a:rPr lang="pt-BR" sz="2800" b="1" dirty="0"/>
              <a:t>()</a:t>
            </a:r>
            <a:r>
              <a:rPr lang="pt-BR" sz="2800" dirty="0"/>
              <a:t>: Executado automaticamente na EDT assim que a tarefa termina. É o lugar perfeito para mostrar o resultado final na tela.</a:t>
            </a:r>
          </a:p>
          <a:p>
            <a:pPr algn="just">
              <a:spcBef>
                <a:spcPts val="1200"/>
              </a:spcBef>
              <a:buNone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205226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885DE-7A26-FFB0-593A-02A339A1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20EAC-BC6A-6EDF-67BC-DC59C7B25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42885"/>
            <a:ext cx="10542999" cy="1400530"/>
          </a:xfrm>
        </p:spPr>
        <p:txBody>
          <a:bodyPr/>
          <a:lstStyle/>
          <a:p>
            <a:r>
              <a:rPr lang="pt-BR" b="1" dirty="0"/>
              <a:t>Simulando uma Carga de Dados</a:t>
            </a:r>
            <a:endParaRPr lang="pt-BR" b="1" dirty="0">
              <a:solidFill>
                <a:srgbClr val="FFFF00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90FC7E8-07DB-7C8D-502D-259632883C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73EB5808-8858-282A-D34E-83441160F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11" y="1209942"/>
            <a:ext cx="7705410" cy="554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595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F4713-2E53-D1EC-1F31-5171E4913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E54F42-4A15-D7AB-901F-0FE4F3138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42885"/>
            <a:ext cx="10542999" cy="1400530"/>
          </a:xfrm>
        </p:spPr>
        <p:txBody>
          <a:bodyPr/>
          <a:lstStyle/>
          <a:p>
            <a:r>
              <a:rPr lang="pt-BR" b="1" dirty="0"/>
              <a:t>Simulando uma Carga de Dados</a:t>
            </a:r>
            <a:endParaRPr lang="pt-BR" b="1" dirty="0">
              <a:solidFill>
                <a:srgbClr val="FFFF00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FF4D682-C574-5D52-3DC3-24A321B2A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E305F8A-6523-B2FF-63CF-AAE10DFFA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28" y="1308635"/>
            <a:ext cx="7621064" cy="5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53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0BBD7-19F9-02B3-50B7-C0094F1FA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29224E-E7B4-CD35-694A-37735C8BA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42885"/>
            <a:ext cx="10542999" cy="1400530"/>
          </a:xfrm>
        </p:spPr>
        <p:txBody>
          <a:bodyPr/>
          <a:lstStyle/>
          <a:p>
            <a:r>
              <a:rPr lang="pt-BR" b="1" dirty="0"/>
              <a:t>Simulando uma Carga de Dados</a:t>
            </a:r>
            <a:endParaRPr lang="pt-BR" b="1" dirty="0">
              <a:solidFill>
                <a:srgbClr val="FFFF00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873F930-44C9-A3D6-636D-50A6DF04D4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DD780A8-9E50-F11C-9BC3-84E488AE721D}"/>
              </a:ext>
            </a:extLst>
          </p:cNvPr>
          <p:cNvSpPr txBox="1"/>
          <p:nvPr/>
        </p:nvSpPr>
        <p:spPr>
          <a:xfrm>
            <a:off x="717754" y="1381750"/>
            <a:ext cx="1054299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2800" b="1" dirty="0"/>
              <a:t>Como chamar no seu Botão (</a:t>
            </a:r>
            <a:r>
              <a:rPr lang="pt-BR" sz="2800" b="1" dirty="0" err="1"/>
              <a:t>View</a:t>
            </a:r>
            <a:r>
              <a:rPr lang="pt-BR" sz="2800" b="1" dirty="0"/>
              <a:t>)</a:t>
            </a:r>
          </a:p>
          <a:p>
            <a:pPr algn="just">
              <a:buNone/>
            </a:pPr>
            <a:r>
              <a:rPr lang="pt-BR" sz="2800" dirty="0"/>
              <a:t>Na sua classe de interface, você instanciaria e executaria o </a:t>
            </a:r>
            <a:r>
              <a:rPr lang="pt-BR" sz="2800" dirty="0" err="1"/>
              <a:t>worker</a:t>
            </a:r>
            <a:r>
              <a:rPr lang="pt-BR" sz="2800" dirty="0"/>
              <a:t> assim: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24D791C-156D-3395-203B-B7A30005F2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54" y="2890851"/>
            <a:ext cx="10183436" cy="250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4261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63CED-2FBD-A941-2993-3F6A41CDF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6DCC53-9F6D-6486-168A-723E740FD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42885"/>
            <a:ext cx="10542999" cy="1400530"/>
          </a:xfrm>
        </p:spPr>
        <p:txBody>
          <a:bodyPr/>
          <a:lstStyle/>
          <a:p>
            <a:r>
              <a:rPr lang="pt-BR" b="1" dirty="0"/>
              <a:t>Razões para sua Utilização</a:t>
            </a:r>
            <a:endParaRPr lang="pt-BR" b="1" dirty="0">
              <a:solidFill>
                <a:srgbClr val="FFFF00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CDE96D3-04AD-102D-0BEF-967211DE97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A80C7E5-9C50-74BA-F865-AE75B9646A18}"/>
              </a:ext>
            </a:extLst>
          </p:cNvPr>
          <p:cNvSpPr txBox="1"/>
          <p:nvPr/>
        </p:nvSpPr>
        <p:spPr>
          <a:xfrm>
            <a:off x="646109" y="1327355"/>
            <a:ext cx="10690485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pt-BR" sz="2800" dirty="0"/>
              <a:t>O </a:t>
            </a:r>
            <a:r>
              <a:rPr lang="pt-BR" sz="2800" dirty="0" err="1">
                <a:solidFill>
                  <a:srgbClr val="FFFF00"/>
                </a:solidFill>
                <a:latin typeface="Courier New" panose="02070309020205020404" pitchFamily="49" charset="0"/>
              </a:rPr>
              <a:t>SwingWorker</a:t>
            </a:r>
            <a:r>
              <a:rPr lang="pt-BR" sz="2800" dirty="0"/>
              <a:t> eleva o nível da discussão para:</a:t>
            </a:r>
          </a:p>
          <a:p>
            <a:pPr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 Concorrência e </a:t>
            </a:r>
            <a:r>
              <a:rPr lang="pt-BR" sz="2800" b="1" dirty="0" err="1"/>
              <a:t>Multithreading</a:t>
            </a:r>
            <a:r>
              <a:rPr lang="pt-BR" sz="2800" dirty="0"/>
              <a:t>: Problemas de condições de corrida.</a:t>
            </a:r>
          </a:p>
          <a:p>
            <a:pPr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 UX (</a:t>
            </a:r>
            <a:r>
              <a:rPr lang="pt-BR" sz="2800" b="1" dirty="0" err="1"/>
              <a:t>User</a:t>
            </a:r>
            <a:r>
              <a:rPr lang="pt-BR" sz="2800" b="1" dirty="0"/>
              <a:t> Experience)</a:t>
            </a:r>
            <a:r>
              <a:rPr lang="pt-BR" sz="2800" dirty="0"/>
              <a:t>: A importância de nunca deixar o usuário "no escuro" com uma tela travada.</a:t>
            </a:r>
          </a:p>
          <a:p>
            <a:pPr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 Responsividade</a:t>
            </a:r>
            <a:r>
              <a:rPr lang="pt-BR" sz="2800" dirty="0"/>
              <a:t>: Manter o software funcional mesmo durante operações de I/O intensas (como manipulação de arquivos binários ou SQL).</a:t>
            </a:r>
          </a:p>
        </p:txBody>
      </p:sp>
    </p:spTree>
    <p:extLst>
      <p:ext uri="{BB962C8B-B14F-4D97-AF65-F5344CB8AC3E}">
        <p14:creationId xmlns:p14="http://schemas.microsoft.com/office/powerpoint/2010/main" val="1884623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B3DE2-011F-EE70-C03D-1EB44B2F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04BEC55-E8C4-2BAA-06FC-DFEAE7475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907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2065</TotalTime>
  <Words>1098</Words>
  <Application>Microsoft Office PowerPoint</Application>
  <PresentationFormat>Widescreen</PresentationFormat>
  <Paragraphs>113</Paragraphs>
  <Slides>22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9" baseType="lpstr">
      <vt:lpstr>Aptos</vt:lpstr>
      <vt:lpstr>Arial</vt:lpstr>
      <vt:lpstr>Calibri</vt:lpstr>
      <vt:lpstr>Century Gothic</vt:lpstr>
      <vt:lpstr>Courier New</vt:lpstr>
      <vt:lpstr>Wingdings 3</vt:lpstr>
      <vt:lpstr>Íon</vt:lpstr>
      <vt:lpstr>Apresentação do PowerPoint</vt:lpstr>
      <vt:lpstr>Apresentação do PowerPoint</vt:lpstr>
      <vt:lpstr>Tratamento de Ações</vt:lpstr>
      <vt:lpstr>Tratamento de Ações</vt:lpstr>
      <vt:lpstr>Tratamento por Delegação</vt:lpstr>
      <vt:lpstr>Tratamento por Delegação</vt:lpstr>
      <vt:lpstr>Tratamento por Delegação</vt:lpstr>
      <vt:lpstr>Os Principais Tipos de Eventos</vt:lpstr>
      <vt:lpstr>Implementação</vt:lpstr>
      <vt:lpstr>A forma clássica</vt:lpstr>
      <vt:lpstr>Implementação</vt:lpstr>
      <vt:lpstr>Implementação</vt:lpstr>
      <vt:lpstr>Anatomia do objeto ActionEvent</vt:lpstr>
      <vt:lpstr>O problema da Interface Travada</vt:lpstr>
      <vt:lpstr>SwingWorker </vt:lpstr>
      <vt:lpstr>Pilares do SwingWorker </vt:lpstr>
      <vt:lpstr>Simulando uma Carga de Dados</vt:lpstr>
      <vt:lpstr>Simulando uma Carga de Dados</vt:lpstr>
      <vt:lpstr>Simulando uma Carga de Dados</vt:lpstr>
      <vt:lpstr>Simulando uma Carga de Dados</vt:lpstr>
      <vt:lpstr>Razões para sua Utilização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CESAR B. DA SILVA</dc:creator>
  <cp:lastModifiedBy>PAULO CESAR B. DA SILVA</cp:lastModifiedBy>
  <cp:revision>60</cp:revision>
  <dcterms:created xsi:type="dcterms:W3CDTF">2026-05-09T23:28:48Z</dcterms:created>
  <dcterms:modified xsi:type="dcterms:W3CDTF">2026-05-13T23:32:57Z</dcterms:modified>
</cp:coreProperties>
</file>