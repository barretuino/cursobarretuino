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9" r:id="rId4"/>
    <p:sldId id="668" r:id="rId5"/>
    <p:sldId id="669" r:id="rId6"/>
    <p:sldId id="670" r:id="rId7"/>
    <p:sldId id="671" r:id="rId8"/>
    <p:sldId id="672" r:id="rId9"/>
    <p:sldId id="673" r:id="rId10"/>
    <p:sldId id="674" r:id="rId11"/>
    <p:sldId id="675" r:id="rId12"/>
    <p:sldId id="676" r:id="rId13"/>
    <p:sldId id="677" r:id="rId14"/>
    <p:sldId id="678" r:id="rId15"/>
    <p:sldId id="679" r:id="rId16"/>
    <p:sldId id="680" r:id="rId17"/>
    <p:sldId id="686" r:id="rId18"/>
    <p:sldId id="681" r:id="rId19"/>
    <p:sldId id="682" r:id="rId20"/>
    <p:sldId id="683" r:id="rId21"/>
    <p:sldId id="684" r:id="rId22"/>
    <p:sldId id="685" r:id="rId23"/>
    <p:sldId id="687" r:id="rId24"/>
    <p:sldId id="688" r:id="rId25"/>
    <p:sldId id="66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Tratamento de Exceções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 de Exceção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46112" y="1460787"/>
            <a:ext cx="108455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19"/>
              </a:spcBef>
            </a:pPr>
            <a:r>
              <a:rPr lang="pt-BR" sz="3200" dirty="0"/>
              <a:t>Uma exceção é um evento que ocorre durante a execução de um programa e interrompe o fluxo normal de instruções. Diferente de um erro de sintaxe (que impede a compilação), a exceção acontece com o programa rodando.</a:t>
            </a:r>
            <a:endParaRPr lang="pt-BR" altLang="pt-BR" sz="3200" dirty="0"/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4C7A-1ADA-E0F7-FF29-650B530C7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2394D-EDDC-F997-D67D-EFBCB178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 de Exceção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0D9AD2-5EC2-7D18-9127-1E1A57ACE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132B4C0-E9AC-57D9-7D90-2DC8428D1470}"/>
              </a:ext>
            </a:extLst>
          </p:cNvPr>
          <p:cNvSpPr txBox="1"/>
          <p:nvPr/>
        </p:nvSpPr>
        <p:spPr>
          <a:xfrm>
            <a:off x="646112" y="1460787"/>
            <a:ext cx="10845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19"/>
              </a:spcBef>
            </a:pPr>
            <a:r>
              <a:rPr lang="pt-BR" altLang="pt-BR" sz="3200" dirty="0"/>
              <a:t>Aplicações profissionais devem detectar e sanar essas ocorrências o mais cedo possível, antes de qualquer perda de produtividade ou integridade.</a:t>
            </a:r>
          </a:p>
        </p:txBody>
      </p:sp>
    </p:spTree>
    <p:extLst>
      <p:ext uri="{BB962C8B-B14F-4D97-AF65-F5344CB8AC3E}">
        <p14:creationId xmlns:p14="http://schemas.microsoft.com/office/powerpoint/2010/main" val="388713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4266-78EF-5B1C-0354-D091E38B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6C15F-F48A-BD65-9D1D-812F76B9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 de Exceção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75149A-C862-2004-59B7-A2D581C05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478F43-6C19-9E42-0E3F-600A725B96B4}"/>
              </a:ext>
            </a:extLst>
          </p:cNvPr>
          <p:cNvSpPr txBox="1"/>
          <p:nvPr/>
        </p:nvSpPr>
        <p:spPr>
          <a:xfrm>
            <a:off x="646112" y="1460787"/>
            <a:ext cx="10845515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19"/>
              </a:spcBef>
            </a:pPr>
            <a:r>
              <a:rPr lang="pt-BR" altLang="pt-BR" sz="3200" dirty="0"/>
              <a:t>Código para tratar exceções podem ocupar parte considerável da aplicação e é com </a:t>
            </a:r>
            <a:r>
              <a:rPr lang="pt-BR" altLang="pt-BR" sz="3200" dirty="0" err="1"/>
              <a:t>freqüência</a:t>
            </a:r>
            <a:r>
              <a:rPr lang="pt-BR" altLang="pt-BR" sz="3200" dirty="0"/>
              <a:t> negligenciado, omitido ou mal utilizado.</a:t>
            </a:r>
          </a:p>
          <a:p>
            <a:pPr algn="just">
              <a:spcBef>
                <a:spcPts val="1619"/>
              </a:spcBef>
            </a:pPr>
            <a:r>
              <a:rPr lang="pt-BR" altLang="pt-BR" sz="3200" dirty="0"/>
              <a:t>Java oferece o conceito de </a:t>
            </a:r>
            <a:r>
              <a:rPr lang="pt-BR" altLang="pt-BR" sz="3200" i="1" dirty="0"/>
              <a:t>exceção</a:t>
            </a:r>
            <a:r>
              <a:rPr lang="pt-BR" altLang="pt-BR" sz="3200" dirty="0"/>
              <a:t> como um mecanismo flexível e orientado a objetos para tratar e corrigir falhas de execução.</a:t>
            </a:r>
          </a:p>
        </p:txBody>
      </p:sp>
    </p:spTree>
    <p:extLst>
      <p:ext uri="{BB962C8B-B14F-4D97-AF65-F5344CB8AC3E}">
        <p14:creationId xmlns:p14="http://schemas.microsoft.com/office/powerpoint/2010/main" val="564346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BFB2-95AF-B3DA-739B-6FC14741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0895-EF71-E45D-C272-F6BF7D27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Origem da </a:t>
            </a:r>
            <a:r>
              <a:rPr lang="pt-BR" b="1" dirty="0" err="1"/>
              <a:t>Exception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DFF51C-618F-9C72-C684-F95F3773C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A4D2CA82-3645-1392-D572-F0E685A72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32" y="1286028"/>
            <a:ext cx="9829109" cy="500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Condições anormais têm várias causas: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AABD62-8CA9-D089-C2EA-0545BEF90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811" y="1905404"/>
            <a:ext cx="9736245" cy="998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Font typeface="Symbol" panose="05050102010706020507" pitchFamily="18" charset="2"/>
              <a:buChar char=""/>
            </a:pPr>
            <a:r>
              <a:rPr lang="pt-BR" altLang="pt-BR" sz="1943" dirty="0">
                <a:solidFill>
                  <a:schemeClr val="tx1"/>
                </a:solidFill>
              </a:rPr>
              <a:t> Falhas física ou lógica de dispositivos e periféricos (defeitos de </a:t>
            </a:r>
            <a:r>
              <a:rPr lang="pt-BR" altLang="pt-BR" sz="1943" i="1" dirty="0">
                <a:solidFill>
                  <a:schemeClr val="tx1"/>
                </a:solidFill>
              </a:rPr>
              <a:t>hardware</a:t>
            </a:r>
            <a:r>
              <a:rPr lang="pt-BR" altLang="pt-BR" sz="1943" dirty="0">
                <a:solidFill>
                  <a:schemeClr val="tx1"/>
                </a:solidFill>
              </a:rPr>
              <a:t>, espaço em disco exaurido</a:t>
            </a:r>
            <a:r>
              <a:rPr lang="pt-BR" altLang="pt-BR" sz="1943" baseline="30000" dirty="0">
                <a:solidFill>
                  <a:schemeClr val="tx1"/>
                </a:solidFill>
              </a:rPr>
              <a:t>1</a:t>
            </a:r>
            <a:r>
              <a:rPr lang="pt-BR" altLang="pt-BR" sz="1943" dirty="0">
                <a:solidFill>
                  <a:schemeClr val="tx1"/>
                </a:solidFill>
              </a:rPr>
              <a:t>, impressora desconectada ou sem papel, perda de conexão de rede, etc.);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C082183-63C7-775D-90CB-96747D2C0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72" y="6263545"/>
            <a:ext cx="10390418" cy="301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295">
                <a:solidFill>
                  <a:schemeClr val="tx1"/>
                </a:solidFill>
              </a:rPr>
              <a:t>1 Exaurido - esgotado completamente.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BEC2AAF-884C-15BA-CD36-65355F655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25" y="3141215"/>
            <a:ext cx="9736245" cy="699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Font typeface="Symbol" panose="05050102010706020507" pitchFamily="18" charset="2"/>
              <a:buChar char=""/>
            </a:pPr>
            <a:r>
              <a:rPr lang="pt-BR" altLang="pt-BR" sz="1943">
                <a:solidFill>
                  <a:schemeClr val="tx1"/>
                </a:solidFill>
              </a:rPr>
              <a:t> Falha de sistema: componentes do sistema de execução têm limitações (memória disponível, número de </a:t>
            </a:r>
            <a:r>
              <a:rPr lang="pt-BR" altLang="pt-BR" sz="1943" i="1">
                <a:solidFill>
                  <a:schemeClr val="tx1"/>
                </a:solidFill>
              </a:rPr>
              <a:t>threads</a:t>
            </a:r>
            <a:r>
              <a:rPr lang="pt-BR" altLang="pt-BR" sz="1943">
                <a:solidFill>
                  <a:schemeClr val="tx1"/>
                </a:solidFill>
              </a:rPr>
              <a:t>, componentes de interface, etc.);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D498E79-143E-3998-8C44-22E08C475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25" y="4079318"/>
            <a:ext cx="9736245" cy="699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Font typeface="Symbol" panose="05050102010706020507" pitchFamily="18" charset="2"/>
              <a:buChar char=""/>
            </a:pPr>
            <a:r>
              <a:rPr lang="pt-BR" altLang="pt-BR" sz="1943">
                <a:solidFill>
                  <a:schemeClr val="tx1"/>
                </a:solidFill>
              </a:rPr>
              <a:t> Falha de ambiente, tipicamente por operações ilegais ou fora do contexto (sistema de arquivos protegido, violação de segurança);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9F83396-CBD9-DD2C-E918-D0B8E6CC2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25" y="4858501"/>
            <a:ext cx="9736245" cy="40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Font typeface="Symbol" panose="05050102010706020507" pitchFamily="18" charset="2"/>
              <a:buChar char=""/>
            </a:pPr>
            <a:r>
              <a:rPr lang="pt-BR" altLang="pt-BR" sz="1943">
                <a:solidFill>
                  <a:schemeClr val="tx1"/>
                </a:solidFill>
              </a:rPr>
              <a:t> Falha nos dados (erros de digitação, corrupção de dados);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6FC98AA6-11F5-2F4F-285C-703020CCF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25" y="5331835"/>
            <a:ext cx="9736245" cy="699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Font typeface="Symbol" panose="05050102010706020507" pitchFamily="18" charset="2"/>
              <a:buChar char=""/>
            </a:pPr>
            <a:r>
              <a:rPr lang="pt-BR" altLang="pt-BR" sz="1943">
                <a:solidFill>
                  <a:schemeClr val="tx1"/>
                </a:solidFill>
              </a:rPr>
              <a:t> Erros de implementação ou codificação (objetos usados antes da criação, erro de indexação).</a:t>
            </a:r>
          </a:p>
        </p:txBody>
      </p:sp>
    </p:spTree>
    <p:extLst>
      <p:ext uri="{BB962C8B-B14F-4D97-AF65-F5344CB8AC3E}">
        <p14:creationId xmlns:p14="http://schemas.microsoft.com/office/powerpoint/2010/main" val="150641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FA84-B012-83AF-E2B2-601973DF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76815-68D3-F638-5151-B38172DA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Origem da </a:t>
            </a:r>
            <a:r>
              <a:rPr lang="pt-BR" b="1" dirty="0" err="1"/>
              <a:t>Exception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FB5725-C49B-8D36-2068-9309540FD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FD24FBF9-3247-0A24-C6FD-A133E7CFD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16" y="1246118"/>
            <a:ext cx="10826639" cy="89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Uma condição anormal pode ser diagnosticada diretamente no código do programador ou internamente a uma chamada da API</a:t>
            </a:r>
            <a:r>
              <a:rPr lang="pt-BR" altLang="pt-BR" sz="2590" baseline="30000" dirty="0">
                <a:solidFill>
                  <a:schemeClr val="tx1"/>
                </a:solidFill>
              </a:rPr>
              <a:t>1</a:t>
            </a:r>
            <a:r>
              <a:rPr lang="pt-BR" altLang="pt-BR" sz="2590" dirty="0">
                <a:solidFill>
                  <a:schemeClr val="tx1"/>
                </a:solidFill>
              </a:rPr>
              <a:t> Java.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50E8E19-5D81-D3B8-AE72-D933EE249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1" y="2236601"/>
            <a:ext cx="10532921" cy="998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Font typeface="Symbol" panose="05050102010706020507" pitchFamily="18" charset="2"/>
              <a:buChar char=""/>
            </a:pPr>
            <a:r>
              <a:rPr lang="pt-BR" altLang="pt-BR" sz="1943" dirty="0">
                <a:solidFill>
                  <a:schemeClr val="tx1"/>
                </a:solidFill>
              </a:rPr>
              <a:t> Naturalmente a classificação do que é anormal varia para cada aplicação, assim como a gama de providências a tomar (por exemplo, para maioria das aplicações seria inaceitável abortar a execução devido a um arquivo de dados inexistente).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D7B8AF98-77DC-49B0-AABF-D9507235C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90" y="6382986"/>
            <a:ext cx="8932117" cy="301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295" dirty="0">
                <a:solidFill>
                  <a:schemeClr val="tx1"/>
                </a:solidFill>
              </a:rPr>
              <a:t>1 APPLICATION PROGRAM INTERFACE = Interface do Programa de Aplicação.</a:t>
            </a: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2A2983-CD58-F386-0F93-32D42E321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7" t="43312" r="29347" b="41344"/>
          <a:stretch>
            <a:fillRect/>
          </a:stretch>
        </p:blipFill>
        <p:spPr bwMode="auto">
          <a:xfrm>
            <a:off x="1664505" y="3565013"/>
            <a:ext cx="3807245" cy="1088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0417" t="43312" r="29347" b="4134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87977618-3E8E-9231-2077-7C9291006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55" y="4870336"/>
            <a:ext cx="2097240" cy="1295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3F152290-AEBA-D752-0DCF-3D09473C2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561" y="3570536"/>
            <a:ext cx="3807245" cy="206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958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D168C-3BF4-DFFB-7016-C2984A41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C51C7-09F4-2B0D-CE7A-49B084B7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Origem da </a:t>
            </a:r>
            <a:r>
              <a:rPr lang="pt-BR" b="1" dirty="0" err="1"/>
              <a:t>Exception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001CB6B-57FD-82C4-B8FE-B60FFA9AD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02969E8E-F329-47AF-4555-4F9E3249E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06" y="1430240"/>
            <a:ext cx="7059839" cy="5294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061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AF5B-DFD8-6103-7070-BC9FF591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B0B53-273A-D21E-27C8-00B5DEE17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80094AD-8914-BBED-49A5-92D977A50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1027">
            <a:extLst>
              <a:ext uri="{FF2B5EF4-FFF2-40B4-BE49-F238E27FC236}">
                <a16:creationId xmlns:a16="http://schemas.microsoft.com/office/drawing/2014/main" id="{D9E3C684-AC3A-2EE2-23A0-7F799349F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356008"/>
            <a:ext cx="1056568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3200" dirty="0"/>
              <a:t>Na linguagem de programação Java, um objeto de execução é sempre uma instância de uma classe derivada de </a:t>
            </a:r>
            <a:r>
              <a:rPr lang="pt-BR" altLang="pt-BR" sz="3200" b="1" i="1" dirty="0" err="1">
                <a:solidFill>
                  <a:srgbClr val="9999FF"/>
                </a:solidFill>
              </a:rPr>
              <a:t>Throwable</a:t>
            </a:r>
            <a:r>
              <a:rPr lang="pt-BR" altLang="pt-BR" sz="3200" dirty="0"/>
              <a:t>. Conforme veremos, é possível criar suas próprias classes de exceção quando as de Java não atendem a suas necessidades.</a:t>
            </a:r>
          </a:p>
        </p:txBody>
      </p:sp>
    </p:spTree>
    <p:extLst>
      <p:ext uri="{BB962C8B-B14F-4D97-AF65-F5344CB8AC3E}">
        <p14:creationId xmlns:p14="http://schemas.microsoft.com/office/powerpoint/2010/main" val="181257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3709-9FDB-65DC-5FAB-BE90BD44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FC2EA-44C4-808B-BC22-F0E0B50C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A6DE49-F4D1-1775-A85C-CCB3C8EB0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Picture 1027" descr="common_exceptions">
            <a:extLst>
              <a:ext uri="{FF2B5EF4-FFF2-40B4-BE49-F238E27FC236}">
                <a16:creationId xmlns:a16="http://schemas.microsoft.com/office/drawing/2014/main" id="{956CEBD2-635C-D19F-CF44-724B8699A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84" y="1308848"/>
            <a:ext cx="5815271" cy="5339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28">
            <a:extLst>
              <a:ext uri="{FF2B5EF4-FFF2-40B4-BE49-F238E27FC236}">
                <a16:creationId xmlns:a16="http://schemas.microsoft.com/office/drawing/2014/main" id="{DC0AFD2B-DF75-239C-8C43-CEAA55316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368" y="1230749"/>
            <a:ext cx="5947396" cy="95410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dirty="0"/>
              <a:t>A classe raiz de todas as exceções é </a:t>
            </a:r>
            <a:r>
              <a:rPr lang="pt-BR" altLang="pt-BR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java.lang.Throwable</a:t>
            </a:r>
            <a:r>
              <a:rPr lang="pt-BR" altLang="pt-BR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2777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DBA1-147D-D5C2-D9BE-1E6B5E3F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8E1EB-B5A4-1628-2308-A8A27007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Hierarquia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01B2FF-CB3B-088B-DFEE-825B8EB76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C9E131B1-A6D8-4CD1-3478-E0C857D2F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60" y="1202900"/>
            <a:ext cx="108862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400" dirty="0"/>
              <a:t>A hierarquia imediatamente se divide em duas ramificações: </a:t>
            </a:r>
            <a:r>
              <a:rPr lang="pt-BR" altLang="pt-BR" sz="2400" dirty="0">
                <a:latin typeface="Courier New" panose="02070309020205020404" pitchFamily="49" charset="0"/>
              </a:rPr>
              <a:t>Error</a:t>
            </a:r>
            <a:r>
              <a:rPr lang="pt-BR" altLang="pt-BR" sz="2400" dirty="0"/>
              <a:t> e </a:t>
            </a:r>
            <a:r>
              <a:rPr lang="pt-BR" altLang="pt-BR" sz="2400" dirty="0" err="1">
                <a:latin typeface="Courier New" panose="02070309020205020404" pitchFamily="49" charset="0"/>
              </a:rPr>
              <a:t>Exception</a:t>
            </a:r>
            <a:r>
              <a:rPr lang="pt-BR" altLang="pt-BR" sz="2400" dirty="0">
                <a:latin typeface="Courier New" panose="02070309020205020404" pitchFamily="49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7BC91-C67A-A725-D3AD-C48354155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11" y="2112181"/>
            <a:ext cx="1088621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buFont typeface="Symbol" panose="05050102010706020507" pitchFamily="18" charset="2"/>
              <a:buChar char=""/>
            </a:pPr>
            <a:r>
              <a:rPr lang="pt-BR" altLang="pt-BR" sz="2400" dirty="0"/>
              <a:t> A hierarquia </a:t>
            </a:r>
            <a:r>
              <a:rPr lang="pt-BR" altLang="pt-BR" sz="2400" dirty="0">
                <a:latin typeface="Courier New" panose="02070309020205020404" pitchFamily="49" charset="0"/>
              </a:rPr>
              <a:t>Error</a:t>
            </a:r>
            <a:r>
              <a:rPr lang="pt-BR" altLang="pt-BR" sz="2400" dirty="0"/>
              <a:t> descreve os erros internos e o esgotamento de recursos dentro do sistema de tempo execução Java. Você não deve gerar um objeto desse tipo. Há pouco a fazer quando um erro interno desse tipo ocorre, além de notificar o usuário e tentar fechar o programa. Essas situações são bem raras.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1E4C9-1B22-E23F-7270-DE57B5057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25" y="4091580"/>
            <a:ext cx="1088621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buFont typeface="Symbol" panose="05050102010706020507" pitchFamily="18" charset="2"/>
              <a:buChar char=""/>
            </a:pPr>
            <a:r>
              <a:rPr lang="pt-BR" altLang="pt-BR" sz="2400" dirty="0"/>
              <a:t> Ao fazer a programação Java, você se concentra na hierarquia </a:t>
            </a:r>
            <a:r>
              <a:rPr lang="pt-BR" altLang="pt-BR" sz="2400" dirty="0" err="1">
                <a:latin typeface="Courier New" panose="02070309020205020404" pitchFamily="49" charset="0"/>
              </a:rPr>
              <a:t>Exception</a:t>
            </a:r>
            <a:r>
              <a:rPr lang="pt-BR" altLang="pt-BR" sz="2400" dirty="0"/>
              <a:t>. A hierarquia </a:t>
            </a:r>
            <a:r>
              <a:rPr lang="pt-BR" altLang="pt-BR" sz="2400" dirty="0" err="1"/>
              <a:t>Exception</a:t>
            </a:r>
            <a:r>
              <a:rPr lang="pt-BR" altLang="pt-BR" sz="2400" dirty="0"/>
              <a:t> também se divide em duas ramificações:</a:t>
            </a:r>
          </a:p>
          <a:p>
            <a:pPr lvl="2" algn="just" eaLnBrk="1" hangingPunct="1">
              <a:buFont typeface="Wingdings" panose="05000000000000000000" pitchFamily="2" charset="2"/>
              <a:buChar char="Ø"/>
            </a:pPr>
            <a:r>
              <a:rPr lang="pt-BR" altLang="pt-BR" sz="2400" dirty="0"/>
              <a:t> exceções que derivam de </a:t>
            </a:r>
            <a:r>
              <a:rPr lang="pt-BR" altLang="pt-BR" sz="2400" dirty="0" err="1">
                <a:latin typeface="Courier New" panose="02070309020205020404" pitchFamily="49" charset="0"/>
              </a:rPr>
              <a:t>RuntimeException</a:t>
            </a:r>
            <a:r>
              <a:rPr lang="pt-BR" altLang="pt-BR" sz="2400" dirty="0"/>
              <a:t> – ocorre devido a um erro de programação.</a:t>
            </a:r>
          </a:p>
          <a:p>
            <a:pPr lvl="2" algn="just" eaLnBrk="1" hangingPunct="1">
              <a:buFont typeface="Wingdings" panose="05000000000000000000" pitchFamily="2" charset="2"/>
              <a:buChar char="Ø"/>
            </a:pPr>
            <a:r>
              <a:rPr lang="pt-BR" altLang="pt-BR" sz="2400" dirty="0"/>
              <a:t> exceções que NÃO derivam de </a:t>
            </a:r>
            <a:r>
              <a:rPr lang="pt-BR" altLang="pt-BR" sz="2400" dirty="0" err="1">
                <a:latin typeface="Courier New" panose="02070309020205020404" pitchFamily="49" charset="0"/>
              </a:rPr>
              <a:t>RuntimeException</a:t>
            </a:r>
            <a:r>
              <a:rPr lang="pt-BR" altLang="pt-BR" sz="2400" dirty="0"/>
              <a:t> – qualquer outra exceção que ocorra como um erro de E/S.</a:t>
            </a:r>
            <a:endParaRPr lang="pt-BR" altLang="pt-BR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35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587F-EF7E-B0BA-E51E-26AD4814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667D6-BA56-AD2B-E7E2-202A95DA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Hierarquia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27F566-EA15-9842-29A1-CF7D06F25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1DBB07CA-31DC-1F7B-DCF2-BA14283C3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797" y="1306808"/>
            <a:ext cx="10789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800"/>
              <a:t>A classe Throwable tem duas subclasses: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716934B-EFF2-788F-FCC7-7C2780A1D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01" y="1997087"/>
            <a:ext cx="1068718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531813" indent="-5318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15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b="1" dirty="0" err="1">
                <a:latin typeface="Courier New" panose="02070309020205020404" pitchFamily="49" charset="0"/>
              </a:rPr>
              <a:t>java.lang.Exception</a:t>
            </a:r>
            <a:r>
              <a:rPr lang="pt-BR" altLang="pt-BR" sz="2800" b="1" dirty="0"/>
              <a:t> </a:t>
            </a:r>
          </a:p>
          <a:p>
            <a:pPr algn="just" eaLnBrk="1" hangingPunct="1"/>
            <a:r>
              <a:rPr lang="pt-BR" altLang="pt-BR" sz="2800" dirty="0"/>
              <a:t>         É a raiz das classes derivadas de </a:t>
            </a:r>
            <a:r>
              <a:rPr lang="pt-BR" altLang="pt-BR" sz="2800" dirty="0" err="1"/>
              <a:t>Throwable</a:t>
            </a:r>
            <a:r>
              <a:rPr lang="pt-BR" altLang="pt-BR" sz="2800" dirty="0"/>
              <a:t> que indica situações que a aplicação pode querer capturar e realizar um tratamento que permita prosseguir com o processamento. </a:t>
            </a:r>
          </a:p>
          <a:p>
            <a:pPr lvl="1" algn="just" eaLnBrk="1" hangingPunct="1">
              <a:buFont typeface="Symbol" panose="05050102010706020507" pitchFamily="18" charset="2"/>
              <a:buChar char=""/>
            </a:pPr>
            <a:endParaRPr lang="pt-BR" altLang="pt-BR" sz="28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B321229-7166-D510-0E13-AA669C511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01" y="4127094"/>
            <a:ext cx="1068718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531813" indent="-5318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15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b="1" dirty="0" err="1">
                <a:latin typeface="Courier New" panose="02070309020205020404" pitchFamily="49" charset="0"/>
              </a:rPr>
              <a:t>java.lang.Error</a:t>
            </a:r>
            <a:r>
              <a:rPr lang="pt-BR" altLang="pt-BR" sz="2800" dirty="0"/>
              <a:t> </a:t>
            </a:r>
            <a:r>
              <a:rPr lang="pt-BR" altLang="pt-BR" sz="2800" b="1" dirty="0"/>
              <a:t> </a:t>
            </a:r>
          </a:p>
          <a:p>
            <a:pPr algn="just" eaLnBrk="1" hangingPunct="1"/>
            <a:r>
              <a:rPr lang="pt-BR" altLang="pt-BR" sz="2800" dirty="0"/>
              <a:t>	É a raiz das classes derivadas de </a:t>
            </a:r>
            <a:r>
              <a:rPr lang="pt-BR" altLang="pt-BR" sz="2800" dirty="0" err="1"/>
              <a:t>Throwable</a:t>
            </a:r>
            <a:r>
              <a:rPr lang="pt-BR" altLang="pt-BR" sz="2800" dirty="0"/>
              <a:t> que indica situações que a aplicação não deve tentar tratar. Usualmente indica situações anormais, que não deveriam ocorrer. </a:t>
            </a:r>
          </a:p>
          <a:p>
            <a:pPr lvl="1" algn="just" eaLnBrk="1" hangingPunct="1">
              <a:buFont typeface="Symbol" panose="05050102010706020507" pitchFamily="18" charset="2"/>
              <a:buChar char=""/>
            </a:pP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80432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1A84-37F2-05D9-BA83-3DBAD4A7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D2DAE-5717-6028-A27A-35395C3D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E51DCE-53F5-DCBD-D2BA-A9C69882F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B0E42BA-FB74-0402-FA0E-E41520FC6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t="17227" r="31543" b="53928"/>
          <a:stretch>
            <a:fillRect/>
          </a:stretch>
        </p:blipFill>
        <p:spPr bwMode="auto">
          <a:xfrm>
            <a:off x="681947" y="1447859"/>
            <a:ext cx="10915358" cy="4048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34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FB6E5-EFEF-7BA6-A41F-15607358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E142B-7E32-0548-03D5-2FBEC474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638912-F0F2-1CDC-AB7F-AA177FB79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4A809186-7CF4-5CE0-D120-4F05ABF6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29" y="1460297"/>
            <a:ext cx="10452898" cy="129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Um </a:t>
            </a:r>
            <a:r>
              <a:rPr lang="pt-BR" altLang="pt-BR" sz="2590" i="1" dirty="0">
                <a:solidFill>
                  <a:schemeClr val="tx1"/>
                </a:solidFill>
              </a:rPr>
              <a:t>bloco protegido </a:t>
            </a:r>
            <a:r>
              <a:rPr lang="pt-BR" altLang="pt-BR" sz="2590" dirty="0">
                <a:solidFill>
                  <a:schemeClr val="tx1"/>
                </a:solidFill>
              </a:rPr>
              <a:t>é um comando composto precedido da palavra </a:t>
            </a:r>
            <a:r>
              <a:rPr lang="pt-BR" altLang="pt-BR" sz="2590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try</a:t>
            </a:r>
            <a:r>
              <a:rPr lang="pt-BR" altLang="pt-BR" sz="2590" dirty="0">
                <a:solidFill>
                  <a:schemeClr val="tx1"/>
                </a:solidFill>
              </a:rPr>
              <a:t>, obrigatoriamente seguido por uma ou mais clausulas </a:t>
            </a:r>
            <a:r>
              <a:rPr lang="pt-BR" altLang="pt-BR" sz="2590" b="1" dirty="0">
                <a:solidFill>
                  <a:srgbClr val="00B0F0"/>
                </a:solidFill>
                <a:latin typeface="Courier New" panose="02070309020205020404" pitchFamily="49" charset="0"/>
              </a:rPr>
              <a:t>catch</a:t>
            </a:r>
            <a:r>
              <a:rPr lang="pt-BR" altLang="pt-BR" sz="2590" dirty="0">
                <a:solidFill>
                  <a:schemeClr val="tx1"/>
                </a:solidFill>
              </a:rPr>
              <a:t> e opcionalmente pela cláusula </a:t>
            </a:r>
            <a:r>
              <a:rPr lang="pt-BR" altLang="pt-BR" sz="2590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finally</a:t>
            </a:r>
            <a:r>
              <a:rPr lang="pt-BR" altLang="pt-BR" sz="259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F42AF82-6C4E-C3B5-A170-B6EBDFE10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752" y="3326224"/>
            <a:ext cx="6471885" cy="1497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3022" dirty="0" err="1">
                <a:solidFill>
                  <a:srgbClr val="00B0F0"/>
                </a:solidFill>
                <a:latin typeface="Courier New" panose="02070309020205020404" pitchFamily="49" charset="0"/>
              </a:rPr>
              <a:t>try</a:t>
            </a: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buClrTx/>
              <a:buFontTx/>
              <a:buNone/>
            </a:pP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     ...</a:t>
            </a:r>
          </a:p>
          <a:p>
            <a:pPr>
              <a:buClrTx/>
              <a:buFontTx/>
              <a:buNone/>
            </a:pP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    }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F806B48-827D-0146-D2D9-8B48CA3A8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29" y="5190437"/>
            <a:ext cx="10452898" cy="89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>
                <a:solidFill>
                  <a:schemeClr val="tx1"/>
                </a:solidFill>
              </a:rPr>
              <a:t>Se uma exceção ocorre durante a execução do bloco protegido e não é tratado, o restante dos comandos do bloco é ignorado.</a:t>
            </a:r>
          </a:p>
        </p:txBody>
      </p:sp>
    </p:spTree>
    <p:extLst>
      <p:ext uri="{BB962C8B-B14F-4D97-AF65-F5344CB8AC3E}">
        <p14:creationId xmlns:p14="http://schemas.microsoft.com/office/powerpoint/2010/main" val="228202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3D24-BC99-0F75-037B-088A8905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48356-35A9-0689-3AE6-F9CB19A2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5E5479-D0CB-22D4-4923-9C0B81692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46FB1CA7-1BC5-D6C5-A990-8531176DD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10" y="1589812"/>
            <a:ext cx="10484426" cy="89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Uma clausula </a:t>
            </a:r>
            <a:r>
              <a:rPr lang="pt-BR" altLang="pt-BR" sz="2590" b="1" dirty="0">
                <a:solidFill>
                  <a:srgbClr val="00B0F0"/>
                </a:solidFill>
                <a:latin typeface="Courier New" panose="02070309020205020404" pitchFamily="49" charset="0"/>
              </a:rPr>
              <a:t>catch</a:t>
            </a:r>
            <a:r>
              <a:rPr lang="pt-BR" altLang="pt-BR" sz="2590" dirty="0">
                <a:solidFill>
                  <a:schemeClr val="tx1"/>
                </a:solidFill>
              </a:rPr>
              <a:t> é um comando composto precedido de </a:t>
            </a:r>
            <a:r>
              <a:rPr lang="pt-BR" altLang="pt-BR" sz="2590" b="1" dirty="0">
                <a:solidFill>
                  <a:srgbClr val="00B0F0"/>
                </a:solidFill>
                <a:latin typeface="Courier New" panose="02070309020205020404" pitchFamily="49" charset="0"/>
              </a:rPr>
              <a:t>catch</a:t>
            </a:r>
            <a:r>
              <a:rPr lang="pt-BR" altLang="pt-BR" sz="2590" dirty="0">
                <a:solidFill>
                  <a:schemeClr val="tx1"/>
                </a:solidFill>
              </a:rPr>
              <a:t> e algo semelhante a uma declaração de parâmetro: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D65540B6-8843-C42B-2D1F-8F25319FA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073" y="3027652"/>
            <a:ext cx="8289806" cy="1497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3022" dirty="0">
                <a:solidFill>
                  <a:srgbClr val="00B0F0"/>
                </a:solidFill>
                <a:latin typeface="Courier New" panose="02070309020205020404" pitchFamily="49" charset="0"/>
              </a:rPr>
              <a:t>catch</a:t>
            </a: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3022" i="1" dirty="0">
                <a:solidFill>
                  <a:schemeClr val="tx1"/>
                </a:solidFill>
                <a:latin typeface="Courier New" panose="02070309020205020404" pitchFamily="49" charset="0"/>
              </a:rPr>
              <a:t>tipo identificador</a:t>
            </a: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){</a:t>
            </a:r>
          </a:p>
          <a:p>
            <a:pPr>
              <a:buClrTx/>
              <a:buFontTx/>
              <a:buNone/>
            </a:pP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  ...</a:t>
            </a:r>
          </a:p>
          <a:p>
            <a:pPr>
              <a:buClrTx/>
              <a:buFontTx/>
              <a:buNone/>
            </a:pP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3422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C87E-C0BB-9758-6EA7-29DF6310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1E776-07F7-FBEF-1A52-9B517C0B0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961C4C-1445-2D08-7B52-4B4A4AD9E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73EE3AEF-52BA-3EF6-F83A-36CE7628F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84" y="1444877"/>
            <a:ext cx="10619152" cy="89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Uma clausula </a:t>
            </a:r>
            <a:r>
              <a:rPr lang="pt-BR" altLang="pt-BR" sz="2590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finally</a:t>
            </a:r>
            <a:r>
              <a:rPr lang="pt-BR" altLang="pt-BR" sz="2590" dirty="0">
                <a:solidFill>
                  <a:schemeClr val="tx1"/>
                </a:solidFill>
              </a:rPr>
              <a:t> também se assemelha a um comando composto: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E590410-7E67-D076-EC8B-CBE679A44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145" y="2532904"/>
            <a:ext cx="10213379" cy="1497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3022" dirty="0" err="1">
                <a:solidFill>
                  <a:srgbClr val="00B0F0"/>
                </a:solidFill>
                <a:latin typeface="Courier New" panose="02070309020205020404" pitchFamily="49" charset="0"/>
              </a:rPr>
              <a:t>finally</a:t>
            </a: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buClrTx/>
              <a:buFontTx/>
              <a:buNone/>
            </a:pP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  ...</a:t>
            </a:r>
          </a:p>
          <a:p>
            <a:pPr>
              <a:buClrTx/>
              <a:buFontTx/>
              <a:buNone/>
            </a:pPr>
            <a:r>
              <a:rPr lang="pt-BR" altLang="pt-BR" sz="3022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C3AAC80-8D8D-C164-5DF2-10AF65400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38" y="4086988"/>
            <a:ext cx="10619152" cy="500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Toda a sequência </a:t>
            </a:r>
            <a:r>
              <a:rPr lang="pt-BR" altLang="pt-BR" sz="2590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try</a:t>
            </a:r>
            <a:r>
              <a:rPr lang="pt-BR" altLang="pt-BR" sz="2590" b="1" dirty="0">
                <a:solidFill>
                  <a:srgbClr val="00B0F0"/>
                </a:solidFill>
                <a:latin typeface="Courier New" panose="02070309020205020404" pitchFamily="49" charset="0"/>
              </a:rPr>
              <a:t>/catch/</a:t>
            </a:r>
            <a:r>
              <a:rPr lang="pt-BR" altLang="pt-BR" sz="2590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finally</a:t>
            </a:r>
            <a:r>
              <a:rPr lang="pt-BR" altLang="pt-BR" sz="2590" dirty="0">
                <a:solidFill>
                  <a:srgbClr val="00B0F0"/>
                </a:solidFill>
              </a:rPr>
              <a:t> </a:t>
            </a:r>
            <a:r>
              <a:rPr lang="pt-BR" altLang="pt-BR" sz="2590" dirty="0">
                <a:solidFill>
                  <a:schemeClr val="tx1"/>
                </a:solidFill>
              </a:rPr>
              <a:t>constitui um único comando: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EB1CA68C-D3C0-DD10-A749-3C02BFB6F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060" y="4945755"/>
            <a:ext cx="10315938" cy="766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159" dirty="0" err="1">
                <a:solidFill>
                  <a:srgbClr val="00B0F0"/>
                </a:solidFill>
                <a:latin typeface="Courier New" panose="02070309020205020404" pitchFamily="49" charset="0"/>
              </a:rPr>
              <a:t>If</a:t>
            </a:r>
            <a:r>
              <a:rPr lang="pt-BR" altLang="pt-BR" sz="2159" dirty="0">
                <a:solidFill>
                  <a:srgbClr val="00B0F0"/>
                </a:solidFill>
                <a:latin typeface="Courier New" panose="02070309020205020404" pitchFamily="49" charset="0"/>
              </a:rPr>
              <a:t> (...) </a:t>
            </a:r>
            <a:r>
              <a:rPr lang="pt-BR" altLang="pt-BR" sz="2159" dirty="0" err="1">
                <a:solidFill>
                  <a:srgbClr val="00B0F0"/>
                </a:solidFill>
                <a:latin typeface="Courier New" panose="02070309020205020404" pitchFamily="49" charset="0"/>
              </a:rPr>
              <a:t>try</a:t>
            </a:r>
            <a:r>
              <a:rPr lang="pt-BR" altLang="pt-BR" sz="2159" dirty="0">
                <a:solidFill>
                  <a:srgbClr val="00B0F0"/>
                </a:solidFill>
                <a:latin typeface="Courier New" panose="02070309020205020404" pitchFamily="49" charset="0"/>
              </a:rPr>
              <a:t> {...} catch (){...} catch (){...} </a:t>
            </a:r>
          </a:p>
          <a:p>
            <a:pPr>
              <a:buClrTx/>
              <a:buFontTx/>
              <a:buNone/>
            </a:pPr>
            <a:r>
              <a:rPr lang="pt-BR" altLang="pt-BR" sz="2159" dirty="0" err="1">
                <a:solidFill>
                  <a:srgbClr val="00B0F0"/>
                </a:solidFill>
                <a:latin typeface="Courier New" panose="02070309020205020404" pitchFamily="49" charset="0"/>
              </a:rPr>
              <a:t>finally</a:t>
            </a:r>
            <a:r>
              <a:rPr lang="pt-BR" altLang="pt-BR" sz="2159" dirty="0">
                <a:solidFill>
                  <a:srgbClr val="00B0F0"/>
                </a:solidFill>
                <a:latin typeface="Courier New" panose="02070309020205020404" pitchFamily="49" charset="0"/>
              </a:rPr>
              <a:t> {...} </a:t>
            </a:r>
            <a:r>
              <a:rPr lang="pt-BR" altLang="pt-BR" sz="2159" dirty="0" err="1">
                <a:solidFill>
                  <a:srgbClr val="00B0F0"/>
                </a:solidFill>
                <a:latin typeface="Courier New" panose="02070309020205020404" pitchFamily="49" charset="0"/>
              </a:rPr>
              <a:t>else</a:t>
            </a:r>
            <a:r>
              <a:rPr lang="pt-BR" altLang="pt-BR" sz="2159" dirty="0">
                <a:solidFill>
                  <a:srgbClr val="00B0F0"/>
                </a:solidFill>
                <a:latin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31950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F6C8-869A-2B2E-3305-AE0A9E45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121EF-090D-95F5-1E63-7DA04103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76F01A-15F9-EBD6-E361-42D1FA510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CEAC446-5018-D109-8269-D965720789FF}"/>
              </a:ext>
            </a:extLst>
          </p:cNvPr>
          <p:cNvSpPr txBox="1"/>
          <p:nvPr/>
        </p:nvSpPr>
        <p:spPr>
          <a:xfrm>
            <a:off x="854651" y="1412393"/>
            <a:ext cx="1047144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Esta é a estrutura básica para capturar e tratar o erro.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</a:t>
            </a:r>
            <a:r>
              <a:rPr lang="pt-BR" sz="2800" b="1" dirty="0" err="1"/>
              <a:t>Try</a:t>
            </a:r>
            <a:r>
              <a:rPr lang="pt-BR" sz="2800" b="1" dirty="0"/>
              <a:t>:</a:t>
            </a:r>
            <a:r>
              <a:rPr lang="pt-BR" sz="2800" dirty="0"/>
              <a:t> Contém o código que "pode" dar problema.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Catch:</a:t>
            </a:r>
            <a:r>
              <a:rPr lang="pt-BR" sz="2800" dirty="0"/>
              <a:t> Onde você define o que fazer se o problema ocorrer.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</a:t>
            </a:r>
            <a:r>
              <a:rPr lang="pt-BR" sz="2800" b="1" dirty="0" err="1"/>
              <a:t>Finally</a:t>
            </a:r>
            <a:r>
              <a:rPr lang="pt-BR" sz="2800" b="1" dirty="0"/>
              <a:t>:</a:t>
            </a:r>
            <a:r>
              <a:rPr lang="pt-BR" sz="2800" dirty="0"/>
              <a:t> Código que </a:t>
            </a:r>
            <a:r>
              <a:rPr lang="pt-BR" sz="2800" b="1" dirty="0"/>
              <a:t>sempre</a:t>
            </a:r>
            <a:r>
              <a:rPr lang="pt-BR" sz="2800" dirty="0"/>
              <a:t> será executado, ocorrendo erro ou não. Ideal para fechar conexões com o banco de dados ou liberar recursos de hardware.</a:t>
            </a:r>
          </a:p>
        </p:txBody>
      </p:sp>
    </p:spTree>
    <p:extLst>
      <p:ext uri="{BB962C8B-B14F-4D97-AF65-F5344CB8AC3E}">
        <p14:creationId xmlns:p14="http://schemas.microsoft.com/office/powerpoint/2010/main" val="36614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C107-B1D7-D82F-C9B3-6D5351C6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9573ECB-EF3E-D932-18A2-225FD11CC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E3B02A06-7886-6087-A287-774B99B44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328" y="6289858"/>
            <a:ext cx="2225577" cy="40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943" b="1" dirty="0">
                <a:solidFill>
                  <a:srgbClr val="33CC33"/>
                </a:solidFill>
              </a:rPr>
              <a:t>execução normal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509697A-CEB0-4C92-E36D-420BD9E4F090}"/>
              </a:ext>
            </a:extLst>
          </p:cNvPr>
          <p:cNvGrpSpPr>
            <a:grpSpLocks/>
          </p:cNvGrpSpPr>
          <p:nvPr/>
        </p:nvGrpSpPr>
        <p:grpSpPr bwMode="auto">
          <a:xfrm>
            <a:off x="681947" y="982366"/>
            <a:ext cx="6836592" cy="4468629"/>
            <a:chOff x="158" y="873"/>
            <a:chExt cx="3990" cy="260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1C25A981-E706-8493-8A26-CC32304BC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60" t="13780" r="40968" b="59836"/>
            <a:stretch>
              <a:fillRect/>
            </a:stretch>
          </p:blipFill>
          <p:spPr bwMode="auto">
            <a:xfrm>
              <a:off x="158" y="873"/>
              <a:ext cx="3990" cy="26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28760" t="13780" r="40968" b="59836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450FA7B-81B9-BD4C-DA1E-955D19816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3050"/>
              <a:ext cx="135" cy="3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943"/>
            </a:p>
          </p:txBody>
        </p:sp>
      </p:grpSp>
      <p:sp>
        <p:nvSpPr>
          <p:cNvPr id="12" name="Text Box 6">
            <a:extLst>
              <a:ext uri="{FF2B5EF4-FFF2-40B4-BE49-F238E27FC236}">
                <a16:creationId xmlns:a16="http://schemas.microsoft.com/office/drawing/2014/main" id="{C2C408F2-0646-9D1C-FCAD-3CF33B2E7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8125" y="5858903"/>
            <a:ext cx="6535028" cy="40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943" b="1" dirty="0">
                <a:solidFill>
                  <a:srgbClr val="0066FF"/>
                </a:solidFill>
              </a:rPr>
              <a:t>comandos executados se </a:t>
            </a:r>
            <a:r>
              <a:rPr lang="pt-BR" altLang="pt-BR" sz="1943" b="1" dirty="0">
                <a:solidFill>
                  <a:srgbClr val="0066FF"/>
                </a:solidFill>
                <a:latin typeface="Courier New" panose="02070309020205020404" pitchFamily="49" charset="0"/>
              </a:rPr>
              <a:t>i&lt;0</a:t>
            </a:r>
            <a:r>
              <a:rPr lang="pt-BR" altLang="pt-BR" sz="1943" b="1" dirty="0">
                <a:solidFill>
                  <a:srgbClr val="0066FF"/>
                </a:solidFill>
              </a:rPr>
              <a:t> ou </a:t>
            </a:r>
            <a:r>
              <a:rPr lang="pt-BR" altLang="pt-BR" sz="1943" b="1" dirty="0">
                <a:solidFill>
                  <a:srgbClr val="0066FF"/>
                </a:solidFill>
                <a:latin typeface="Courier New" panose="02070309020205020404" pitchFamily="49" charset="0"/>
              </a:rPr>
              <a:t>i&gt;=</a:t>
            </a:r>
            <a:r>
              <a:rPr lang="pt-BR" altLang="pt-BR" sz="1943" b="1" dirty="0" err="1">
                <a:solidFill>
                  <a:srgbClr val="0066FF"/>
                </a:solidFill>
                <a:latin typeface="Courier New" panose="02070309020205020404" pitchFamily="49" charset="0"/>
              </a:rPr>
              <a:t>a.length</a:t>
            </a:r>
            <a:endParaRPr lang="pt-BR" altLang="pt-BR" sz="1943" b="1" dirty="0">
              <a:solidFill>
                <a:srgbClr val="0066FF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BA0B131-C32B-F8CD-4B47-98DD5535B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235" y="5428664"/>
            <a:ext cx="5835948" cy="40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943" b="1" dirty="0">
                <a:solidFill>
                  <a:srgbClr val="FF0000"/>
                </a:solidFill>
              </a:rPr>
              <a:t>comandos executados se </a:t>
            </a:r>
            <a:r>
              <a:rPr lang="pt-BR" altLang="pt-BR" sz="1943" b="1" dirty="0">
                <a:solidFill>
                  <a:srgbClr val="FF0000"/>
                </a:solidFill>
                <a:latin typeface="Courier New" panose="02070309020205020404" pitchFamily="49" charset="0"/>
              </a:rPr>
              <a:t>j == 0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3552B936-2E06-3283-DB98-342A66C482E1}"/>
              </a:ext>
            </a:extLst>
          </p:cNvPr>
          <p:cNvSpPr>
            <a:spLocks/>
          </p:cNvSpPr>
          <p:nvPr/>
        </p:nvSpPr>
        <p:spPr bwMode="auto">
          <a:xfrm>
            <a:off x="2049264" y="1174272"/>
            <a:ext cx="5112880" cy="4876426"/>
          </a:xfrm>
          <a:custGeom>
            <a:avLst/>
            <a:gdLst>
              <a:gd name="G0" fmla="+- 64908 0 0"/>
              <a:gd name="G1" fmla="+- 1 0 0"/>
              <a:gd name="G2" fmla="+- 1 0 0"/>
              <a:gd name="G3" fmla="+- 1 0 0"/>
              <a:gd name="G4" fmla="+- 1 0 0"/>
              <a:gd name="G5" fmla="*/ 1 23051 51712"/>
              <a:gd name="G6" fmla="+- 1 0 0"/>
              <a:gd name="G7" fmla="+- 1 0 0"/>
              <a:gd name="G8" fmla="*/ 1 43691 5000"/>
              <a:gd name="G9" fmla="*/ 1 48365 11520"/>
              <a:gd name="G10" fmla="*/ G9 1 180"/>
              <a:gd name="G11" fmla="*/ 0 1 G10"/>
              <a:gd name="T0" fmla="*/ 0 w 2984"/>
              <a:gd name="T1" fmla="*/ 0 h 2846"/>
              <a:gd name="T2" fmla="*/ 0 w 2984"/>
              <a:gd name="T3" fmla="*/ 2147483647 h 2846"/>
              <a:gd name="T4" fmla="*/ 2147483647 w 2984"/>
              <a:gd name="T5" fmla="*/ 2147483647 h 2846"/>
              <a:gd name="T6" fmla="*/ 2147483647 w 2984"/>
              <a:gd name="T7" fmla="*/ 2147483647 h 2846"/>
              <a:gd name="T8" fmla="*/ 2147483647 w 2984"/>
              <a:gd name="T9" fmla="*/ 2147483647 h 2846"/>
              <a:gd name="T10" fmla="*/ 2147483647 w 2984"/>
              <a:gd name="T11" fmla="*/ 2147483647 h 2846"/>
              <a:gd name="T12" fmla="*/ 2147483647 w 2984"/>
              <a:gd name="T13" fmla="*/ 2147483647 h 2846"/>
              <a:gd name="T14" fmla="*/ 2147483647 w 2984"/>
              <a:gd name="T15" fmla="*/ 2147483647 h 2846"/>
              <a:gd name="T16" fmla="*/ 2147483647 w 2984"/>
              <a:gd name="T17" fmla="*/ 2147483647 h 2846"/>
              <a:gd name="T18" fmla="*/ 2147483647 w 2984"/>
              <a:gd name="T19" fmla="*/ 2147483647 h 2846"/>
              <a:gd name="T20" fmla="*/ 0 w 2984"/>
              <a:gd name="T21" fmla="*/ 0 h 2846"/>
              <a:gd name="T22" fmla="*/ 2984 w 2984"/>
              <a:gd name="T23" fmla="*/ 2846 h 28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984" h="2846">
                <a:moveTo>
                  <a:pt x="0" y="0"/>
                </a:moveTo>
                <a:lnTo>
                  <a:pt x="0" y="628"/>
                </a:lnTo>
                <a:lnTo>
                  <a:pt x="2975" y="628"/>
                </a:lnTo>
                <a:lnTo>
                  <a:pt x="2984" y="1169"/>
                </a:lnTo>
                <a:lnTo>
                  <a:pt x="998" y="1169"/>
                </a:lnTo>
                <a:lnTo>
                  <a:pt x="998" y="1359"/>
                </a:lnTo>
                <a:lnTo>
                  <a:pt x="2373" y="1359"/>
                </a:lnTo>
                <a:lnTo>
                  <a:pt x="2356" y="2132"/>
                </a:lnTo>
                <a:lnTo>
                  <a:pt x="336" y="2132"/>
                </a:lnTo>
                <a:lnTo>
                  <a:pt x="336" y="2846"/>
                </a:lnTo>
              </a:path>
            </a:pathLst>
          </a:custGeom>
          <a:noFill/>
          <a:ln w="9360" cap="flat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943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595C4067-EA78-1FF7-D96F-CC44F3A522E5}"/>
              </a:ext>
            </a:extLst>
          </p:cNvPr>
          <p:cNvSpPr>
            <a:spLocks/>
          </p:cNvSpPr>
          <p:nvPr/>
        </p:nvSpPr>
        <p:spPr bwMode="auto">
          <a:xfrm>
            <a:off x="2301141" y="1160563"/>
            <a:ext cx="5169422" cy="4345262"/>
          </a:xfrm>
          <a:custGeom>
            <a:avLst/>
            <a:gdLst>
              <a:gd name="G0" fmla="+- 65071 0 0"/>
              <a:gd name="G1" fmla="+- 1 0 0"/>
              <a:gd name="G2" fmla="+- 1 0 0"/>
              <a:gd name="G3" fmla="*/ 1 207 34464"/>
              <a:gd name="G4" fmla="+- 1 0 0"/>
              <a:gd name="G5" fmla="+- 40960 0 0"/>
              <a:gd name="T0" fmla="*/ 0 w 3017"/>
              <a:gd name="T1" fmla="*/ 0 h 2536"/>
              <a:gd name="T2" fmla="*/ 2147483647 w 3017"/>
              <a:gd name="T3" fmla="*/ 2147483647 h 2536"/>
              <a:gd name="T4" fmla="*/ 2147483647 w 3017"/>
              <a:gd name="T5" fmla="*/ 2147483647 h 2536"/>
              <a:gd name="T6" fmla="*/ 2147483647 w 3017"/>
              <a:gd name="T7" fmla="*/ 2147483647 h 2536"/>
              <a:gd name="T8" fmla="*/ 2147483647 w 3017"/>
              <a:gd name="T9" fmla="*/ 2147483647 h 2536"/>
              <a:gd name="T10" fmla="*/ 2147483647 w 3017"/>
              <a:gd name="T11" fmla="*/ 2147483647 h 2536"/>
              <a:gd name="T12" fmla="*/ 0 w 3017"/>
              <a:gd name="T13" fmla="*/ 0 h 2536"/>
              <a:gd name="T14" fmla="*/ 3017 w 3017"/>
              <a:gd name="T15" fmla="*/ 2536 h 2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3017" h="2536">
                <a:moveTo>
                  <a:pt x="0" y="0"/>
                </a:moveTo>
                <a:lnTo>
                  <a:pt x="8" y="473"/>
                </a:lnTo>
                <a:lnTo>
                  <a:pt x="3017" y="473"/>
                </a:lnTo>
                <a:lnTo>
                  <a:pt x="3017" y="1676"/>
                </a:lnTo>
                <a:lnTo>
                  <a:pt x="765" y="1676"/>
                </a:lnTo>
                <a:lnTo>
                  <a:pt x="765" y="2536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943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9F751A-3D2E-C466-7A83-29103F71BFF6}"/>
              </a:ext>
            </a:extLst>
          </p:cNvPr>
          <p:cNvSpPr>
            <a:spLocks/>
          </p:cNvSpPr>
          <p:nvPr/>
        </p:nvSpPr>
        <p:spPr bwMode="auto">
          <a:xfrm>
            <a:off x="856717" y="1203399"/>
            <a:ext cx="928680" cy="5318491"/>
          </a:xfrm>
          <a:custGeom>
            <a:avLst/>
            <a:gdLst>
              <a:gd name="G0" fmla="+- 1 0 0"/>
              <a:gd name="G1" fmla="+- 64281 0 0"/>
              <a:gd name="G2" fmla="+- 1 0 0"/>
              <a:gd name="G3" fmla="*/ 1 207 34464"/>
              <a:gd name="G4" fmla="+- 1 0 0"/>
              <a:gd name="G5" fmla="+- 40960 0 0"/>
              <a:gd name="T0" fmla="*/ 2147483647 w 542"/>
              <a:gd name="T1" fmla="*/ 0 h 3104"/>
              <a:gd name="T2" fmla="*/ 2147483647 w 542"/>
              <a:gd name="T3" fmla="*/ 2147483647 h 3104"/>
              <a:gd name="T4" fmla="*/ 0 w 542"/>
              <a:gd name="T5" fmla="*/ 2147483647 h 3104"/>
              <a:gd name="T6" fmla="*/ 2147483647 w 542"/>
              <a:gd name="T7" fmla="*/ 2147483647 h 3104"/>
              <a:gd name="T8" fmla="*/ 2147483647 w 542"/>
              <a:gd name="T9" fmla="*/ 2147483647 h 3104"/>
              <a:gd name="T10" fmla="*/ 2147483647 w 542"/>
              <a:gd name="T11" fmla="*/ 2147483647 h 3104"/>
              <a:gd name="T12" fmla="*/ 0 w 542"/>
              <a:gd name="T13" fmla="*/ 0 h 3104"/>
              <a:gd name="T14" fmla="*/ 542 w 542"/>
              <a:gd name="T15" fmla="*/ 3104 h 3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542" h="3104">
                <a:moveTo>
                  <a:pt x="542" y="0"/>
                </a:moveTo>
                <a:lnTo>
                  <a:pt x="542" y="843"/>
                </a:lnTo>
                <a:lnTo>
                  <a:pt x="0" y="843"/>
                </a:lnTo>
                <a:lnTo>
                  <a:pt x="17" y="2115"/>
                </a:lnTo>
                <a:lnTo>
                  <a:pt x="404" y="2115"/>
                </a:lnTo>
                <a:lnTo>
                  <a:pt x="404" y="3104"/>
                </a:lnTo>
              </a:path>
            </a:pathLst>
          </a:custGeom>
          <a:noFill/>
          <a:ln w="9360" cap="flat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943"/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1B02FE1B-5015-D48C-AF1C-36C2D3A6D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182" y="515427"/>
            <a:ext cx="4430934" cy="998989"/>
          </a:xfrm>
          <a:prstGeom prst="rect">
            <a:avLst/>
          </a:prstGeom>
          <a:solidFill>
            <a:srgbClr val="E3E3F1"/>
          </a:solidFill>
          <a:ln w="9360" cap="sq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943"/>
              <a:t>Note que após o desvio de execução os comandos após a execução </a:t>
            </a:r>
            <a:r>
              <a:rPr lang="pt-BR" altLang="pt-BR" sz="1943" i="1"/>
              <a:t>não</a:t>
            </a:r>
            <a:r>
              <a:rPr lang="pt-BR" altLang="pt-BR" sz="1943"/>
              <a:t> são automaticamente re-executados.</a:t>
            </a:r>
          </a:p>
        </p:txBody>
      </p:sp>
    </p:spTree>
    <p:extLst>
      <p:ext uri="{BB962C8B-B14F-4D97-AF65-F5344CB8AC3E}">
        <p14:creationId xmlns:p14="http://schemas.microsoft.com/office/powerpoint/2010/main" val="1372933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38BABD5-3539-FE64-F3E3-37D139133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" t="11807" r="13086" b="23221"/>
          <a:stretch>
            <a:fillRect/>
          </a:stretch>
        </p:blipFill>
        <p:spPr bwMode="auto">
          <a:xfrm>
            <a:off x="153666" y="167062"/>
            <a:ext cx="10174850" cy="5797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84" t="11807" r="13086" b="2322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0B31D42-415F-10DC-FB7E-8EE03B9BF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51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C561-7196-DD5F-6CD0-86F7D7E0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4872A4D-BA72-E775-5AE5-91D966E76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4F2604F6-7A30-FFF2-0785-FF382633A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29" y="321271"/>
            <a:ext cx="8161074" cy="594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3200" dirty="0">
                <a:solidFill>
                  <a:schemeClr val="tx1"/>
                </a:solidFill>
              </a:rPr>
              <a:t>Blocos protegidos podem ser aninhados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1EC4BEC-E6D0-EE81-7BED-C65FD7E29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6" t="16730" r="61069" b="54102"/>
          <a:stretch>
            <a:fillRect/>
          </a:stretch>
        </p:blipFill>
        <p:spPr bwMode="auto">
          <a:xfrm>
            <a:off x="1468636" y="1471532"/>
            <a:ext cx="5673171" cy="4307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0126" t="16730" r="61069" b="5410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Freeform 4">
            <a:extLst>
              <a:ext uri="{FF2B5EF4-FFF2-40B4-BE49-F238E27FC236}">
                <a16:creationId xmlns:a16="http://schemas.microsoft.com/office/drawing/2014/main" id="{C124786A-3E99-B5CC-FA44-F31CACB6D8ED}"/>
              </a:ext>
            </a:extLst>
          </p:cNvPr>
          <p:cNvSpPr>
            <a:spLocks/>
          </p:cNvSpPr>
          <p:nvPr/>
        </p:nvSpPr>
        <p:spPr bwMode="auto">
          <a:xfrm>
            <a:off x="1273306" y="1509227"/>
            <a:ext cx="1797389" cy="4979232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64711 0 0"/>
              <a:gd name="G5" fmla="+- 1 0 0"/>
              <a:gd name="G6" fmla="+- 4 0 0"/>
              <a:gd name="G7" fmla="+- 1 0 0"/>
              <a:gd name="G8" fmla="+- 1 0 0"/>
              <a:gd name="G9" fmla="*/ 1 35019 51712"/>
              <a:gd name="G10" fmla="*/ 1 46685 49664"/>
              <a:gd name="G11" fmla="+- 1 0 0"/>
              <a:gd name="T0" fmla="*/ 2147483647 w 1049"/>
              <a:gd name="T1" fmla="*/ 0 h 2906"/>
              <a:gd name="T2" fmla="*/ 2147483647 w 1049"/>
              <a:gd name="T3" fmla="*/ 2147483647 h 2906"/>
              <a:gd name="T4" fmla="*/ 2147483647 w 1049"/>
              <a:gd name="T5" fmla="*/ 2147483647 h 2906"/>
              <a:gd name="T6" fmla="*/ 2147483647 w 1049"/>
              <a:gd name="T7" fmla="*/ 2147483647 h 2906"/>
              <a:gd name="T8" fmla="*/ 2147483647 w 1049"/>
              <a:gd name="T9" fmla="*/ 2147483647 h 2906"/>
              <a:gd name="T10" fmla="*/ 2147483647 w 1049"/>
              <a:gd name="T11" fmla="*/ 2147483647 h 2906"/>
              <a:gd name="T12" fmla="*/ 2147483647 w 1049"/>
              <a:gd name="T13" fmla="*/ 2147483647 h 2906"/>
              <a:gd name="T14" fmla="*/ 2147483647 w 1049"/>
              <a:gd name="T15" fmla="*/ 2147483647 h 2906"/>
              <a:gd name="T16" fmla="*/ 0 w 1049"/>
              <a:gd name="T17" fmla="*/ 2147483647 h 2906"/>
              <a:gd name="T18" fmla="*/ 0 w 1049"/>
              <a:gd name="T19" fmla="*/ 2147483647 h 2906"/>
              <a:gd name="T20" fmla="*/ 2147483647 w 1049"/>
              <a:gd name="T21" fmla="*/ 2147483647 h 2906"/>
              <a:gd name="T22" fmla="*/ 2147483647 w 1049"/>
              <a:gd name="T23" fmla="*/ 2147483647 h 2906"/>
              <a:gd name="T24" fmla="*/ 0 w 1049"/>
              <a:gd name="T25" fmla="*/ 0 h 2906"/>
              <a:gd name="T26" fmla="*/ 1049 w 1049"/>
              <a:gd name="T27" fmla="*/ 2906 h 2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1049" h="2906">
                <a:moveTo>
                  <a:pt x="611" y="0"/>
                </a:moveTo>
                <a:lnTo>
                  <a:pt x="602" y="232"/>
                </a:lnTo>
                <a:lnTo>
                  <a:pt x="1049" y="232"/>
                </a:lnTo>
                <a:lnTo>
                  <a:pt x="1049" y="680"/>
                </a:lnTo>
                <a:lnTo>
                  <a:pt x="370" y="697"/>
                </a:lnTo>
                <a:lnTo>
                  <a:pt x="370" y="1187"/>
                </a:lnTo>
                <a:lnTo>
                  <a:pt x="834" y="1195"/>
                </a:lnTo>
                <a:lnTo>
                  <a:pt x="843" y="1625"/>
                </a:lnTo>
                <a:lnTo>
                  <a:pt x="0" y="1634"/>
                </a:lnTo>
                <a:lnTo>
                  <a:pt x="0" y="2459"/>
                </a:lnTo>
                <a:lnTo>
                  <a:pt x="611" y="2459"/>
                </a:lnTo>
                <a:lnTo>
                  <a:pt x="611" y="2906"/>
                </a:lnTo>
              </a:path>
            </a:pathLst>
          </a:custGeom>
          <a:noFill/>
          <a:ln w="9360" cap="flat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943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868F768-8644-CDE7-11A8-DA0D6D714071}"/>
              </a:ext>
            </a:extLst>
          </p:cNvPr>
          <p:cNvSpPr>
            <a:spLocks/>
          </p:cNvSpPr>
          <p:nvPr/>
        </p:nvSpPr>
        <p:spPr bwMode="auto">
          <a:xfrm>
            <a:off x="2570373" y="1509226"/>
            <a:ext cx="4211615" cy="4549160"/>
          </a:xfrm>
          <a:custGeom>
            <a:avLst/>
            <a:gdLst>
              <a:gd name="G0" fmla="+- 65398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4 0 0"/>
              <a:gd name="G7" fmla="+- 1 0 0"/>
              <a:gd name="G8" fmla="+- 1 0 0"/>
              <a:gd name="G9" fmla="*/ 1 35019 51712"/>
              <a:gd name="G10" fmla="+- 0 0 0"/>
              <a:gd name="G11" fmla="+- 1 0 0"/>
              <a:gd name="T0" fmla="*/ 0 w 2458"/>
              <a:gd name="T1" fmla="*/ 0 h 2655"/>
              <a:gd name="T2" fmla="*/ 0 w 2458"/>
              <a:gd name="T3" fmla="*/ 2147483647 h 2655"/>
              <a:gd name="T4" fmla="*/ 2147483647 w 2458"/>
              <a:gd name="T5" fmla="*/ 2147483647 h 2655"/>
              <a:gd name="T6" fmla="*/ 2147483647 w 2458"/>
              <a:gd name="T7" fmla="*/ 2147483647 h 2655"/>
              <a:gd name="T8" fmla="*/ 2147483647 w 2458"/>
              <a:gd name="T9" fmla="*/ 2147483647 h 2655"/>
              <a:gd name="T10" fmla="*/ 2147483647 w 2458"/>
              <a:gd name="T11" fmla="*/ 2147483647 h 2655"/>
              <a:gd name="T12" fmla="*/ 2147483647 w 2458"/>
              <a:gd name="T13" fmla="*/ 2147483647 h 2655"/>
              <a:gd name="T14" fmla="*/ 2147483647 w 2458"/>
              <a:gd name="T15" fmla="*/ 2147483647 h 2655"/>
              <a:gd name="T16" fmla="*/ 2147483647 w 2458"/>
              <a:gd name="T17" fmla="*/ 2147483647 h 2655"/>
              <a:gd name="T18" fmla="*/ 2147483647 w 2458"/>
              <a:gd name="T19" fmla="*/ 2147483647 h 2655"/>
              <a:gd name="T20" fmla="*/ 2147483647 w 2458"/>
              <a:gd name="T21" fmla="*/ 2147483647 h 2655"/>
              <a:gd name="T22" fmla="*/ 2147483647 w 2458"/>
              <a:gd name="T23" fmla="*/ 2147483647 h 2655"/>
              <a:gd name="T24" fmla="*/ 0 w 2458"/>
              <a:gd name="T25" fmla="*/ 0 h 2655"/>
              <a:gd name="T26" fmla="*/ 2458 w 2458"/>
              <a:gd name="T27" fmla="*/ 2655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458" h="2655">
                <a:moveTo>
                  <a:pt x="0" y="0"/>
                </a:moveTo>
                <a:lnTo>
                  <a:pt x="0" y="138"/>
                </a:lnTo>
                <a:lnTo>
                  <a:pt x="438" y="138"/>
                </a:lnTo>
                <a:lnTo>
                  <a:pt x="438" y="808"/>
                </a:lnTo>
                <a:lnTo>
                  <a:pt x="2450" y="808"/>
                </a:lnTo>
                <a:lnTo>
                  <a:pt x="2458" y="1496"/>
                </a:lnTo>
                <a:lnTo>
                  <a:pt x="301" y="1496"/>
                </a:lnTo>
                <a:lnTo>
                  <a:pt x="301" y="1789"/>
                </a:lnTo>
                <a:lnTo>
                  <a:pt x="2201" y="1789"/>
                </a:lnTo>
                <a:lnTo>
                  <a:pt x="2209" y="2124"/>
                </a:lnTo>
                <a:lnTo>
                  <a:pt x="34" y="2124"/>
                </a:lnTo>
                <a:lnTo>
                  <a:pt x="39" y="2655"/>
                </a:lnTo>
              </a:path>
            </a:pathLst>
          </a:custGeom>
          <a:noFill/>
          <a:ln w="9360" cap="flat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943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58894528-8764-9F8D-C82D-8EFF3A2CC413}"/>
              </a:ext>
            </a:extLst>
          </p:cNvPr>
          <p:cNvSpPr>
            <a:spLocks/>
          </p:cNvSpPr>
          <p:nvPr/>
        </p:nvSpPr>
        <p:spPr bwMode="auto">
          <a:xfrm>
            <a:off x="2865082" y="1502372"/>
            <a:ext cx="4285293" cy="4132797"/>
          </a:xfrm>
          <a:custGeom>
            <a:avLst/>
            <a:gdLst>
              <a:gd name="G0" fmla="+- 0 0 0"/>
              <a:gd name="G1" fmla="+- 1 0 0"/>
              <a:gd name="G2" fmla="+- 1 0 0"/>
              <a:gd name="G3" fmla="+- 1 0 0"/>
              <a:gd name="T0" fmla="*/ 2 256 1"/>
              <a:gd name="T1" fmla="*/ 0 256 1"/>
              <a:gd name="G4" fmla="+- 0 T0 T1"/>
              <a:gd name="G5" fmla="sin 12 G4"/>
              <a:gd name="G6" fmla="+- 1 0 0"/>
              <a:gd name="G7" fmla="*/ 1 35019 51712"/>
              <a:gd name="G8" fmla="*/ 1 14739 51712"/>
              <a:gd name="G9" fmla="*/ 1 48365 11520"/>
              <a:gd name="G10" fmla="*/ G9 1 180"/>
              <a:gd name="G11" fmla="*/ G8 1 G10"/>
              <a:gd name="T2" fmla="*/ 2147483647 w 2501"/>
              <a:gd name="T3" fmla="*/ 0 h 2412"/>
              <a:gd name="T4" fmla="*/ 0 w 2501"/>
              <a:gd name="T5" fmla="*/ 2147483647 h 2412"/>
              <a:gd name="T6" fmla="*/ 2147483647 w 2501"/>
              <a:gd name="T7" fmla="*/ 2147483647 h 2412"/>
              <a:gd name="T8" fmla="*/ 2147483647 w 2501"/>
              <a:gd name="T9" fmla="*/ 2147483647 h 2412"/>
              <a:gd name="T10" fmla="*/ 2147483647 w 2501"/>
              <a:gd name="T11" fmla="*/ 2147483647 h 2412"/>
              <a:gd name="T12" fmla="*/ 2147483647 w 2501"/>
              <a:gd name="T13" fmla="*/ 2147483647 h 2412"/>
              <a:gd name="T14" fmla="*/ 2147483647 w 2501"/>
              <a:gd name="T15" fmla="*/ 2147483647 h 2412"/>
              <a:gd name="T16" fmla="*/ 2147483647 w 2501"/>
              <a:gd name="T17" fmla="*/ 2147483647 h 2412"/>
              <a:gd name="T18" fmla="*/ 0 w 2501"/>
              <a:gd name="T19" fmla="*/ 0 h 2412"/>
              <a:gd name="T20" fmla="*/ 2501 w 2501"/>
              <a:gd name="T21" fmla="*/ 2412 h 2412"/>
            </a:gdLst>
            <a:ahLst/>
            <a:cxnLst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T18" t="T19" r="T20" b="T21"/>
            <a:pathLst>
              <a:path w="2501" h="2412">
                <a:moveTo>
                  <a:pt x="2" y="0"/>
                </a:moveTo>
                <a:lnTo>
                  <a:pt x="0" y="82"/>
                </a:lnTo>
                <a:lnTo>
                  <a:pt x="429" y="82"/>
                </a:lnTo>
                <a:lnTo>
                  <a:pt x="429" y="692"/>
                </a:lnTo>
                <a:lnTo>
                  <a:pt x="2501" y="684"/>
                </a:lnTo>
                <a:lnTo>
                  <a:pt x="2501" y="2197"/>
                </a:lnTo>
                <a:lnTo>
                  <a:pt x="189" y="2197"/>
                </a:lnTo>
                <a:lnTo>
                  <a:pt x="189" y="24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943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EA25469D-6169-0993-64E8-BF3F92A5C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646" y="6205741"/>
            <a:ext cx="6074114" cy="40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943" b="1">
                <a:solidFill>
                  <a:srgbClr val="33CC33"/>
                </a:solidFill>
              </a:rPr>
              <a:t>Exceção aritmética no bloco interno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DF2C6CDD-BC3F-8B28-208C-B63626B31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484" y="5811652"/>
            <a:ext cx="6535028" cy="40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943" b="1">
                <a:solidFill>
                  <a:srgbClr val="0066FF"/>
                </a:solidFill>
                <a:latin typeface="Courier New" panose="02070309020205020404" pitchFamily="49" charset="0"/>
              </a:rPr>
              <a:t>IOException</a:t>
            </a:r>
            <a:r>
              <a:rPr lang="pt-BR" altLang="pt-BR" sz="1943" b="1">
                <a:solidFill>
                  <a:srgbClr val="0066FF"/>
                </a:solidFill>
              </a:rPr>
              <a:t> após o bloco interno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3ABD8328-FE65-296C-67E6-832E42644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460" y="5357593"/>
            <a:ext cx="5835948" cy="40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943" b="1">
                <a:solidFill>
                  <a:srgbClr val="FF0000"/>
                </a:solidFill>
                <a:latin typeface="Courier New" panose="02070309020205020404" pitchFamily="49" charset="0"/>
              </a:rPr>
              <a:t>IOException</a:t>
            </a:r>
            <a:r>
              <a:rPr lang="pt-BR" altLang="pt-BR" sz="1943" b="1">
                <a:solidFill>
                  <a:srgbClr val="FF0000"/>
                </a:solidFill>
              </a:rPr>
              <a:t> no bloco interno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BBA98BEE-1CBA-23F7-5692-59C3A2AE5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8077" y="1165245"/>
            <a:ext cx="4430934" cy="998989"/>
          </a:xfrm>
          <a:prstGeom prst="rect">
            <a:avLst/>
          </a:prstGeom>
          <a:solidFill>
            <a:srgbClr val="E3E3F1"/>
          </a:solidFill>
          <a:ln w="9360" cap="sq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943"/>
              <a:t>Exceções não tratadas no(s) bloco(s) interno(s) são propagadas ao mais externo, se houver.</a:t>
            </a:r>
          </a:p>
        </p:txBody>
      </p:sp>
    </p:spTree>
    <p:extLst>
      <p:ext uri="{BB962C8B-B14F-4D97-AF65-F5344CB8AC3E}">
        <p14:creationId xmlns:p14="http://schemas.microsoft.com/office/powerpoint/2010/main" val="1064372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24EE-1CAB-4604-ED77-6C3D1007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1CD81-2510-8A82-7EF9-4C0C35B5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Propagação entre métodos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F30E2C-8BEC-B333-FB2F-2071579B0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57033138-4516-F5B0-324C-CEDD0A841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38" y="1349971"/>
            <a:ext cx="10425877" cy="129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Caso ocorra uma exceção não tratada inclusive no bloco mais externo de uma função/método, este é imediatamente abortado e a execução é propagada à função/método chamador.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85E93F24-8A8B-82FD-6CD3-69C39C3CE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281" y="3280681"/>
            <a:ext cx="2609205" cy="2792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943" dirty="0" err="1">
                <a:solidFill>
                  <a:srgbClr val="00B0F0"/>
                </a:solidFill>
                <a:latin typeface="Courier New" panose="02070309020205020404" pitchFamily="49" charset="0"/>
              </a:rPr>
              <a:t>void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f(){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...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1943" dirty="0" err="1">
                <a:solidFill>
                  <a:srgbClr val="00B0F0"/>
                </a:solidFill>
                <a:latin typeface="Courier New" panose="02070309020205020404" pitchFamily="49" charset="0"/>
              </a:rPr>
              <a:t>try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   ...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   g();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   ...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...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71AFC9C-72DA-4C33-D596-F0DA444EE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19" y="2723816"/>
            <a:ext cx="6750663" cy="398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943" dirty="0" err="1">
                <a:solidFill>
                  <a:srgbClr val="00B0F0"/>
                </a:solidFill>
                <a:latin typeface="Courier New" panose="02070309020205020404" pitchFamily="49" charset="0"/>
              </a:rPr>
              <a:t>void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g(){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...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</a:t>
            </a:r>
            <a:r>
              <a:rPr lang="pt-BR" altLang="pt-BR" sz="1943" dirty="0" err="1">
                <a:solidFill>
                  <a:srgbClr val="00B0F0"/>
                </a:solidFill>
                <a:latin typeface="Courier New" panose="02070309020205020404" pitchFamily="49" charset="0"/>
              </a:rPr>
              <a:t>try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   ...</a:t>
            </a:r>
          </a:p>
          <a:p>
            <a:pPr lvl="1"/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pt-BR" altLang="pt-BR" sz="1943" dirty="0">
                <a:solidFill>
                  <a:srgbClr val="00B0F0"/>
                </a:solidFill>
                <a:latin typeface="Courier New" panose="02070309020205020404" pitchFamily="49" charset="0"/>
              </a:rPr>
              <a:t>catch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1943" dirty="0" err="1">
                <a:solidFill>
                  <a:schemeClr val="tx1"/>
                </a:solidFill>
                <a:latin typeface="Courier New" panose="02070309020205020404" pitchFamily="49" charset="0"/>
              </a:rPr>
              <a:t>ArithmeticException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e){</a:t>
            </a:r>
          </a:p>
          <a:p>
            <a:pPr lvl="1"/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...</a:t>
            </a:r>
          </a:p>
          <a:p>
            <a:pPr lvl="1"/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pt-BR" altLang="pt-BR" sz="1943" dirty="0">
                <a:solidFill>
                  <a:srgbClr val="00B0F0"/>
                </a:solidFill>
                <a:latin typeface="Courier New" panose="02070309020205020404" pitchFamily="49" charset="0"/>
              </a:rPr>
              <a:t>catch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1943" dirty="0" err="1">
                <a:solidFill>
                  <a:schemeClr val="tx1"/>
                </a:solidFill>
                <a:latin typeface="Courier New" panose="02070309020205020404" pitchFamily="49" charset="0"/>
              </a:rPr>
              <a:t>RuntimeException</a:t>
            </a: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e){</a:t>
            </a:r>
          </a:p>
          <a:p>
            <a:pPr lvl="1"/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   ...</a:t>
            </a:r>
          </a:p>
          <a:p>
            <a:pPr lvl="1"/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pt-BR" altLang="pt-BR" sz="1943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10649FC5-65EE-C4B6-5FB0-59F2D61AD45A}"/>
              </a:ext>
            </a:extLst>
          </p:cNvPr>
          <p:cNvSpPr>
            <a:spLocks/>
          </p:cNvSpPr>
          <p:nvPr/>
        </p:nvSpPr>
        <p:spPr bwMode="auto">
          <a:xfrm>
            <a:off x="3273817" y="2800920"/>
            <a:ext cx="398386" cy="3808958"/>
          </a:xfrm>
          <a:prstGeom prst="leftBrace">
            <a:avLst>
              <a:gd name="adj1" fmla="val 101786"/>
              <a:gd name="adj2" fmla="val 43500"/>
            </a:avLst>
          </a:prstGeom>
          <a:ln>
            <a:solidFill>
              <a:schemeClr val="tx1"/>
            </a:solidFill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pt-BR" sz="1943"/>
          </a:p>
        </p:txBody>
      </p:sp>
    </p:spTree>
    <p:extLst>
      <p:ext uri="{BB962C8B-B14F-4D97-AF65-F5344CB8AC3E}">
        <p14:creationId xmlns:p14="http://schemas.microsoft.com/office/powerpoint/2010/main" val="225180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3B4C6-3361-87DD-A2C7-8E7A25A4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A2880-F495-7B19-FA75-FF86AADD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Propagação entre métodos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99CD291-4FA5-CFA6-0265-76CD23112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EE1549AF-EB05-30C7-D52E-FFAB5BF70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64" y="1453939"/>
            <a:ext cx="10681223" cy="1394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349"/>
              </a:spcBef>
            </a:pPr>
            <a:r>
              <a:rPr lang="pt-BR" altLang="pt-BR" sz="2800" dirty="0">
                <a:solidFill>
                  <a:schemeClr val="tx1"/>
                </a:solidFill>
              </a:rPr>
              <a:t>O processo de propagação prossegue até encontrar uma clausula </a:t>
            </a:r>
            <a:r>
              <a:rPr lang="pt-BR" altLang="pt-BR" sz="2800" b="1" dirty="0">
                <a:solidFill>
                  <a:srgbClr val="00B0F0"/>
                </a:solidFill>
                <a:latin typeface="Courier New" panose="02070309020205020404" pitchFamily="49" charset="0"/>
              </a:rPr>
              <a:t>catch</a:t>
            </a:r>
            <a:r>
              <a:rPr lang="pt-BR" altLang="pt-BR" sz="2800" dirty="0">
                <a:solidFill>
                  <a:schemeClr val="tx1"/>
                </a:solidFill>
              </a:rPr>
              <a:t> com o tipo apropriado. No caso de aplicativos não gráficos, isso pode significar término da execução.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1A4A110-C3D9-2F82-5FA7-C4D114B1E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65" y="2949766"/>
            <a:ext cx="10782138" cy="96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349"/>
              </a:spcBef>
            </a:pPr>
            <a:r>
              <a:rPr lang="pt-BR" altLang="pt-BR" sz="2800">
                <a:solidFill>
                  <a:schemeClr val="tx1"/>
                </a:solidFill>
              </a:rPr>
              <a:t>Naturalmente a função g poderia não tratar exceção alguma e deixar o tratamento por conta dos invocadores.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B33C6DF-5E62-53AC-3FF4-008F45501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39" y="4027855"/>
            <a:ext cx="5780814" cy="259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24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4FBE5-E34F-BE55-5DC2-34BD4418B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62BB3-9256-280A-0EC9-D543D911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150044" cy="1400530"/>
          </a:xfrm>
        </p:spPr>
        <p:txBody>
          <a:bodyPr/>
          <a:lstStyle/>
          <a:p>
            <a:r>
              <a:rPr lang="pt-BR" b="1" dirty="0"/>
              <a:t>Lançando Exceções: </a:t>
            </a:r>
            <a:r>
              <a:rPr lang="pt-BR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pt-BR" b="1" dirty="0"/>
              <a:t> </a:t>
            </a:r>
            <a:r>
              <a:rPr lang="pt-BR" sz="3200" b="1" dirty="0"/>
              <a:t>e</a:t>
            </a:r>
            <a:r>
              <a:rPr lang="pt-BR" b="1" dirty="0"/>
              <a:t> </a:t>
            </a:r>
            <a:r>
              <a:rPr lang="pt-BR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endParaRPr lang="pt-BR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BBCD1A-62E4-2BE2-3FED-6FBA2A474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3C86410-4DF8-5EF0-C276-E73E96BBF057}"/>
              </a:ext>
            </a:extLst>
          </p:cNvPr>
          <p:cNvSpPr txBox="1"/>
          <p:nvPr/>
        </p:nvSpPr>
        <p:spPr>
          <a:xfrm>
            <a:off x="646111" y="1453818"/>
            <a:ext cx="1049294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Courier New" panose="02070309020205020404" pitchFamily="49" charset="0"/>
              </a:rPr>
              <a:t>throws</a:t>
            </a:r>
            <a:r>
              <a:rPr lang="pt-BR" sz="2800" b="1" dirty="0"/>
              <a:t> (na assinatura):</a:t>
            </a:r>
            <a:r>
              <a:rPr lang="pt-BR" sz="2800" dirty="0"/>
              <a:t> Avisa quem chama o método que ele é "perigoso" e pode lançar uma exceção.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Courier New" panose="02070309020205020404" pitchFamily="49" charset="0"/>
              </a:rPr>
              <a:t>throw</a:t>
            </a:r>
            <a:r>
              <a:rPr lang="pt-BR" sz="2800" b="1" dirty="0"/>
              <a:t> (no corpo):</a:t>
            </a:r>
            <a:r>
              <a:rPr lang="pt-BR" sz="2800" dirty="0"/>
              <a:t> Lança ativamente a exceção quando uma condição de erro é detectada.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3A1088-AAD0-FB34-8976-0EC7091D9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81" y="3692103"/>
            <a:ext cx="9636201" cy="22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40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6F24F-B7EE-8224-F628-85C95613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D084F-8500-E838-D222-8ADBF07E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150044" cy="1400530"/>
          </a:xfrm>
        </p:spPr>
        <p:txBody>
          <a:bodyPr/>
          <a:lstStyle/>
          <a:p>
            <a:r>
              <a:rPr lang="pt-BR" b="1" dirty="0" err="1"/>
              <a:t>AutoCloseable</a:t>
            </a:r>
            <a:endParaRPr lang="pt-BR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12D39BB-5C5C-FC59-3C24-0A3C7AD65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0981246-8AA7-433F-75CF-2E68B358F769}"/>
              </a:ext>
            </a:extLst>
          </p:cNvPr>
          <p:cNvSpPr txBox="1"/>
          <p:nvPr/>
        </p:nvSpPr>
        <p:spPr>
          <a:xfrm>
            <a:off x="480580" y="1609681"/>
            <a:ext cx="1079355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 dirty="0" err="1"/>
              <a:t>Try-with-resources</a:t>
            </a:r>
            <a:r>
              <a:rPr lang="pt-BR" sz="3200" b="1" dirty="0"/>
              <a:t>:</a:t>
            </a:r>
            <a:r>
              <a:rPr lang="pt-BR" sz="3200" dirty="0"/>
              <a:t> Para classes que implementam </a:t>
            </a:r>
            <a:r>
              <a:rPr lang="pt-BR" sz="3200" dirty="0" err="1">
                <a:solidFill>
                  <a:srgbClr val="00B0F0"/>
                </a:solidFill>
                <a:latin typeface="Courier New" panose="02070309020205020404" pitchFamily="49" charset="0"/>
              </a:rPr>
              <a:t>AutoCloseable</a:t>
            </a:r>
            <a:r>
              <a:rPr lang="pt-BR" sz="3200" dirty="0"/>
              <a:t> (como as de banco de dados ou arquivos), o Java moderno fecha tudo automaticamente se declarado dentro do parênteses do </a:t>
            </a:r>
            <a:r>
              <a:rPr lang="pt-BR" sz="3200" dirty="0" err="1">
                <a:latin typeface="Courier New" panose="02070309020205020404" pitchFamily="49" charset="0"/>
              </a:rPr>
              <a:t>try</a:t>
            </a:r>
            <a:r>
              <a:rPr lang="pt-BR" sz="3200" dirty="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BD3562-0960-FE55-26F7-8E0561726682}"/>
              </a:ext>
            </a:extLst>
          </p:cNvPr>
          <p:cNvSpPr txBox="1"/>
          <p:nvPr/>
        </p:nvSpPr>
        <p:spPr>
          <a:xfrm>
            <a:off x="1031298" y="4424862"/>
            <a:ext cx="10419485" cy="13849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800" b="1" dirty="0"/>
              <a:t>Não use o Catch vazio:</a:t>
            </a:r>
            <a:r>
              <a:rPr lang="pt-BR" sz="2800" dirty="0"/>
              <a:t> "engolir" a exceção (deixar o catch sem código) é um pecado capital, pois o erro acontece e ninguém fica sabendo.</a:t>
            </a:r>
          </a:p>
        </p:txBody>
      </p:sp>
    </p:spTree>
    <p:extLst>
      <p:ext uri="{BB962C8B-B14F-4D97-AF65-F5344CB8AC3E}">
        <p14:creationId xmlns:p14="http://schemas.microsoft.com/office/powerpoint/2010/main" val="2605474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498</TotalTime>
  <Words>1112</Words>
  <Application>Microsoft Office PowerPoint</Application>
  <PresentationFormat>Widescreen</PresentationFormat>
  <Paragraphs>104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Aptos</vt:lpstr>
      <vt:lpstr>Arial</vt:lpstr>
      <vt:lpstr>Century Gothic</vt:lpstr>
      <vt:lpstr>Courier New</vt:lpstr>
      <vt:lpstr>Symbol</vt:lpstr>
      <vt:lpstr>Wingdings</vt:lpstr>
      <vt:lpstr>Wingdings 3</vt:lpstr>
      <vt:lpstr>Íon</vt:lpstr>
      <vt:lpstr>Apresentação do PowerPoint</vt:lpstr>
      <vt:lpstr>Apresentação do PowerPoint</vt:lpstr>
      <vt:lpstr>Conceito de Exceção</vt:lpstr>
      <vt:lpstr>Conceito de Exceção</vt:lpstr>
      <vt:lpstr>Conceito de Exceção</vt:lpstr>
      <vt:lpstr>Origem da Exception</vt:lpstr>
      <vt:lpstr>Origem da Exception</vt:lpstr>
      <vt:lpstr>Origem da Exception</vt:lpstr>
      <vt:lpstr>Classificação</vt:lpstr>
      <vt:lpstr>Classificação</vt:lpstr>
      <vt:lpstr>Hierarquia</vt:lpstr>
      <vt:lpstr>Hierarquia</vt:lpstr>
      <vt:lpstr>Exemplo</vt:lpstr>
      <vt:lpstr>Implementação</vt:lpstr>
      <vt:lpstr>Implementação</vt:lpstr>
      <vt:lpstr>Implementação</vt:lpstr>
      <vt:lpstr>Implementação</vt:lpstr>
      <vt:lpstr>Apresentação do PowerPoint</vt:lpstr>
      <vt:lpstr>Apresentação do PowerPoint</vt:lpstr>
      <vt:lpstr>Apresentação do PowerPoint</vt:lpstr>
      <vt:lpstr>Propagação entre métodos</vt:lpstr>
      <vt:lpstr>Propagação entre métodos</vt:lpstr>
      <vt:lpstr>Lançando Exceções: throw e throws</vt:lpstr>
      <vt:lpstr>AutoCloseable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41</cp:revision>
  <dcterms:created xsi:type="dcterms:W3CDTF">2026-05-09T23:28:48Z</dcterms:created>
  <dcterms:modified xsi:type="dcterms:W3CDTF">2026-05-11T19:33:07Z</dcterms:modified>
</cp:coreProperties>
</file>