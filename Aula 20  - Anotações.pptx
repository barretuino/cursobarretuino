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6" r:id="rId2"/>
    <p:sldId id="257" r:id="rId3"/>
    <p:sldId id="671" r:id="rId4"/>
    <p:sldId id="678" r:id="rId5"/>
    <p:sldId id="681" r:id="rId6"/>
    <p:sldId id="679" r:id="rId7"/>
    <p:sldId id="680" r:id="rId8"/>
    <p:sldId id="682" r:id="rId9"/>
    <p:sldId id="683" r:id="rId10"/>
    <p:sldId id="684" r:id="rId11"/>
    <p:sldId id="685" r:id="rId12"/>
    <p:sldId id="686" r:id="rId13"/>
    <p:sldId id="687" r:id="rId14"/>
    <p:sldId id="688" r:id="rId15"/>
    <p:sldId id="689" r:id="rId16"/>
    <p:sldId id="690" r:id="rId17"/>
    <p:sldId id="691" r:id="rId18"/>
    <p:sldId id="692" r:id="rId19"/>
    <p:sldId id="667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E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DAC97C-5B33-4781-812F-662DF630EBCD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3341F5-7495-47E1-9545-033FF0448FE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9320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F008EC-A2CA-6E81-D65E-A17B1918C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E59B94C-9892-7648-FE68-42E8D619C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4F6EBB6-F824-017D-126C-5432FC40B5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BE95D42-8751-1830-6EE5-9F656D10D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63404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C7235-08C6-8602-B37B-311E83BBBF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F943C4-5A78-91DA-8E73-F89A4A3622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9EFC236-521F-45CD-2608-42B91D9486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F77CFBF-FFBF-A8ED-C6E8-34F252029A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643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09E66-3508-1F68-D1C9-923209683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FA9333-FC44-7857-09AE-231BF9F4DB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E522238-D22D-9FA4-B6BD-0E66B17964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DF3A4BE-A8C4-0333-96A7-36FE453551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90029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8E908-C570-6479-CA87-D55BCB92E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CF6E852-3F28-C80C-1E4D-84534CC955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FB1CC93-C028-FA44-13B2-123DB29A92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2F673A-B026-AFC5-D7F4-E47C7D27CF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31627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2E4DE-51DC-50B0-DC5B-06D9DFA329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6236968-4E26-3CBF-89F5-A210469A9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38744B2D-F52B-D6AD-E6CD-A13DFE21D3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37DA2A6-BA91-1214-0801-84459E9710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0059719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6FD06-7349-8F81-461F-A23BDC081C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897779C-7CFF-C78A-7C6C-67E8DA5AE3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555A3A-CC57-B33D-B933-1455B3BCD2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70F64FF-DECE-425A-FA8F-11DDAF0653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02208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E69AF-B3AB-940A-3D93-94D166C2E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29B39FF-FCD0-E414-6D57-DE4793A275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D76557B1-4F09-87E1-4B41-B2BA29004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E4F12DA-EE38-0FEB-3D18-901C6137A6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32049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3F8E0-DD85-C40E-4901-6FC5296D1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B988094-259C-7065-215D-CCD9C1FFE10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E8EAE472-ADB8-3EE6-225C-067DC05E5C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F140A5D-A6D2-D0CD-884C-BEC9A77152F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3158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F6D24-DDCA-F1D1-3C4F-8D7110F7B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70E9F64-26FD-51D8-7231-53B7392188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F5F47437-7BE7-83A1-04F0-24F2BB20577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07E30CA-6EFA-6B66-E422-7A95E384D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761820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BDCE7F-A53E-9FA1-9A71-FE7ECCEE7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B766D92-0D39-3F62-8B0C-3760E2A349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B90CD23-5BE2-7747-6183-3C66125408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C78196F-6778-941F-4268-D89D05EE4E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62359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BED90-6FC2-C578-A1BE-0BD02305D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3DB79CE-1F8E-0B22-A51F-4F0821D866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7924F89A-3346-829B-7E78-A602911DA8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6F3745E-50DA-A14B-6FE8-4C4E26EBDF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72452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D44A9A-0BB2-8904-D170-93982CDC0A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70E3101-90D0-4B55-031D-AACB86FBCA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16B56CD-354F-29A2-DDF9-3888FB0991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0B863D-0284-4486-ECFA-EBCE88C818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28138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12940-4649-F388-7525-CD260274F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3CC2D9BD-2848-426D-B901-E9383436E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0565EB-4036-F67F-CFFE-B0679BB33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B7013B-BB22-7861-1B1C-87711FD832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58969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2CE89-DA09-3542-FA36-4200DB96BE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913E860E-97CA-580D-DAC4-53465BA8B9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104F9C4F-2372-728A-38EA-4211F6D5B4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19B4341-2624-6FDB-99E5-3C78B7F226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019939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133E2-4CED-F8C5-ECAC-27EF31A60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1EAD480-B8BA-36B2-345E-2FB9653DB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6B9EAA2-00A9-C66E-A1CC-1AA15A0ADA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DAA93BD-5B96-FC0D-21AA-8FEAF4EE09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8115829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4D180-1A7A-482B-702B-D2EC66062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478053D1-F41C-E68F-E8F1-8A50985A24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01E1377-DE9A-EB4A-68D3-B5F9847067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733C3B0-4F03-9DB2-5F80-98BE14D73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33341F5-7495-47E1-9545-033FF0448FE6}" type="slidenum">
              <a:rPr lang="pt-BR" smtClean="0"/>
              <a:t>18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99457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87673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3860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3244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22506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31882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7127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28523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13304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470238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04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79301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9080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1487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07635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293561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19106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022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9E3A743-186D-4F77-9612-BE4CFC269A59}" type="datetimeFigureOut">
              <a:rPr lang="pt-BR" smtClean="0"/>
              <a:t>17/05/2026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23625-AA79-47DD-A761-5E1EF1FFB7B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971581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7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C9B53827-0705-E714-6193-8D30E15280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12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91B28F63-CF00-448F-B141-FE33C33B18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AE609E2-8522-44E4-9077-980E5BCF3E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3" name="Oval 12">
            <a:extLst>
              <a:ext uri="{FF2B5EF4-FFF2-40B4-BE49-F238E27FC236}">
                <a16:creationId xmlns:a16="http://schemas.microsoft.com/office/drawing/2014/main" id="{4FA533C5-33E3-4611-AF9F-72811D8B26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8949AD42-25FD-4C3D-9EEE-B7FEC58099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AC7D913-60B7-4603-881B-831DA5D3A9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87F0FDC4-AD8C-47D9-9131-623C98ADB0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6A222EB-A81E-4238-B08D-AAB1828C8E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014676C-074B-475A-8346-9C901C86C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79C4C8E-197B-4679-AE96-B5147F971C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56687" y="1930986"/>
            <a:ext cx="0" cy="3200400"/>
          </a:xfrm>
          <a:prstGeom prst="line">
            <a:avLst/>
          </a:prstGeom>
          <a:ln w="15875" cap="sq">
            <a:solidFill>
              <a:schemeClr val="tx2">
                <a:alpha val="7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CaixaDeTexto 3">
            <a:extLst>
              <a:ext uri="{FF2B5EF4-FFF2-40B4-BE49-F238E27FC236}">
                <a16:creationId xmlns:a16="http://schemas.microsoft.com/office/drawing/2014/main" id="{A2F8BC53-1D92-2AFC-631B-5986D255097B}"/>
              </a:ext>
            </a:extLst>
          </p:cNvPr>
          <p:cNvSpPr txBox="1"/>
          <p:nvPr/>
        </p:nvSpPr>
        <p:spPr>
          <a:xfrm>
            <a:off x="4751690" y="1266958"/>
            <a:ext cx="7458645" cy="45284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Bef>
                <a:spcPct val="0"/>
              </a:spcBef>
              <a:spcAft>
                <a:spcPts val="600"/>
              </a:spcAft>
            </a:pPr>
            <a:r>
              <a:rPr lang="pt-BR" sz="7200" b="0" i="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Anotações</a:t>
            </a:r>
            <a:endParaRPr lang="en-US" sz="7200" b="0" i="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2" name="Imagem 1" descr="Java - ícones de logotipo grátis">
            <a:extLst>
              <a:ext uri="{FF2B5EF4-FFF2-40B4-BE49-F238E27FC236}">
                <a16:creationId xmlns:a16="http://schemas.microsoft.com/office/drawing/2014/main" id="{73B0CD15-B44E-4315-4DF4-F7B46587D1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5004" y="1691120"/>
            <a:ext cx="3566680" cy="356668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3CE62C90-F960-52A5-4225-9D5977F813E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1910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A19DDD-562E-3997-3C2D-BD1F1ED8D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B98A5C-1F41-1601-A688-09661161F5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C3B683D1-05DC-45CF-B10E-AAB9A8AD1D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FB52FA7C-9DFD-92C4-19A8-4AB6332A7313}"/>
              </a:ext>
            </a:extLst>
          </p:cNvPr>
          <p:cNvSpPr txBox="1"/>
          <p:nvPr/>
        </p:nvSpPr>
        <p:spPr>
          <a:xfrm>
            <a:off x="646109" y="1330381"/>
            <a:ext cx="1054299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800" dirty="0"/>
              <a:t>Anotações foram introduzidas na linguagem Java no Java 5. As anotações servem como informações adicionais embutidas no código que auxiliam o compilador Java a identificar elementos específicos de uma aplicação. 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5585569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4EB90-3849-32A7-30C8-7F3630383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E9BD3E-1905-7ED9-ACA3-0A561FE66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29B4C1-3351-512E-2F4C-90AC8684C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FEEC43B-A202-D1DA-2CB2-10AB55C64D2B}"/>
              </a:ext>
            </a:extLst>
          </p:cNvPr>
          <p:cNvSpPr txBox="1"/>
          <p:nvPr/>
        </p:nvSpPr>
        <p:spPr>
          <a:xfrm>
            <a:off x="646109" y="1330381"/>
            <a:ext cx="10729814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800" dirty="0"/>
              <a:t>Uma das anotações iniciais encontradas por indivíduos ao aprender Java é </a:t>
            </a:r>
            <a:r>
              <a:rPr lang="pt-BR" sz="2800" b="1" dirty="0"/>
              <a:t>@Substituição</a:t>
            </a:r>
            <a:r>
              <a:rPr lang="pt-BR" sz="2800" dirty="0"/>
              <a:t>. Essa anotação é tipicamente aplicada a métodos dentro de uma classe filha para indicar a intenção de modificar o comportamento herdado da classe pai. </a:t>
            </a:r>
          </a:p>
          <a:p>
            <a:pPr algn="just" fontAlgn="base">
              <a:buNone/>
            </a:pPr>
            <a:r>
              <a:rPr lang="pt-BR" sz="2800" b="1" dirty="0"/>
              <a:t>Definição</a:t>
            </a:r>
          </a:p>
          <a:p>
            <a:pPr algn="just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800" dirty="0"/>
              <a:t>Uma Anotação é definida com o @palavra-chave da interface.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11840933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8E51BB-7A22-4667-2B79-3B2D2255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648766-E38B-7A3F-1F23-0CDAFD4997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03FDC4E-9622-22AD-DE08-4D3009713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12" name="CaixaDeTexto 11">
            <a:extLst>
              <a:ext uri="{FF2B5EF4-FFF2-40B4-BE49-F238E27FC236}">
                <a16:creationId xmlns:a16="http://schemas.microsoft.com/office/drawing/2014/main" id="{D84F0986-C5DC-186E-0959-A4D2B2B54F3E}"/>
              </a:ext>
            </a:extLst>
          </p:cNvPr>
          <p:cNvSpPr txBox="1"/>
          <p:nvPr/>
        </p:nvSpPr>
        <p:spPr>
          <a:xfrm>
            <a:off x="646109" y="1330381"/>
            <a:ext cx="1072981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fontAlgn="base">
              <a:spcBef>
                <a:spcPts val="1200"/>
              </a:spcBef>
              <a:spcAft>
                <a:spcPts val="1200"/>
              </a:spcAft>
              <a:buNone/>
            </a:pPr>
            <a:r>
              <a:rPr lang="pt-BR" sz="2800" dirty="0"/>
              <a:t>Elas não alteram diretamente a execução do código compilado, mas servem para dar instruções ao compilador, ferramentas de desenvolvimento ou para serem lidas em tempo de execução.</a:t>
            </a:r>
            <a:endParaRPr lang="pt-BR" altLang="pt-BR" sz="2800" dirty="0"/>
          </a:p>
        </p:txBody>
      </p:sp>
    </p:spTree>
    <p:extLst>
      <p:ext uri="{BB962C8B-B14F-4D97-AF65-F5344CB8AC3E}">
        <p14:creationId xmlns:p14="http://schemas.microsoft.com/office/powerpoint/2010/main" val="3321318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67D61-EFE4-19C7-DA31-5878F158F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D2448B-884E-EAD0-EE91-B7CB8D214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DE9C241-55C0-D261-1BA8-2ED0AC73F3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FF5F2832-6F92-E59D-EA83-284179CD60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019" y="2771955"/>
            <a:ext cx="7799543" cy="3633327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C9CE2E0-8C61-463A-2815-AD23B834EDF2}"/>
              </a:ext>
            </a:extLst>
          </p:cNvPr>
          <p:cNvSpPr txBox="1"/>
          <p:nvPr/>
        </p:nvSpPr>
        <p:spPr>
          <a:xfrm>
            <a:off x="521109" y="1152983"/>
            <a:ext cx="1054299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Uma anotação é como uma </a:t>
            </a:r>
            <a:r>
              <a:rPr lang="pt-BR" sz="2800" b="1" dirty="0"/>
              <a:t>etiqueta (</a:t>
            </a:r>
            <a:r>
              <a:rPr lang="pt-BR" sz="2800" b="1" dirty="0" err="1"/>
              <a:t>tag</a:t>
            </a:r>
            <a:r>
              <a:rPr lang="pt-BR" sz="2800" b="1" dirty="0"/>
              <a:t>)</a:t>
            </a:r>
            <a:r>
              <a:rPr lang="pt-BR" sz="2800" dirty="0"/>
              <a:t> colada em uma caixa. A etiqueta diz o que tem dentro ou como manusear a caixa, mas não muda o objeto dentro dela.</a:t>
            </a:r>
          </a:p>
        </p:txBody>
      </p:sp>
    </p:spTree>
    <p:extLst>
      <p:ext uri="{BB962C8B-B14F-4D97-AF65-F5344CB8AC3E}">
        <p14:creationId xmlns:p14="http://schemas.microsoft.com/office/powerpoint/2010/main" val="4231912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6C0C68-0BF1-6D56-A4A4-94E966F87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449B33-D6E8-8CD9-BC34-0FABD9B61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 Pré-definidas </a:t>
            </a:r>
            <a:br>
              <a:rPr lang="pt-BR" b="1" dirty="0"/>
            </a:br>
            <a:r>
              <a:rPr lang="pt-BR" sz="3600" b="1" dirty="0"/>
              <a:t>Nativas do Java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88AC5A5-A7D4-76B4-3EFC-D57297332A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5FDC517A-0B5D-8D08-45EA-A86F2EB17915}"/>
              </a:ext>
            </a:extLst>
          </p:cNvPr>
          <p:cNvSpPr txBox="1"/>
          <p:nvPr/>
        </p:nvSpPr>
        <p:spPr>
          <a:xfrm>
            <a:off x="646110" y="2009285"/>
            <a:ext cx="10542998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pt-BR" sz="2800" dirty="0"/>
              <a:t>São aquelas que o próprio compilador Java utiliza para validar o código.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400" dirty="0">
                <a:latin typeface="Courier New" panose="02070309020205020404" pitchFamily="49" charset="0"/>
              </a:rPr>
              <a:t>@Override</a:t>
            </a:r>
            <a:r>
              <a:rPr lang="pt-BR" sz="2400" dirty="0"/>
              <a:t>: Garante que um método está sobrescrevendo um método da classe pai. Se houver erro de digitação no nome do método, o compilador acusa erro.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ourier New" panose="02070309020205020404" pitchFamily="49" charset="0"/>
              </a:rPr>
              <a:t> @Deprecated</a:t>
            </a:r>
            <a:r>
              <a:rPr lang="pt-BR" sz="2400" dirty="0"/>
              <a:t>: Sinaliza que um método ou classe está obsoleto e não deve mais ser usado.</a:t>
            </a:r>
          </a:p>
          <a:p>
            <a:pPr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400" dirty="0">
                <a:latin typeface="Courier New" panose="02070309020205020404" pitchFamily="49" charset="0"/>
              </a:rPr>
              <a:t> @SuppressWarnings</a:t>
            </a:r>
            <a:r>
              <a:rPr lang="pt-BR" sz="2400" dirty="0"/>
              <a:t>: Diz ao compilador para ignorar avisos específicos (</a:t>
            </a:r>
            <a:r>
              <a:rPr lang="pt-BR" sz="2400" dirty="0" err="1"/>
              <a:t>warnings</a:t>
            </a:r>
            <a:r>
              <a:rPr lang="pt-BR" sz="2400" dirty="0"/>
              <a:t>) naquele trecho de código.</a:t>
            </a:r>
          </a:p>
        </p:txBody>
      </p:sp>
    </p:spTree>
    <p:extLst>
      <p:ext uri="{BB962C8B-B14F-4D97-AF65-F5344CB8AC3E}">
        <p14:creationId xmlns:p14="http://schemas.microsoft.com/office/powerpoint/2010/main" val="25967541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01C8A-FD07-62EB-312D-AC335DD00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CBC7E68-0C86-8D2A-9DC5-3BD36F70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 de Frameworks</a:t>
            </a:r>
            <a:br>
              <a:rPr lang="pt-BR" b="1" dirty="0"/>
            </a:br>
            <a:r>
              <a:rPr lang="pt-BR" sz="3600" b="1" dirty="0"/>
              <a:t>Exemplos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3DBDCA1-8306-BDC5-85A0-5CE2B238F1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9100A08-44C1-C8DC-A560-7D7029ED45C3}"/>
              </a:ext>
            </a:extLst>
          </p:cNvPr>
          <p:cNvSpPr txBox="1"/>
          <p:nvPr/>
        </p:nvSpPr>
        <p:spPr>
          <a:xfrm>
            <a:off x="646110" y="2009285"/>
            <a:ext cx="10542998" cy="25957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Utilizadas por ferramentas de mercado para configurar comportamentos automaticamente (configuração declarativa).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i="1" dirty="0"/>
              <a:t>Spring:</a:t>
            </a:r>
            <a:r>
              <a:rPr lang="pt-BR" sz="2800" dirty="0"/>
              <a:t> @RestController, @Autowired</a:t>
            </a:r>
          </a:p>
          <a:p>
            <a:pPr marL="914400" lvl="1" indent="-4572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800" i="1" dirty="0"/>
              <a:t>JPA/</a:t>
            </a:r>
            <a:r>
              <a:rPr lang="pt-BR" sz="2800" i="1" dirty="0" err="1"/>
              <a:t>Hibernate</a:t>
            </a:r>
            <a:r>
              <a:rPr lang="pt-BR" sz="2800" i="1" dirty="0"/>
              <a:t>:</a:t>
            </a:r>
            <a:r>
              <a:rPr lang="pt-BR" sz="2800" dirty="0"/>
              <a:t> @Entity, @Table, @Id</a:t>
            </a:r>
          </a:p>
        </p:txBody>
      </p:sp>
    </p:spTree>
    <p:extLst>
      <p:ext uri="{BB962C8B-B14F-4D97-AF65-F5344CB8AC3E}">
        <p14:creationId xmlns:p14="http://schemas.microsoft.com/office/powerpoint/2010/main" val="1743003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4FD446-D7D5-4A46-69CB-955534BAD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B35D89-4663-0A4F-7691-EAB238D321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Anotações Customizadas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7CF7591-3FDF-E5B6-230D-63716DB527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F20FAE25-8901-DE0C-6053-8D63C5078AB7}"/>
              </a:ext>
            </a:extLst>
          </p:cNvPr>
          <p:cNvSpPr txBox="1"/>
          <p:nvPr/>
        </p:nvSpPr>
        <p:spPr>
          <a:xfrm>
            <a:off x="646110" y="1606162"/>
            <a:ext cx="1054299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pt-BR" sz="2800" dirty="0"/>
              <a:t>Aquelas criadas pelo próprio desenvolvedor para atender a regras específicas do negócio ou do sistema.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33CA739-C936-9D76-588E-4431CAC08E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040" y="3132796"/>
            <a:ext cx="11043920" cy="2365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17096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B138AD-B2B6-2992-6F92-04A6850693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97F8D6-7B52-2408-2354-0D74851C9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Como Criar sua Própria Anotação </a:t>
            </a:r>
            <a:r>
              <a:rPr lang="pt-BR" sz="3600" b="1" dirty="0"/>
              <a:t>(Exemplo Prático)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3B4879C-A497-1819-ADC1-60E8561043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6D3F541-BD76-27D6-FB6A-7CB2E91CC7C3}"/>
              </a:ext>
            </a:extLst>
          </p:cNvPr>
          <p:cNvSpPr txBox="1"/>
          <p:nvPr/>
        </p:nvSpPr>
        <p:spPr>
          <a:xfrm>
            <a:off x="646109" y="1946787"/>
            <a:ext cx="10651155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Para criar uma anotação, usamos a palavra-chave </a:t>
            </a:r>
            <a:r>
              <a:rPr lang="pt-BR" sz="2800" b="1" dirty="0">
                <a:latin typeface="Courier New" panose="02070309020205020404" pitchFamily="49" charset="0"/>
              </a:rPr>
              <a:t>@interface</a:t>
            </a:r>
            <a:r>
              <a:rPr lang="pt-BR" sz="2800" dirty="0"/>
              <a:t>. Além disso, precisamos usar as </a:t>
            </a:r>
            <a:r>
              <a:rPr lang="pt-BR" sz="2800" b="1" dirty="0"/>
              <a:t>Meta-anotações</a:t>
            </a:r>
            <a:r>
              <a:rPr lang="pt-BR" sz="2800" dirty="0"/>
              <a:t> (anotações que anotam outras anotações) para definir como ela vai se comportar.</a:t>
            </a:r>
          </a:p>
          <a:p>
            <a:pPr algn="just">
              <a:spcBef>
                <a:spcPts val="1200"/>
              </a:spcBef>
              <a:buNone/>
            </a:pPr>
            <a:r>
              <a:rPr lang="pt-BR" sz="2800" dirty="0"/>
              <a:t>Imagine que estamos criando um validador para um sistema de banco de dados personalizado. Queremos etiquetar quais campos da nossa classe representam uma coluna na tabela.</a:t>
            </a:r>
          </a:p>
        </p:txBody>
      </p:sp>
    </p:spTree>
    <p:extLst>
      <p:ext uri="{BB962C8B-B14F-4D97-AF65-F5344CB8AC3E}">
        <p14:creationId xmlns:p14="http://schemas.microsoft.com/office/powerpoint/2010/main" val="29106635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D600CB-E2B7-A69B-F60C-DBBA2F207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15319C-786B-8344-DE11-E1FB4A7AE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Como Criar sua Própria Anotação </a:t>
            </a:r>
            <a:r>
              <a:rPr lang="pt-BR" sz="3600" b="1" dirty="0"/>
              <a:t>(Exemplo Prático)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0EBECA42-3081-DDA2-59F5-42DA088425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E46D67E4-DD26-2B52-6344-A987063BD5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2560" y="2008979"/>
            <a:ext cx="11545890" cy="3651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9407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0586CF-8432-78A8-A541-384171CA1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6F9F71-44FB-D3ED-D4C8-195EE62E5F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Como Criar sua Própria Anotação </a:t>
            </a:r>
            <a:r>
              <a:rPr lang="pt-BR" sz="3600" b="1" dirty="0"/>
              <a:t>(Exemplo Prático)</a:t>
            </a:r>
            <a:endParaRPr lang="pt-BR" b="1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BDBD9A7-0103-FAC0-D69C-E072878AE6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11693AA7-8757-5B6A-5C57-D14F3B076DDE}"/>
              </a:ext>
            </a:extLst>
          </p:cNvPr>
          <p:cNvSpPr txBox="1"/>
          <p:nvPr/>
        </p:nvSpPr>
        <p:spPr>
          <a:xfrm>
            <a:off x="747251" y="2033791"/>
            <a:ext cx="104418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/>
              <a:t>Aplicando a Anotação Customizada em uma Classe: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9C4316BB-3BFC-32F1-DCBC-E340CD88A1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550" y="2768354"/>
            <a:ext cx="11545890" cy="2849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3515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FCEC0-F346-FFC2-FCF0-05387F453A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9124494-8100-7B57-5083-002D038E48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Como Processar a Anotação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88DB755-5700-1D54-E76D-950F0ED2DF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0901F151-60B3-BCDF-E3C7-4DF268FF43CD}"/>
              </a:ext>
            </a:extLst>
          </p:cNvPr>
          <p:cNvSpPr txBox="1"/>
          <p:nvPr/>
        </p:nvSpPr>
        <p:spPr>
          <a:xfrm>
            <a:off x="786581" y="1425677"/>
            <a:ext cx="10402528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dirty="0"/>
              <a:t>A anotação sozinha no código não faz nada. Precisamos de um "processador" que leia essas etiquetas. É aqui que entra a </a:t>
            </a:r>
            <a:r>
              <a:rPr lang="pt-BR" sz="2800" b="1" dirty="0" err="1"/>
              <a:t>Reflection</a:t>
            </a:r>
            <a:r>
              <a:rPr lang="pt-BR" sz="2800" b="1" dirty="0"/>
              <a:t> API</a:t>
            </a:r>
            <a:r>
              <a:rPr lang="pt-BR" sz="2800" dirty="0"/>
              <a:t> do Java.</a:t>
            </a:r>
          </a:p>
        </p:txBody>
      </p:sp>
    </p:spTree>
    <p:extLst>
      <p:ext uri="{BB962C8B-B14F-4D97-AF65-F5344CB8AC3E}">
        <p14:creationId xmlns:p14="http://schemas.microsoft.com/office/powerpoint/2010/main" val="12620480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466717-287A-646F-C756-C17D13230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F8D8C2-062B-CA4D-D7FA-F6D06C37A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Como Processar a Anotação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0FFA7C8-B047-F5D6-B321-C6A414A9E99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70FBF87-CE5B-8377-E442-060014DEE7B2}"/>
              </a:ext>
            </a:extLst>
          </p:cNvPr>
          <p:cNvSpPr txBox="1"/>
          <p:nvPr/>
        </p:nvSpPr>
        <p:spPr>
          <a:xfrm>
            <a:off x="786581" y="1425677"/>
            <a:ext cx="10402528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pt-BR" sz="2800" dirty="0"/>
              <a:t>Um gerador automático de comandos SQL baseado nas nossas anotações: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B163D0D-A8EC-7266-B80B-265AB3DF12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503"/>
          <a:stretch>
            <a:fillRect/>
          </a:stretch>
        </p:blipFill>
        <p:spPr>
          <a:xfrm>
            <a:off x="1005840" y="2461054"/>
            <a:ext cx="6356570" cy="429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06696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B3F92-E124-713D-5536-A61C44CF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AA18F6-D01D-228E-3FCD-694A403B8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Retenção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E3610CC-665A-7D20-C4D4-29528793F9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A307743-DD79-42A7-CFC9-5C771C07B43A}"/>
              </a:ext>
            </a:extLst>
          </p:cNvPr>
          <p:cNvSpPr txBox="1"/>
          <p:nvPr/>
        </p:nvSpPr>
        <p:spPr>
          <a:xfrm>
            <a:off x="646109" y="1378079"/>
            <a:ext cx="10542999" cy="44319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buNone/>
            </a:pPr>
            <a:r>
              <a:rPr lang="pt-BR" sz="2800" b="1" dirty="0"/>
              <a:t>Políticas de Retenção (</a:t>
            </a:r>
            <a:r>
              <a:rPr lang="pt-BR" sz="2800" b="1" dirty="0">
                <a:latin typeface="Courier New" panose="02070309020205020404" pitchFamily="49" charset="0"/>
              </a:rPr>
              <a:t>@Retention</a:t>
            </a:r>
            <a:r>
              <a:rPr lang="pt-BR" sz="2800" b="1" dirty="0"/>
              <a:t>):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latin typeface="Courier New" panose="02070309020205020404" pitchFamily="49" charset="0"/>
              </a:rPr>
              <a:t>RetentionPolicy.SOURCE</a:t>
            </a:r>
            <a:r>
              <a:rPr lang="pt-BR" sz="2800" dirty="0"/>
              <a:t>: A anotação é descartada pelo compilador (</a:t>
            </a:r>
            <a:r>
              <a:rPr lang="pt-BR" sz="2800" dirty="0" err="1"/>
              <a:t>ex</a:t>
            </a:r>
            <a:r>
              <a:rPr lang="pt-BR" sz="2800" dirty="0"/>
              <a:t>: </a:t>
            </a:r>
            <a:r>
              <a:rPr lang="pt-BR" sz="2800" dirty="0">
                <a:latin typeface="Courier New" panose="02070309020205020404" pitchFamily="49" charset="0"/>
              </a:rPr>
              <a:t>@Override</a:t>
            </a:r>
            <a:r>
              <a:rPr lang="pt-BR" sz="2800" dirty="0"/>
              <a:t>). Não vai para o arquivo </a:t>
            </a:r>
            <a:r>
              <a:rPr lang="pt-BR" sz="2800" dirty="0">
                <a:latin typeface="Courier New" panose="02070309020205020404" pitchFamily="49" charset="0"/>
              </a:rPr>
              <a:t>.class</a:t>
            </a:r>
            <a:r>
              <a:rPr lang="pt-BR" sz="2800" dirty="0"/>
              <a:t>.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latin typeface="Courier New" panose="02070309020205020404" pitchFamily="49" charset="0"/>
              </a:rPr>
              <a:t>RetentionPolicy.CLASS</a:t>
            </a:r>
            <a:r>
              <a:rPr lang="pt-BR" sz="2800" dirty="0"/>
              <a:t>: Gravada no arquivo </a:t>
            </a:r>
            <a:r>
              <a:rPr lang="pt-BR" sz="2800" dirty="0">
                <a:latin typeface="Courier New" panose="02070309020205020404" pitchFamily="49" charset="0"/>
              </a:rPr>
              <a:t>.</a:t>
            </a:r>
            <a:r>
              <a:rPr lang="pt-BR" sz="2800" dirty="0" err="1">
                <a:latin typeface="Courier New" panose="02070309020205020404" pitchFamily="49" charset="0"/>
              </a:rPr>
              <a:t>class</a:t>
            </a:r>
            <a:r>
              <a:rPr lang="pt-BR" sz="2800" dirty="0"/>
              <a:t>, mas a JVM descarta na execução. É o padrão.</a:t>
            </a:r>
          </a:p>
          <a:p>
            <a:pPr lvl="1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>
                <a:latin typeface="Courier New" panose="02070309020205020404" pitchFamily="49" charset="0"/>
              </a:rPr>
              <a:t> </a:t>
            </a:r>
            <a:r>
              <a:rPr lang="pt-BR" sz="2800" dirty="0" err="1">
                <a:latin typeface="Courier New" panose="02070309020205020404" pitchFamily="49" charset="0"/>
              </a:rPr>
              <a:t>RetentionPolicy.RUNTIME</a:t>
            </a:r>
            <a:r>
              <a:rPr lang="pt-BR" sz="2800" dirty="0"/>
              <a:t>: Gravada no </a:t>
            </a:r>
            <a:r>
              <a:rPr lang="pt-BR" sz="2800" dirty="0">
                <a:latin typeface="Courier New" panose="02070309020205020404" pitchFamily="49" charset="0"/>
              </a:rPr>
              <a:t>.</a:t>
            </a:r>
            <a:r>
              <a:rPr lang="pt-BR" sz="2800" dirty="0" err="1">
                <a:latin typeface="Courier New" panose="02070309020205020404" pitchFamily="49" charset="0"/>
              </a:rPr>
              <a:t>class</a:t>
            </a:r>
            <a:r>
              <a:rPr lang="pt-BR" sz="2800" dirty="0"/>
              <a:t> e disponível para leitura em tempo de execução via </a:t>
            </a:r>
            <a:r>
              <a:rPr lang="pt-BR" sz="2800" dirty="0" err="1"/>
              <a:t>Reflection</a:t>
            </a:r>
            <a:r>
              <a:rPr lang="pt-BR" sz="2800" dirty="0"/>
              <a:t> (a mais usada em frameworks).</a:t>
            </a:r>
          </a:p>
        </p:txBody>
      </p:sp>
    </p:spTree>
    <p:extLst>
      <p:ext uri="{BB962C8B-B14F-4D97-AF65-F5344CB8AC3E}">
        <p14:creationId xmlns:p14="http://schemas.microsoft.com/office/powerpoint/2010/main" val="25900127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4233D-29C8-D45E-1ACF-A938A1C13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498D39-11AF-2223-544F-E449F5254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Elemento de Alvo (@Target)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7D334EE4-546A-3391-0A05-8D519B81A1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5C8E3A56-01CA-7413-F20A-0A90954B9312}"/>
              </a:ext>
            </a:extLst>
          </p:cNvPr>
          <p:cNvSpPr txBox="1"/>
          <p:nvPr/>
        </p:nvSpPr>
        <p:spPr>
          <a:xfrm>
            <a:off x="646109" y="1378079"/>
            <a:ext cx="10542999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1200"/>
              </a:spcBef>
            </a:pPr>
            <a:r>
              <a:rPr lang="pt-BR" sz="2800" dirty="0"/>
              <a:t>Define onde a etiqueta pode ser colada. Os principais são: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ElementType.METHOD</a:t>
            </a:r>
            <a:r>
              <a:rPr lang="pt-BR" sz="2800" dirty="0"/>
              <a:t> (Em métodos)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ElementType.FIELD</a:t>
            </a:r>
            <a:r>
              <a:rPr lang="pt-BR" sz="2800" dirty="0"/>
              <a:t> (Em atributos/variáveis de classe)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ElementType.TYPE</a:t>
            </a:r>
            <a:r>
              <a:rPr lang="pt-BR" sz="2800" dirty="0"/>
              <a:t> (Em classes ou interfaces)</a:t>
            </a:r>
          </a:p>
          <a:p>
            <a:pPr marL="742950" lvl="1" indent="-2857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dirty="0" err="1"/>
              <a:t>ElementType.PARAMETER</a:t>
            </a:r>
            <a:r>
              <a:rPr lang="pt-BR" sz="2800" dirty="0"/>
              <a:t> (Nos parâmetros de um método)</a:t>
            </a:r>
          </a:p>
        </p:txBody>
      </p:sp>
    </p:spTree>
    <p:extLst>
      <p:ext uri="{BB962C8B-B14F-4D97-AF65-F5344CB8AC3E}">
        <p14:creationId xmlns:p14="http://schemas.microsoft.com/office/powerpoint/2010/main" val="38374438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DECEE7-5CC7-AC7E-D0AC-38EB112A81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DF575D-0443-1F8F-EFAB-A1F192E01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Vantagens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1ABF6D7E-4D59-7F01-BD56-7523F6145F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0E0F107D-B2D7-ADF2-D771-1C0F29F39539}"/>
              </a:ext>
            </a:extLst>
          </p:cNvPr>
          <p:cNvSpPr txBox="1"/>
          <p:nvPr/>
        </p:nvSpPr>
        <p:spPr>
          <a:xfrm>
            <a:off x="646109" y="1378079"/>
            <a:ext cx="10542999" cy="3847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Código mais limpo (Menos XML):</a:t>
            </a:r>
            <a:r>
              <a:rPr lang="pt-BR" sz="2800" dirty="0"/>
              <a:t> Antigamente, os frameworks exigiam arquivos XML gigantescos para mapear classes. As anotações trouxeram a configuração para dentro do próprio código fonte.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Padronização:</a:t>
            </a:r>
            <a:r>
              <a:rPr lang="pt-BR" sz="2800" dirty="0"/>
              <a:t> Facilita a criação de código legível por ferramentas automáticas de documentação e análise.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Produtividade:</a:t>
            </a:r>
            <a:r>
              <a:rPr lang="pt-BR" sz="2800" dirty="0"/>
              <a:t> Reduz drasticamente o código repetitivo (</a:t>
            </a:r>
            <a:r>
              <a:rPr lang="pt-BR" sz="2800" i="1" dirty="0" err="1"/>
              <a:t>boilerplate</a:t>
            </a:r>
            <a:r>
              <a:rPr lang="pt-BR" sz="2800" dirty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787894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E4671-E3E7-D19A-6B67-21189A2C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21B637-58C2-D603-004E-715557EEDB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0" y="452718"/>
            <a:ext cx="10542999" cy="1400530"/>
          </a:xfrm>
        </p:spPr>
        <p:txBody>
          <a:bodyPr/>
          <a:lstStyle/>
          <a:p>
            <a:r>
              <a:rPr lang="pt-BR" b="1" dirty="0"/>
              <a:t>Limitações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16E3147-F2FD-1FCD-A193-D69B6F6041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873" y="6070493"/>
            <a:ext cx="3017866" cy="684465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D5F2D5C5-584B-221F-B306-3747641FC6AF}"/>
              </a:ext>
            </a:extLst>
          </p:cNvPr>
          <p:cNvSpPr txBox="1"/>
          <p:nvPr/>
        </p:nvSpPr>
        <p:spPr>
          <a:xfrm>
            <a:off x="646109" y="1378079"/>
            <a:ext cx="10542999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Esconder Regras de Negócio:</a:t>
            </a:r>
            <a:r>
              <a:rPr lang="pt-BR" sz="2800" dirty="0"/>
              <a:t> Se abusadas, as anotações criam "mágicas" no código que dificultam o entendimento do fluxo por desenvolvedores juniores.</a:t>
            </a:r>
          </a:p>
          <a:p>
            <a:pPr marL="457200" indent="-45720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Performance:</a:t>
            </a:r>
            <a:r>
              <a:rPr lang="pt-BR" sz="2800" dirty="0"/>
              <a:t> O uso excessivo de processamento via </a:t>
            </a:r>
            <a:r>
              <a:rPr lang="pt-BR" sz="2800" dirty="0" err="1"/>
              <a:t>Reflection</a:t>
            </a:r>
            <a:r>
              <a:rPr lang="pt-BR" sz="2800" dirty="0"/>
              <a:t> em tempo de execução pode causar um leve impacto no desempenho de inicialização da aplicação.</a:t>
            </a:r>
          </a:p>
          <a:p>
            <a:pPr marL="514350" indent="-514350" algn="just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pt-BR" sz="2800" b="1" dirty="0"/>
              <a:t>Acoplamento:</a:t>
            </a:r>
            <a:r>
              <a:rPr lang="pt-BR" sz="2800" dirty="0"/>
              <a:t> Se você usa anotações de um framework específico por toda a sua regra de negócio, seu código fica altamente dependente daquela ferramenta.</a:t>
            </a:r>
          </a:p>
        </p:txBody>
      </p:sp>
    </p:spTree>
    <p:extLst>
      <p:ext uri="{BB962C8B-B14F-4D97-AF65-F5344CB8AC3E}">
        <p14:creationId xmlns:p14="http://schemas.microsoft.com/office/powerpoint/2010/main" val="1940312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B3DE2-011F-EE70-C03D-1EB44B2FD0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B04BEC55-E8C4-2BAA-06FC-DFEAE74752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0500" y="0"/>
            <a:ext cx="12573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88907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Í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Í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Í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2147</TotalTime>
  <Words>728</Words>
  <Application>Microsoft Office PowerPoint</Application>
  <PresentationFormat>Widescreen</PresentationFormat>
  <Paragraphs>67</Paragraphs>
  <Slides>19</Slides>
  <Notes>16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19</vt:i4>
      </vt:variant>
    </vt:vector>
  </HeadingPairs>
  <TitlesOfParts>
    <vt:vector size="25" baseType="lpstr">
      <vt:lpstr>Aptos</vt:lpstr>
      <vt:lpstr>Arial</vt:lpstr>
      <vt:lpstr>Century Gothic</vt:lpstr>
      <vt:lpstr>Courier New</vt:lpstr>
      <vt:lpstr>Wingdings 3</vt:lpstr>
      <vt:lpstr>Íon</vt:lpstr>
      <vt:lpstr>Apresentação do PowerPoint</vt:lpstr>
      <vt:lpstr>Apresentação do PowerPoint</vt:lpstr>
      <vt:lpstr>Anotações</vt:lpstr>
      <vt:lpstr>Anotações</vt:lpstr>
      <vt:lpstr>Anotações</vt:lpstr>
      <vt:lpstr>Anotações</vt:lpstr>
      <vt:lpstr>Anotações Pré-definidas  Nativas do Java</vt:lpstr>
      <vt:lpstr>Anotações de Frameworks Exemplos</vt:lpstr>
      <vt:lpstr>Anotações Customizadas</vt:lpstr>
      <vt:lpstr>Como Criar sua Própria Anotação (Exemplo Prático)</vt:lpstr>
      <vt:lpstr>Como Criar sua Própria Anotação (Exemplo Prático)</vt:lpstr>
      <vt:lpstr>Como Criar sua Própria Anotação (Exemplo Prático)</vt:lpstr>
      <vt:lpstr>Como Processar a Anotação</vt:lpstr>
      <vt:lpstr>Como Processar a Anotação</vt:lpstr>
      <vt:lpstr>Retenção</vt:lpstr>
      <vt:lpstr>Elemento de Alvo (@Target)</vt:lpstr>
      <vt:lpstr>Vantagens</vt:lpstr>
      <vt:lpstr>Limitações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PAULO CESAR B. DA SILVA</dc:creator>
  <cp:lastModifiedBy>PAULO CESAR B. DA SILVA</cp:lastModifiedBy>
  <cp:revision>73</cp:revision>
  <dcterms:created xsi:type="dcterms:W3CDTF">2026-05-09T23:28:48Z</dcterms:created>
  <dcterms:modified xsi:type="dcterms:W3CDTF">2026-05-17T17:20:20Z</dcterms:modified>
</cp:coreProperties>
</file>