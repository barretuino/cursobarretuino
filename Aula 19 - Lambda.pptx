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671" r:id="rId4"/>
    <p:sldId id="672" r:id="rId5"/>
    <p:sldId id="673" r:id="rId6"/>
    <p:sldId id="674" r:id="rId7"/>
    <p:sldId id="675" r:id="rId8"/>
    <p:sldId id="676" r:id="rId9"/>
    <p:sldId id="677" r:id="rId10"/>
    <p:sldId id="6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08EC-A2CA-6E81-D65E-A17B1918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59B94C-9892-7648-FE68-42E8D619C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F6EBB6-F824-017D-126C-5432FC40B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E95D42-8751-1830-6EE5-9F656D10D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340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B9579-6665-0AD2-BD4B-7A4591CAF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0828A7E-C14E-681A-C4F1-DCECEB131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182111A-3B0A-ABAB-283A-CC1C589A1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ED7BF6-4EA3-48ED-1C99-6D509621A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857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4DA21-ABC8-1DBF-47AE-E2430549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8CC7610-7357-29FF-30F5-7473F96F1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BEC2BE0-FAD2-315F-A898-47AE36320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0D581E-FAFB-5204-3688-CCF54989F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89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88F6B-40DF-8323-D471-8AFF947C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90BA24A-EEB5-71D1-1CA7-4BEF52798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0B6C0BC-2439-22E8-53EF-EB6F5DDBB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5ECF76-D358-8FE4-19BA-6B8C16219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089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9AD69-D751-6D72-8A9B-816962BD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5BDA130-341C-33E3-2E12-0DA02ABA9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F7F86F-0B1F-4E82-ABDD-00E009590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6C49EB-6B88-F2C0-DF61-F815E3E17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831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A9B9-4A0E-8F27-0868-1D25F2289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4DBB95-EBC7-01FD-8117-B98857107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7DFC190-111A-D602-6137-209257214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F5174D-E987-7302-0879-5F906A402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083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EEBCD-FBE1-B49E-7A3E-4DFDF09FB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C56880-8B5D-59E2-5D9B-E151D9EFB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B5A868C-1706-4577-7291-EF12406FF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243493-D2A0-CA48-BBBA-BF6019891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49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Expressões Lambda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9DDD-562E-3997-3C2D-BD1F1ED8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98A5C-1F41-1601-A688-09661161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Expressões Lambda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3B683D1-05DC-45CF-B10E-AAB9A8AD1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52FA7C-9DFD-92C4-19A8-4AB6332A7313}"/>
              </a:ext>
            </a:extLst>
          </p:cNvPr>
          <p:cNvSpPr txBox="1"/>
          <p:nvPr/>
        </p:nvSpPr>
        <p:spPr>
          <a:xfrm>
            <a:off x="646109" y="1330381"/>
            <a:ext cx="105429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sz="2800" b="1" dirty="0"/>
              <a:t>Expressões Lambda</a:t>
            </a:r>
            <a:r>
              <a:rPr lang="pt-BR" sz="2800" dirty="0"/>
              <a:t> é um momento divisor de águas para o Java, pois marca a transição do Java "tradicional" (imperativo) para o Java moderno (funcional).</a:t>
            </a:r>
            <a:endParaRPr lang="pt-BR" altLang="pt-BR" sz="28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7A0CF56-AFCB-6CEA-3B46-92602281EA54}"/>
              </a:ext>
            </a:extLst>
          </p:cNvPr>
          <p:cNvSpPr txBox="1"/>
          <p:nvPr/>
        </p:nvSpPr>
        <p:spPr>
          <a:xfrm>
            <a:off x="646109" y="2858247"/>
            <a:ext cx="1054299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Antes do Java 8, para passar um comportamento para um método, precisávamos criar classes ou classes anônimas. A Expressão Lambda é, essencialmente, uma </a:t>
            </a:r>
            <a:r>
              <a:rPr lang="pt-BR" sz="2800" b="1" dirty="0"/>
              <a:t>função anônima</a:t>
            </a:r>
            <a:r>
              <a:rPr lang="pt-BR" sz="2800" dirty="0"/>
              <a:t> — uma função que não tem nome, não pertence a uma classe por si só e pode ser tratada como um dado (passada como parâmetro).</a:t>
            </a:r>
          </a:p>
        </p:txBody>
      </p:sp>
    </p:spTree>
    <p:extLst>
      <p:ext uri="{BB962C8B-B14F-4D97-AF65-F5344CB8AC3E}">
        <p14:creationId xmlns:p14="http://schemas.microsoft.com/office/powerpoint/2010/main" val="55855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47B3A-6A50-2431-3F2A-B548659E3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CB12C-F8BD-864A-9043-9CBF77F3D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Sintaxe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BAEE765-CDC8-7957-7DDC-6F708B203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34F3539-AEF2-AA23-AAFD-B200ADC9EC4B}"/>
              </a:ext>
            </a:extLst>
          </p:cNvPr>
          <p:cNvSpPr txBox="1"/>
          <p:nvPr/>
        </p:nvSpPr>
        <p:spPr>
          <a:xfrm>
            <a:off x="717469" y="1298894"/>
            <a:ext cx="9901370" cy="53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sintaxe de uma expressão lambda é a seguinte: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9CF79D4-40A7-7D53-59FF-5F9AA11C75EF}"/>
              </a:ext>
            </a:extLst>
          </p:cNvPr>
          <p:cNvSpPr txBox="1"/>
          <p:nvPr/>
        </p:nvSpPr>
        <p:spPr>
          <a:xfrm>
            <a:off x="1715060" y="1936361"/>
            <a:ext cx="8146696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(</a:t>
            </a:r>
            <a:r>
              <a:rPr lang="pt-BR" sz="2800" kern="100" dirty="0" err="1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parametros</a:t>
            </a:r>
            <a:r>
              <a:rPr lang="pt-BR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) -&gt; { </a:t>
            </a:r>
            <a:r>
              <a:rPr lang="pt-BR" sz="2800" kern="100" dirty="0" err="1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corpo_da_lambda</a:t>
            </a:r>
            <a:r>
              <a:rPr lang="pt-BR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DA836A0-3134-4340-EF9F-030AC3437A4D}"/>
              </a:ext>
            </a:extLst>
          </p:cNvPr>
          <p:cNvSpPr txBox="1"/>
          <p:nvPr/>
        </p:nvSpPr>
        <p:spPr>
          <a:xfrm>
            <a:off x="667402" y="2591934"/>
            <a:ext cx="10583426" cy="3508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parametros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Uma lista de parâmetros formais. Podem ser vazios, ter um único parâmetro (sem parênteses opcionais) ou múltiplos parâmetros (entre parênteses).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-&gt; (Arrow </a:t>
            </a:r>
            <a:r>
              <a:rPr lang="pt-BR" sz="2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</a:t>
            </a: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Separa os parâmetros do corpo da lambda.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corpo_da_lambda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Pode ser uma única expressão (o resultado é o valor de retorno) ou um bloco de código (com chaves {} e um </a:t>
            </a:r>
            <a:r>
              <a:rPr lang="pt-BR" sz="2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explícito, se houver um valor de retorno).</a:t>
            </a:r>
          </a:p>
        </p:txBody>
      </p:sp>
    </p:spTree>
    <p:extLst>
      <p:ext uri="{BB962C8B-B14F-4D97-AF65-F5344CB8AC3E}">
        <p14:creationId xmlns:p14="http://schemas.microsoft.com/office/powerpoint/2010/main" val="972653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FB55-459C-C73B-47C4-28D2E6C8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84151FE-AA8C-7F52-B354-88CB069A2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1F54B1E-D491-823A-08E8-71C55797B51B}"/>
              </a:ext>
            </a:extLst>
          </p:cNvPr>
          <p:cNvSpPr txBox="1"/>
          <p:nvPr/>
        </p:nvSpPr>
        <p:spPr>
          <a:xfrm>
            <a:off x="963273" y="1482524"/>
            <a:ext cx="9213924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() -&gt; </a:t>
            </a:r>
            <a:r>
              <a:rPr lang="pt-BR" sz="2800" kern="100" dirty="0" err="1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System.out.println</a:t>
            </a:r>
            <a:r>
              <a:rPr lang="pt-BR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("Olá, mundo!");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9C80A93-E1D9-4650-2CB6-F5F7485284AB}"/>
              </a:ext>
            </a:extLst>
          </p:cNvPr>
          <p:cNvSpPr txBox="1"/>
          <p:nvPr/>
        </p:nvSpPr>
        <p:spPr>
          <a:xfrm>
            <a:off x="672816" y="789852"/>
            <a:ext cx="7901492" cy="664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3600" b="1" kern="100" dirty="0">
                <a:solidFill>
                  <a:schemeClr val="tx1">
                    <a:lumMod val="9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Lambda sem parâmetros</a:t>
            </a:r>
            <a:endParaRPr lang="pt-BR" sz="3600" kern="100" dirty="0">
              <a:solidFill>
                <a:schemeClr val="tx1">
                  <a:lumMod val="9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D6BD915-DE01-7DA8-A4F9-F0CD5EBD9617}"/>
              </a:ext>
            </a:extLst>
          </p:cNvPr>
          <p:cNvSpPr txBox="1"/>
          <p:nvPr/>
        </p:nvSpPr>
        <p:spPr>
          <a:xfrm>
            <a:off x="963273" y="2925398"/>
            <a:ext cx="9213924" cy="110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// Tipo de 's' inferido pelo contexto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s -&gt; </a:t>
            </a:r>
            <a:r>
              <a:rPr lang="pt-BR" sz="2800" kern="100" dirty="0" err="1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System.out.println</a:t>
            </a:r>
            <a:r>
              <a:rPr lang="pt-BR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(s);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AD0E4F5-7212-B703-2052-F9D09D80607C}"/>
              </a:ext>
            </a:extLst>
          </p:cNvPr>
          <p:cNvSpPr txBox="1"/>
          <p:nvPr/>
        </p:nvSpPr>
        <p:spPr>
          <a:xfrm>
            <a:off x="672816" y="2277900"/>
            <a:ext cx="7901492" cy="664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3600" b="1" kern="100" dirty="0">
                <a:solidFill>
                  <a:schemeClr val="tx1">
                    <a:lumMod val="9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Lambda com parâmetros</a:t>
            </a:r>
            <a:endParaRPr lang="pt-BR" sz="3600" kern="100" dirty="0">
              <a:solidFill>
                <a:schemeClr val="tx1">
                  <a:lumMod val="9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EFC8BFC-AEC2-AD7D-1457-168816C2FE9F}"/>
              </a:ext>
            </a:extLst>
          </p:cNvPr>
          <p:cNvSpPr txBox="1"/>
          <p:nvPr/>
        </p:nvSpPr>
        <p:spPr>
          <a:xfrm>
            <a:off x="963273" y="5004272"/>
            <a:ext cx="9213924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(a, b) -&gt; a + b;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B709D3-7A4E-3F47-409B-785F5284D5E7}"/>
              </a:ext>
            </a:extLst>
          </p:cNvPr>
          <p:cNvSpPr txBox="1"/>
          <p:nvPr/>
        </p:nvSpPr>
        <p:spPr>
          <a:xfrm>
            <a:off x="672816" y="4356774"/>
            <a:ext cx="7901492" cy="664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3600" b="1" kern="100" dirty="0">
                <a:solidFill>
                  <a:schemeClr val="tx1">
                    <a:lumMod val="9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Lambda com múltiplos parâmetros</a:t>
            </a:r>
            <a:endParaRPr lang="pt-BR" sz="3600" kern="100" dirty="0">
              <a:solidFill>
                <a:schemeClr val="tx1">
                  <a:lumMod val="9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82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2C67-ADCF-EF34-F2A3-D65421D8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45B36-6488-931B-71D3-1A291AB5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Sintaxe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A998E9-1123-8D73-720C-B0F8E854B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196DC40-4D9D-50C7-25F8-60EEB23540A3}"/>
              </a:ext>
            </a:extLst>
          </p:cNvPr>
          <p:cNvSpPr txBox="1"/>
          <p:nvPr/>
        </p:nvSpPr>
        <p:spPr>
          <a:xfrm>
            <a:off x="1576519" y="2868185"/>
            <a:ext cx="6338449" cy="223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(x, y) -&gt; 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    </a:t>
            </a:r>
            <a:r>
              <a:rPr lang="es-ES" sz="2800" kern="100" dirty="0" err="1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int</a:t>
            </a:r>
            <a:r>
              <a:rPr lang="es-ES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 soma = x + y;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    </a:t>
            </a:r>
            <a:r>
              <a:rPr lang="es-ES" sz="2800" kern="100" dirty="0" err="1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return</a:t>
            </a:r>
            <a:r>
              <a:rPr lang="es-ES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 soma * 2;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kern="100" dirty="0">
                <a:solidFill>
                  <a:schemeClr val="tx1">
                    <a:lumMod val="95000"/>
                  </a:schemeClr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6D4F18E-97C8-3DDD-E361-73379203569E}"/>
              </a:ext>
            </a:extLst>
          </p:cNvPr>
          <p:cNvSpPr txBox="1"/>
          <p:nvPr/>
        </p:nvSpPr>
        <p:spPr>
          <a:xfrm>
            <a:off x="887566" y="1297490"/>
            <a:ext cx="991137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kern="100" dirty="0">
                <a:solidFill>
                  <a:schemeClr val="tx1">
                    <a:lumMod val="9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Lambda com corpo de bloco</a:t>
            </a:r>
          </a:p>
          <a:p>
            <a:r>
              <a:rPr lang="pt-BR" sz="3200" kern="100" dirty="0">
                <a:solidFill>
                  <a:schemeClr val="tx1">
                    <a:lumMod val="9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(múltiplas linhas ou lógica mais complexa)</a:t>
            </a:r>
          </a:p>
        </p:txBody>
      </p:sp>
    </p:spTree>
    <p:extLst>
      <p:ext uri="{BB962C8B-B14F-4D97-AF65-F5344CB8AC3E}">
        <p14:creationId xmlns:p14="http://schemas.microsoft.com/office/powerpoint/2010/main" val="1587361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9223-4228-38A5-EF9D-98C6CD121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B07BF-9381-A8EE-4817-3D207008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sz="4000" b="1" dirty="0"/>
              <a:t>Evolução: do modo antigo para Lambda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296D1E6-4BA2-D72D-73DF-4A90B1ACC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2A22BFC-344A-42B2-B5F9-B3CF7590A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262" y="1757475"/>
            <a:ext cx="6928258" cy="217172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56443F1-E88E-0168-E7DB-EF58A1CC1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022" y="4572128"/>
            <a:ext cx="8023225" cy="86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3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5818D-1675-9109-5D4D-C130FA7F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4F565-2E64-3F15-FC69-587CDAB6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sz="4000" b="1" dirty="0"/>
              <a:t>Vantagens (Por que usar?)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EC1707-A240-21E7-F8E5-BC2B823A3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524C71D-7719-0D38-2C08-B7DCD26E2E16}"/>
              </a:ext>
            </a:extLst>
          </p:cNvPr>
          <p:cNvSpPr txBox="1"/>
          <p:nvPr/>
        </p:nvSpPr>
        <p:spPr>
          <a:xfrm>
            <a:off x="747251" y="1651819"/>
            <a:ext cx="10353367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Concisão:</a:t>
            </a:r>
            <a:r>
              <a:rPr lang="pt-BR" sz="2800" dirty="0"/>
              <a:t> Reduz drasticamente o código "</a:t>
            </a:r>
            <a:r>
              <a:rPr lang="pt-BR" sz="2800" dirty="0" err="1"/>
              <a:t>boilerplate</a:t>
            </a:r>
            <a:r>
              <a:rPr lang="pt-BR" sz="2800" dirty="0"/>
              <a:t>" (repetitivo).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Leitura:</a:t>
            </a:r>
            <a:r>
              <a:rPr lang="pt-BR" sz="2800" dirty="0"/>
              <a:t> O foco passa a ser </a:t>
            </a:r>
            <a:r>
              <a:rPr lang="pt-BR" sz="2800" i="1" dirty="0"/>
              <a:t>o que</a:t>
            </a:r>
            <a:r>
              <a:rPr lang="pt-BR" sz="2800" dirty="0"/>
              <a:t> o código faz, e não </a:t>
            </a:r>
            <a:r>
              <a:rPr lang="pt-BR" sz="2800" i="1" dirty="0"/>
              <a:t>como</a:t>
            </a:r>
            <a:r>
              <a:rPr lang="pt-BR" sz="2800" dirty="0"/>
              <a:t> ele é construído.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Paralelismo:</a:t>
            </a:r>
            <a:r>
              <a:rPr lang="pt-BR" sz="2800" dirty="0"/>
              <a:t> Facilita muito o uso de </a:t>
            </a:r>
            <a:r>
              <a:rPr lang="pt-BR" sz="2800" i="1" dirty="0" err="1"/>
              <a:t>Streams</a:t>
            </a:r>
            <a:r>
              <a:rPr lang="pt-BR" sz="2800" i="1" dirty="0"/>
              <a:t> API</a:t>
            </a:r>
            <a:r>
              <a:rPr lang="pt-BR" sz="2800" dirty="0"/>
              <a:t> para processar dados em paralelo.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Passagem de Comportamento:</a:t>
            </a:r>
            <a:r>
              <a:rPr lang="pt-BR" sz="2800" dirty="0"/>
              <a:t> Permite passar lógica de negócio como se fosse um objeto comum.</a:t>
            </a:r>
          </a:p>
        </p:txBody>
      </p:sp>
    </p:spTree>
    <p:extLst>
      <p:ext uri="{BB962C8B-B14F-4D97-AF65-F5344CB8AC3E}">
        <p14:creationId xmlns:p14="http://schemas.microsoft.com/office/powerpoint/2010/main" val="409286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0A3C3-DADC-A214-3BB1-274B2AE6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7EBFD-BE03-E485-6C89-7A5ED3D1A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sz="4000" b="1" dirty="0"/>
              <a:t>Limites e Cuidados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54EF0A-5C14-925F-D6A2-9A185487B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5F0CD5A-C7D9-2F56-142D-60AE4CC7AB00}"/>
              </a:ext>
            </a:extLst>
          </p:cNvPr>
          <p:cNvSpPr txBox="1"/>
          <p:nvPr/>
        </p:nvSpPr>
        <p:spPr>
          <a:xfrm>
            <a:off x="740925" y="1428452"/>
            <a:ext cx="1035336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Nem tudo são flores. É importante alertar os alunos sobre: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b="1" dirty="0" err="1"/>
              <a:t>Debuuging</a:t>
            </a:r>
            <a:r>
              <a:rPr lang="pt-BR" sz="2400" b="1" dirty="0"/>
              <a:t>:</a:t>
            </a:r>
            <a:r>
              <a:rPr lang="pt-BR" sz="2400" dirty="0"/>
              <a:t> Pode ser mais difícil depurar uma linha única que contém muita lógica.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b="1" dirty="0"/>
              <a:t>Recursividade:</a:t>
            </a:r>
            <a:r>
              <a:rPr lang="pt-BR" sz="2400" dirty="0"/>
              <a:t> Lambdas não suportam recursividade de forma direta.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b="1" dirty="0"/>
              <a:t>Variáveis Locais:</a:t>
            </a:r>
            <a:r>
              <a:rPr lang="pt-BR" sz="2400" dirty="0"/>
              <a:t> Uma Lambda só pode acessar variáveis locais se elas forem finais (ou efetivamente finais — que não mudam de valor após a atribuição).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b="1" dirty="0"/>
              <a:t>Complexidade:</a:t>
            </a:r>
            <a:r>
              <a:rPr lang="pt-BR" sz="2400" dirty="0"/>
              <a:t> Se o corpo da Lambda ficar muito grande (mais de 3-5 linhas), ela perde o propósito de legibilidade e deve ser transformada em um método comum.</a:t>
            </a:r>
          </a:p>
        </p:txBody>
      </p:sp>
    </p:spTree>
    <p:extLst>
      <p:ext uri="{BB962C8B-B14F-4D97-AF65-F5344CB8AC3E}">
        <p14:creationId xmlns:p14="http://schemas.microsoft.com/office/powerpoint/2010/main" val="2142837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2125</TotalTime>
  <Words>465</Words>
  <Application>Microsoft Office PowerPoint</Application>
  <PresentationFormat>Widescreen</PresentationFormat>
  <Paragraphs>43</Paragraphs>
  <Slides>10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Aptos</vt:lpstr>
      <vt:lpstr>Arial</vt:lpstr>
      <vt:lpstr>Century Gothic</vt:lpstr>
      <vt:lpstr>Courier New</vt:lpstr>
      <vt:lpstr>Symbol</vt:lpstr>
      <vt:lpstr>Wingdings 3</vt:lpstr>
      <vt:lpstr>Íon</vt:lpstr>
      <vt:lpstr>Apresentação do PowerPoint</vt:lpstr>
      <vt:lpstr>Apresentação do PowerPoint</vt:lpstr>
      <vt:lpstr>Expressões Lambda</vt:lpstr>
      <vt:lpstr>Sintaxe</vt:lpstr>
      <vt:lpstr>Apresentação do PowerPoint</vt:lpstr>
      <vt:lpstr>Sintaxe</vt:lpstr>
      <vt:lpstr>Evolução: do modo antigo para Lambda</vt:lpstr>
      <vt:lpstr>Vantagens (Por que usar?)</vt:lpstr>
      <vt:lpstr>Limites e Cuidados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70</cp:revision>
  <dcterms:created xsi:type="dcterms:W3CDTF">2026-05-09T23:28:48Z</dcterms:created>
  <dcterms:modified xsi:type="dcterms:W3CDTF">2026-05-17T16:52:10Z</dcterms:modified>
</cp:coreProperties>
</file>