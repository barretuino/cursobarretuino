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671" r:id="rId4"/>
    <p:sldId id="672" r:id="rId5"/>
    <p:sldId id="669" r:id="rId6"/>
    <p:sldId id="670" r:id="rId7"/>
    <p:sldId id="668" r:id="rId8"/>
    <p:sldId id="673" r:id="rId9"/>
    <p:sldId id="674" r:id="rId10"/>
    <p:sldId id="675" r:id="rId11"/>
    <p:sldId id="676" r:id="rId12"/>
    <p:sldId id="677" r:id="rId13"/>
    <p:sldId id="6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DAC97C-5B33-4781-812F-662DF630EBCD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3341F5-7495-47E1-9545-033FF0448F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932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008EC-A2CA-6E81-D65E-A17B1918C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E59B94C-9892-7648-FE68-42E8D619C5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4F6EBB6-F824-017D-126C-5432FC40B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BE95D42-8751-1830-6EE5-9F656D10D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6340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E8783-53D3-7B5F-09AB-B0353A311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25B4B49-D2F4-78B9-DA77-CE9D3A05B7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342D259-D233-D4F2-2C61-EBAEACC75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02F64AD-F5F7-D312-346A-5F15B6C432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8292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7048F-73FC-51AD-F3C7-63F8876D2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0D39963-A560-2B47-1DEC-81EB0FA74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7C43829-995A-2C71-BC8D-061A8F54B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B262A06-C8CF-B00F-FE86-3478E3DBF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836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38391-9FF2-BFA1-1217-525F4731C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9AB5439-3D04-A3A4-F01C-48CF174B6E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C769B02-D706-F7DE-6347-4B1F7D368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6FF46FC-F9C1-3F40-8516-E2068849AA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7647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5FBB3-537A-9B38-FB22-9A13D494E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511B35B-3665-446A-03EE-5E8E37A7F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D4498AD-0953-8F34-9A3C-83B8B964D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C2C8B71-8835-BA28-5297-6504319235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05899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C51B0-22B3-D726-35F6-1AC02A5A0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C7CB353-7429-B0B3-7AD3-0BCA176B7B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9CF4B99-6960-28B9-D7FB-B215B2E7C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2B45AA1-A42F-02E5-48BF-B92ED041A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7589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02E51-C4B7-0927-FE04-C75065AEC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F5C0B33-4470-5EB8-CB06-B98F548683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6F4FE89-5833-FA1B-C8EF-2522C3C0DE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0869108-972B-A0C9-0526-17B95C10EC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4001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68C95-14EF-1C62-87B5-14928E153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40A3239-28B6-34AD-7FA7-E1A5D5D607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21544B6-5FA3-3C92-A4D7-8AA7B98C9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F1CCF55-C78D-653D-B684-C7F46940F5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34645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E989F-5FCF-A68C-4CC4-29C492F97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A50FA6D-32D9-5755-8A10-76476976EE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1080C80-CC9F-261B-58A3-740C2A28D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B6B900F-3F7F-E785-E383-CB80F1B40A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52824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0415D-03DA-CE88-8B90-CE78586DB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A5F3D8B-3F40-00B4-8D84-08301282B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49BB63C-AC35-D267-0644-5D5C8D04A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1D69B44-F12E-5C67-1A74-43D70D88EB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031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8767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86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324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2506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3188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712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852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304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702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4004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793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7908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487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5076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356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10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02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7158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9B53827-0705-E714-6193-8D30E1528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27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A2F8BC53-1D92-2AFC-631B-5986D255097B}"/>
              </a:ext>
            </a:extLst>
          </p:cNvPr>
          <p:cNvSpPr txBox="1"/>
          <p:nvPr/>
        </p:nvSpPr>
        <p:spPr>
          <a:xfrm>
            <a:off x="4751690" y="1266958"/>
            <a:ext cx="7458645" cy="4528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pt-BR" sz="72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Manipulação de Banco de Dados Relacionais</a:t>
            </a:r>
            <a:endParaRPr lang="en-US" sz="7200" b="0" i="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m 1" descr="Java - ícones de logotipo grátis">
            <a:extLst>
              <a:ext uri="{FF2B5EF4-FFF2-40B4-BE49-F238E27FC236}">
                <a16:creationId xmlns:a16="http://schemas.microsoft.com/office/drawing/2014/main" id="{73B0CD15-B44E-4315-4DF4-F7B46587D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004" y="1691120"/>
            <a:ext cx="3566680" cy="356668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CE62C90-F960-52A5-4225-9D5977F813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10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19DDD-562E-3997-3C2D-BD1F1ED8D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B98A5C-1F41-1601-A688-09661161F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JDBC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3B683D1-05DC-45CF-B10E-AAB9A8AD1D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FB52FA7C-9DFD-92C4-19A8-4AB6332A7313}"/>
              </a:ext>
            </a:extLst>
          </p:cNvPr>
          <p:cNvSpPr txBox="1"/>
          <p:nvPr/>
        </p:nvSpPr>
        <p:spPr>
          <a:xfrm>
            <a:off x="646109" y="1330381"/>
            <a:ext cx="1054299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pt-BR" sz="2800" b="1" dirty="0"/>
              <a:t>JDBC (</a:t>
            </a:r>
            <a:r>
              <a:rPr lang="pt-BR" sz="2800" b="1" i="1" dirty="0"/>
              <a:t>Java </a:t>
            </a:r>
            <a:r>
              <a:rPr lang="pt-BR" sz="2800" b="1" i="1" dirty="0" err="1"/>
              <a:t>Database</a:t>
            </a:r>
            <a:r>
              <a:rPr lang="pt-BR" sz="2800" b="1" i="1" dirty="0"/>
              <a:t> </a:t>
            </a:r>
            <a:r>
              <a:rPr lang="pt-BR" sz="2800" b="1" i="1" dirty="0" err="1"/>
              <a:t>Connectivity</a:t>
            </a:r>
            <a:r>
              <a:rPr lang="pt-BR" sz="2800" b="1" dirty="0"/>
              <a:t>)</a:t>
            </a:r>
            <a:r>
              <a:rPr lang="pt-BR" sz="2800" dirty="0"/>
              <a:t> é uma API padrão do Java que permite a conexão com qualquer banco de dados relacional através de um conjunto de interfaces.</a:t>
            </a:r>
          </a:p>
          <a:p>
            <a:pPr marL="914400" lvl="1" indent="-4572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O Driver:</a:t>
            </a:r>
            <a:r>
              <a:rPr lang="pt-BR" sz="2800" dirty="0"/>
              <a:t> Cada banco (Oracle, MySQL, PostgreSQL) possui seu próprio "tradutor" chamado Driver. O Java fala com o Driver, e o Driver fala com o banco.</a:t>
            </a:r>
          </a:p>
          <a:p>
            <a:pPr marL="914400" lvl="1" indent="-4572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A Ponte:</a:t>
            </a:r>
            <a:r>
              <a:rPr lang="pt-BR" sz="2800" dirty="0"/>
              <a:t> O JDBC atua como uma camada de abstração. O código Java para inserir um cliente é quase idêntico, mude o banco de Oracle para MySQL.</a:t>
            </a:r>
          </a:p>
        </p:txBody>
      </p:sp>
    </p:spTree>
    <p:extLst>
      <p:ext uri="{BB962C8B-B14F-4D97-AF65-F5344CB8AC3E}">
        <p14:creationId xmlns:p14="http://schemas.microsoft.com/office/powerpoint/2010/main" val="558556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28C5E-0048-B7FE-D0EE-4844360F5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E02F-6782-10C2-DC99-E4B1AFB09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O Fluxo de Conexão (Os 5 Passos)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D381AAD-8F5D-7080-00C0-C906AF882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495EC1AE-A768-107A-4BA0-0B5A3A02FBA6}"/>
              </a:ext>
            </a:extLst>
          </p:cNvPr>
          <p:cNvSpPr txBox="1"/>
          <p:nvPr/>
        </p:nvSpPr>
        <p:spPr>
          <a:xfrm>
            <a:off x="646109" y="1330381"/>
            <a:ext cx="10542999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pt-BR" sz="2800" dirty="0"/>
              <a:t>Para realizar qualquer operação, seguimos sempre este roteiro: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pt-BR" sz="2800" b="1" dirty="0"/>
              <a:t>Carregar o Driver:</a:t>
            </a:r>
            <a:r>
              <a:rPr lang="pt-BR" sz="2800" dirty="0"/>
              <a:t> Registrar o JAR do fabricante.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pt-BR" sz="2800" b="1" dirty="0"/>
              <a:t>Estabelecer Conexão:</a:t>
            </a:r>
            <a:r>
              <a:rPr lang="pt-BR" sz="2800" dirty="0"/>
              <a:t> Abrir o canal de comunicação (URL, Usuário, Senha).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pt-BR" sz="2800" b="1" dirty="0"/>
              <a:t>Criar o </a:t>
            </a:r>
            <a:r>
              <a:rPr lang="pt-BR" sz="2800" b="1" dirty="0" err="1"/>
              <a:t>Statement</a:t>
            </a:r>
            <a:r>
              <a:rPr lang="pt-BR" sz="2800" b="1" dirty="0"/>
              <a:t>:</a:t>
            </a:r>
            <a:r>
              <a:rPr lang="pt-BR" sz="2800" dirty="0"/>
              <a:t> Preparar o comando SQL.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pt-BR" sz="2800" b="1" dirty="0"/>
              <a:t>Executar o SQL:</a:t>
            </a:r>
            <a:r>
              <a:rPr lang="pt-BR" sz="2800" dirty="0"/>
              <a:t> Enviar o comando para o servidor.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pt-BR" sz="2800" b="1" dirty="0"/>
              <a:t>Fechar Tudo:</a:t>
            </a:r>
            <a:r>
              <a:rPr lang="pt-BR" sz="2800" dirty="0"/>
              <a:t> Encerrar a conexão (vital para não estourar o limite de conexões do servidor).</a:t>
            </a:r>
          </a:p>
        </p:txBody>
      </p:sp>
    </p:spTree>
    <p:extLst>
      <p:ext uri="{BB962C8B-B14F-4D97-AF65-F5344CB8AC3E}">
        <p14:creationId xmlns:p14="http://schemas.microsoft.com/office/powerpoint/2010/main" val="1204057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9BD9E-B9FA-5E96-4689-B78F7E585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1010EC-08A9-1284-100C-3970048DC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Persistência de Dados com JDBC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70D1FC5-A8D1-33D8-A0FD-058675E9D7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4AF5DE94-437A-B84E-C13F-787CD0EFE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3368" y="1381759"/>
            <a:ext cx="4326312" cy="5226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6985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81ED1-FD15-7C2B-D9E7-12D15B8C6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843D14-A6D0-4407-2A18-E27989991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altLang="pt-BR" sz="4400" b="1" dirty="0"/>
              <a:t>SQL – </a:t>
            </a:r>
            <a:r>
              <a:rPr lang="pt-BR" altLang="pt-BR" sz="4400" b="1" i="1" dirty="0" err="1"/>
              <a:t>Structured</a:t>
            </a:r>
            <a:r>
              <a:rPr lang="pt-BR" altLang="pt-BR" sz="4400" b="1" i="1" dirty="0"/>
              <a:t> Query </a:t>
            </a:r>
            <a:r>
              <a:rPr lang="pt-BR" altLang="pt-BR" sz="4400" b="1" i="1" dirty="0" err="1"/>
              <a:t>Language</a:t>
            </a:r>
            <a:br>
              <a:rPr lang="pt-BR" altLang="pt-BR" sz="4400" b="1" dirty="0"/>
            </a:br>
            <a:r>
              <a:rPr lang="pt-BR" altLang="pt-BR" sz="3600" b="1" dirty="0"/>
              <a:t>(Linguagem de consulta estruturada)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B697E76-DA99-DDA0-DC43-883EEC8576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330F9B-C9DD-FC57-0640-0AC276DAC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600" y="1869964"/>
            <a:ext cx="8882429" cy="4884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379" tIns="49690" rIns="99379" bIns="4969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657941" indent="-657941"/>
            <a:r>
              <a:rPr lang="pt-BR" altLang="pt-BR" sz="2800" dirty="0"/>
              <a:t>Comando Básicos:</a:t>
            </a:r>
          </a:p>
          <a:p>
            <a:pPr marL="1069155" lvl="1" indent="-575699"/>
            <a:r>
              <a:rPr lang="pt-BR" altLang="pt-BR" sz="2800" dirty="0" err="1"/>
              <a:t>Create</a:t>
            </a:r>
            <a:r>
              <a:rPr lang="pt-BR" altLang="pt-BR" sz="2800" dirty="0"/>
              <a:t> </a:t>
            </a:r>
            <a:r>
              <a:rPr lang="pt-BR" altLang="pt-BR" sz="2800" dirty="0" err="1"/>
              <a:t>database</a:t>
            </a:r>
            <a:r>
              <a:rPr lang="pt-BR" altLang="pt-BR" sz="2800" dirty="0"/>
              <a:t> – Criar </a:t>
            </a:r>
            <a:r>
              <a:rPr lang="pt-BR" altLang="pt-BR" sz="2800" dirty="0" err="1"/>
              <a:t>Database</a:t>
            </a:r>
            <a:r>
              <a:rPr lang="pt-BR" altLang="pt-BR" sz="2800" dirty="0"/>
              <a:t>;</a:t>
            </a:r>
          </a:p>
          <a:p>
            <a:pPr marL="1069155" lvl="1" indent="-575699"/>
            <a:r>
              <a:rPr lang="pt-BR" altLang="pt-BR" sz="2800" dirty="0" err="1"/>
              <a:t>Create</a:t>
            </a:r>
            <a:r>
              <a:rPr lang="pt-BR" altLang="pt-BR" sz="2800" dirty="0"/>
              <a:t> </a:t>
            </a:r>
            <a:r>
              <a:rPr lang="pt-BR" altLang="pt-BR" sz="2800" dirty="0" err="1"/>
              <a:t>table</a:t>
            </a:r>
            <a:r>
              <a:rPr lang="pt-BR" altLang="pt-BR" sz="2800" dirty="0"/>
              <a:t> – Criar Tabela;</a:t>
            </a:r>
          </a:p>
          <a:p>
            <a:pPr marL="1069155" lvl="1" indent="-575699"/>
            <a:r>
              <a:rPr lang="pt-BR" altLang="pt-BR" sz="2800" dirty="0" err="1"/>
              <a:t>Select</a:t>
            </a:r>
            <a:r>
              <a:rPr lang="pt-BR" altLang="pt-BR" sz="2800" dirty="0"/>
              <a:t> – Selecionar tuplas;</a:t>
            </a:r>
          </a:p>
          <a:p>
            <a:pPr marL="1069155" lvl="1" indent="-575699"/>
            <a:r>
              <a:rPr lang="pt-BR" altLang="pt-BR" sz="2800" dirty="0"/>
              <a:t>Delete – Deletar tuplas;</a:t>
            </a:r>
          </a:p>
          <a:p>
            <a:pPr marL="1069155" lvl="1" indent="-575699"/>
            <a:r>
              <a:rPr lang="pt-BR" altLang="pt-BR" sz="2800" dirty="0"/>
              <a:t>Drop – Eliminar </a:t>
            </a:r>
            <a:r>
              <a:rPr lang="pt-BR" altLang="pt-BR" sz="2800" dirty="0" err="1"/>
              <a:t>table</a:t>
            </a:r>
            <a:r>
              <a:rPr lang="pt-BR" altLang="pt-BR" sz="2800" dirty="0"/>
              <a:t> ou </a:t>
            </a:r>
            <a:r>
              <a:rPr lang="pt-BR" altLang="pt-BR" sz="2800" dirty="0" err="1"/>
              <a:t>database</a:t>
            </a:r>
            <a:r>
              <a:rPr lang="pt-BR" altLang="pt-BR" sz="2800" dirty="0"/>
              <a:t>;</a:t>
            </a:r>
          </a:p>
          <a:p>
            <a:pPr marL="1069155" lvl="1" indent="-575699"/>
            <a:r>
              <a:rPr lang="pt-BR" altLang="pt-BR" sz="2800" dirty="0"/>
              <a:t>Alter – Alterar estrutura de </a:t>
            </a:r>
            <a:r>
              <a:rPr lang="pt-BR" altLang="pt-BR" sz="2800" dirty="0" err="1"/>
              <a:t>table</a:t>
            </a:r>
            <a:r>
              <a:rPr lang="pt-BR" altLang="pt-BR" sz="2800" dirty="0"/>
              <a:t> ou </a:t>
            </a:r>
            <a:r>
              <a:rPr lang="pt-BR" altLang="pt-BR" sz="2800" dirty="0" err="1"/>
              <a:t>dabase</a:t>
            </a:r>
            <a:r>
              <a:rPr lang="pt-BR" altLang="pt-BR" sz="2800" dirty="0"/>
              <a:t>;</a:t>
            </a:r>
          </a:p>
          <a:p>
            <a:pPr marL="1069155" lvl="1" indent="-575699"/>
            <a:r>
              <a:rPr lang="pt-BR" altLang="pt-BR" sz="2800" dirty="0"/>
              <a:t>Update – Atualizar tupla;</a:t>
            </a:r>
          </a:p>
        </p:txBody>
      </p:sp>
    </p:spTree>
    <p:extLst>
      <p:ext uri="{BB962C8B-B14F-4D97-AF65-F5344CB8AC3E}">
        <p14:creationId xmlns:p14="http://schemas.microsoft.com/office/powerpoint/2010/main" val="908133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28A66-FAB3-18A4-2BCA-4A08763C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659A0-338E-BF36-B99C-FC380D87C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Aplicação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F97F57E-5C79-1AF8-CCAB-609E981A13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3" name="Text Box 4">
            <a:extLst>
              <a:ext uri="{FF2B5EF4-FFF2-40B4-BE49-F238E27FC236}">
                <a16:creationId xmlns:a16="http://schemas.microsoft.com/office/drawing/2014/main" id="{26C8B473-B159-3A72-5B89-D8367B44D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353" y="1291904"/>
            <a:ext cx="10326866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pt-BR" altLang="pt-BR" sz="2800" b="1" dirty="0"/>
              <a:t>Criar a Base de Dados – </a:t>
            </a:r>
            <a:r>
              <a:rPr lang="pt-BR" altLang="pt-BR" sz="2800" b="1" dirty="0" err="1">
                <a:latin typeface="Courier New" panose="02070309020205020404" pitchFamily="49" charset="0"/>
              </a:rPr>
              <a:t>Table</a:t>
            </a:r>
            <a:r>
              <a:rPr lang="pt-BR" altLang="pt-BR" sz="2800" b="1" dirty="0">
                <a:latin typeface="Courier New" panose="02070309020205020404" pitchFamily="49" charset="0"/>
              </a:rPr>
              <a:t> clientes</a:t>
            </a:r>
          </a:p>
          <a:p>
            <a:pPr eaLnBrk="1" hangingPunct="1">
              <a:buFontTx/>
              <a:buAutoNum type="arabicPeriod"/>
            </a:pPr>
            <a:r>
              <a:rPr lang="pt-BR" altLang="pt-BR" sz="2800" b="1" dirty="0"/>
              <a:t>Criar a Classe de Conexão - </a:t>
            </a:r>
            <a:r>
              <a:rPr lang="pt-BR" altLang="pt-BR" sz="2800" b="1" dirty="0">
                <a:latin typeface="Courier New" panose="02070309020205020404" pitchFamily="49" charset="0"/>
              </a:rPr>
              <a:t> ConnectionFactory.java</a:t>
            </a:r>
          </a:p>
          <a:p>
            <a:pPr eaLnBrk="1" hangingPunct="1">
              <a:buFontTx/>
              <a:buAutoNum type="arabicPeriod"/>
            </a:pPr>
            <a:r>
              <a:rPr lang="pt-BR" altLang="pt-BR" sz="2800" b="1" dirty="0"/>
              <a:t>Criar a Classe de Modelagem - </a:t>
            </a:r>
            <a:r>
              <a:rPr lang="pt-BR" altLang="pt-BR" sz="2800" b="1" dirty="0">
                <a:latin typeface="Courier New" panose="02070309020205020404" pitchFamily="49" charset="0"/>
              </a:rPr>
              <a:t> Cliente.java</a:t>
            </a:r>
          </a:p>
          <a:p>
            <a:pPr eaLnBrk="1" hangingPunct="1">
              <a:buFontTx/>
              <a:buAutoNum type="arabicPeriod"/>
            </a:pPr>
            <a:r>
              <a:rPr lang="pt-BR" altLang="pt-BR" sz="2800" b="1" dirty="0"/>
              <a:t>Criar a Classe de Persistência - </a:t>
            </a:r>
            <a:r>
              <a:rPr lang="pt-BR" altLang="pt-BR" sz="2800" b="1" dirty="0">
                <a:latin typeface="Courier New" panose="02070309020205020404" pitchFamily="49" charset="0"/>
              </a:rPr>
              <a:t> ClienteDAO.java</a:t>
            </a:r>
          </a:p>
          <a:p>
            <a:pPr eaLnBrk="1" hangingPunct="1">
              <a:buFontTx/>
              <a:buAutoNum type="arabicPeriod"/>
            </a:pPr>
            <a:r>
              <a:rPr lang="pt-BR" altLang="pt-BR" sz="2800" b="1" dirty="0"/>
              <a:t>Criar a Classe de GUI - </a:t>
            </a:r>
            <a:r>
              <a:rPr lang="pt-BR" altLang="pt-BR" sz="2800" b="1" dirty="0">
                <a:latin typeface="Courier New" panose="02070309020205020404" pitchFamily="49" charset="0"/>
              </a:rPr>
              <a:t> frmCliente.java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69DE5BF4-9721-ACE2-5F54-A4387A845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050" y="3616090"/>
            <a:ext cx="7847967" cy="3138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4846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0A014-7543-7DE3-F57D-A73B6CD75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DEC548-95AC-452D-0A47-C6B37843D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sz="4000" b="1" dirty="0"/>
              <a:t>A Classe de Conexão </a:t>
            </a:r>
            <a:r>
              <a:rPr lang="pt-BR" sz="3200" b="1" dirty="0"/>
              <a:t>(Singleton/Fabrica)</a:t>
            </a:r>
            <a:endParaRPr lang="pt-BR" sz="4000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6EBDA69-8DAF-680F-B352-582BCF8F1D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BA993A65-9429-517E-2DA6-C433350D561C}"/>
              </a:ext>
            </a:extLst>
          </p:cNvPr>
          <p:cNvSpPr txBox="1"/>
          <p:nvPr/>
        </p:nvSpPr>
        <p:spPr>
          <a:xfrm>
            <a:off x="522649" y="1206916"/>
            <a:ext cx="106664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2800" dirty="0"/>
              <a:t>A ideia da "Fábrica de Conexões" é encapsular a complexidade da criação do objeto </a:t>
            </a:r>
            <a:r>
              <a:rPr lang="pt-BR" sz="2800" dirty="0">
                <a:latin typeface="Courier New" panose="02070309020205020404" pitchFamily="49" charset="0"/>
              </a:rPr>
              <a:t>Connection</a:t>
            </a:r>
            <a:r>
              <a:rPr lang="pt-BR" sz="2800" dirty="0"/>
              <a:t>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71CD19F-A004-1F17-C83E-C74355C57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251" y="2251010"/>
            <a:ext cx="10238318" cy="363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243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5851A-6250-86EB-5CA8-3837ABECC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4AAE41-6C5F-D4FA-5367-1A3003CDA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sz="4000" b="1" dirty="0"/>
              <a:t>O Padrão Singleton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4FD94C7-21FD-87C7-1731-167E786A18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322018CB-3377-7757-9220-E7176ECCC4D7}"/>
              </a:ext>
            </a:extLst>
          </p:cNvPr>
          <p:cNvSpPr txBox="1"/>
          <p:nvPr/>
        </p:nvSpPr>
        <p:spPr>
          <a:xfrm>
            <a:off x="522649" y="1206916"/>
            <a:ext cx="106664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2800" dirty="0"/>
              <a:t>Embora em aplicações JDBC puras muitas vezes criemos uma nova conexão e a fechemos em seguida, o Singleton é usado para garantir que exista apenas uma instância da "Fábrica" ou para gerenciar um </a:t>
            </a:r>
            <a:r>
              <a:rPr lang="pt-BR" sz="2800" b="1" dirty="0"/>
              <a:t>Pool de Conexões</a:t>
            </a:r>
            <a:r>
              <a:rPr lang="pt-BR" sz="2800" dirty="0"/>
              <a:t>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175C933-E1EB-0AA2-D3CE-5597F4881A29}"/>
              </a:ext>
            </a:extLst>
          </p:cNvPr>
          <p:cNvSpPr txBox="1"/>
          <p:nvPr/>
        </p:nvSpPr>
        <p:spPr>
          <a:xfrm>
            <a:off x="963561" y="3176831"/>
            <a:ext cx="10058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pt-BR" sz="2800" b="1" dirty="0"/>
              <a:t> Eficiência:</a:t>
            </a:r>
            <a:r>
              <a:rPr lang="pt-BR" sz="2800" dirty="0"/>
              <a:t> Abrir uma conexão com o banco de dados é uma operação "cara" (lenta). Manter instâncias controladas evita sobrecarregar o servidor.</a:t>
            </a:r>
          </a:p>
        </p:txBody>
      </p:sp>
    </p:spTree>
    <p:extLst>
      <p:ext uri="{BB962C8B-B14F-4D97-AF65-F5344CB8AC3E}">
        <p14:creationId xmlns:p14="http://schemas.microsoft.com/office/powerpoint/2010/main" val="3789018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9B2E1-8D3E-7D36-5606-CB62AF646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44B624-C278-E553-DAB7-0228942B1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sz="4000" b="1" dirty="0"/>
              <a:t>O Padrão DAO (</a:t>
            </a:r>
            <a:r>
              <a:rPr lang="pt-BR" sz="4000" b="1" i="1" dirty="0"/>
              <a:t>Data Access </a:t>
            </a:r>
            <a:r>
              <a:rPr lang="pt-BR" sz="4000" b="1" i="1" dirty="0" err="1"/>
              <a:t>Object</a:t>
            </a:r>
            <a:r>
              <a:rPr lang="pt-BR" sz="4000" b="1" dirty="0"/>
              <a:t>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E201258-BE12-E5DC-EDF5-E5611D8AE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EF59BF2F-6DF1-0B87-F119-09D8708DF79E}"/>
              </a:ext>
            </a:extLst>
          </p:cNvPr>
          <p:cNvSpPr txBox="1"/>
          <p:nvPr/>
        </p:nvSpPr>
        <p:spPr>
          <a:xfrm>
            <a:off x="522649" y="1206916"/>
            <a:ext cx="106664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2800" dirty="0"/>
              <a:t>Separamos a lógica de persistência do resto da aplicação.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3EE5DC5-B247-D885-58FC-DBCCBDBE2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193" y="1853248"/>
            <a:ext cx="8615680" cy="4657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20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C48C9-D68D-DF74-EA7D-5E4B47D41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DFEAD1-86D5-BA2D-9985-425B5EB5D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sz="4000" b="1" dirty="0"/>
              <a:t>Consultando Dados (</a:t>
            </a:r>
            <a:r>
              <a:rPr lang="pt-BR" sz="4000" b="1" dirty="0" err="1"/>
              <a:t>ResultSet</a:t>
            </a:r>
            <a:r>
              <a:rPr lang="pt-BR" sz="4000" b="1" dirty="0"/>
              <a:t>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4B5D046-F65D-8185-FEEB-88017ADC87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15068A06-2576-4E4F-C773-37D829CD752E}"/>
              </a:ext>
            </a:extLst>
          </p:cNvPr>
          <p:cNvSpPr txBox="1"/>
          <p:nvPr/>
        </p:nvSpPr>
        <p:spPr>
          <a:xfrm>
            <a:off x="522649" y="1206916"/>
            <a:ext cx="106664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2800" dirty="0"/>
              <a:t>Para ler dados, usamos o </a:t>
            </a:r>
            <a:r>
              <a:rPr lang="pt-BR" sz="2800" dirty="0" err="1"/>
              <a:t>executeQuery</a:t>
            </a:r>
            <a:r>
              <a:rPr lang="pt-BR" sz="2800" dirty="0"/>
              <a:t>() que nos devolve um objeto </a:t>
            </a:r>
            <a:r>
              <a:rPr lang="pt-BR" sz="2800" dirty="0" err="1"/>
              <a:t>ResultSet</a:t>
            </a:r>
            <a:r>
              <a:rPr lang="pt-BR" sz="2800" dirty="0"/>
              <a:t> (uma tabela virtual).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3A36396-5625-071A-E85A-C2AC0D3C9F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91" y="2331651"/>
            <a:ext cx="8751890" cy="356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856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25125-8138-C810-267B-330DCD4F8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849F2D-C40F-E146-2E14-502E56984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46" y="452718"/>
            <a:ext cx="10542999" cy="1400530"/>
          </a:xfrm>
        </p:spPr>
        <p:txBody>
          <a:bodyPr/>
          <a:lstStyle/>
          <a:p>
            <a:r>
              <a:rPr lang="pt-BR" sz="4000" b="1" dirty="0"/>
              <a:t>Conceitos de Segurança: SQL </a:t>
            </a:r>
            <a:r>
              <a:rPr lang="pt-BR" sz="4000" b="1" dirty="0" err="1"/>
              <a:t>Injection</a:t>
            </a:r>
            <a:endParaRPr lang="pt-BR" sz="4000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644757F-4FC3-57D6-CD3A-B956C59D88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C80C3D93-0883-C400-536D-5AC99855334C}"/>
              </a:ext>
            </a:extLst>
          </p:cNvPr>
          <p:cNvSpPr txBox="1"/>
          <p:nvPr/>
        </p:nvSpPr>
        <p:spPr>
          <a:xfrm>
            <a:off x="522649" y="1206916"/>
            <a:ext cx="1066646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buNone/>
            </a:pPr>
            <a:r>
              <a:rPr lang="pt-BR" sz="2800" b="1" dirty="0">
                <a:solidFill>
                  <a:srgbClr val="00B0F0"/>
                </a:solidFill>
              </a:rPr>
              <a:t>Assunto Crítico</a:t>
            </a:r>
            <a:r>
              <a:rPr lang="pt-BR" sz="2800" b="1" dirty="0"/>
              <a:t>:</a:t>
            </a:r>
            <a:r>
              <a:rPr lang="pt-BR" sz="2800" dirty="0"/>
              <a:t> Nunca use concatenar </a:t>
            </a:r>
            <a:r>
              <a:rPr lang="pt-BR" sz="2800" dirty="0" err="1"/>
              <a:t>strings</a:t>
            </a:r>
            <a:r>
              <a:rPr lang="pt-BR" sz="2800" dirty="0"/>
              <a:t> como: </a:t>
            </a:r>
          </a:p>
          <a:p>
            <a:pPr algn="just">
              <a:spcBef>
                <a:spcPts val="1200"/>
              </a:spcBef>
              <a:buNone/>
            </a:pPr>
            <a:r>
              <a:rPr lang="pt-BR" sz="2400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24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400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pt-BR" sz="24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"SELECT * FROM </a:t>
            </a:r>
            <a:r>
              <a:rPr lang="pt-BR" sz="2400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users</a:t>
            </a:r>
            <a:r>
              <a:rPr lang="pt-BR" sz="24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WHERE </a:t>
            </a:r>
            <a:r>
              <a:rPr lang="pt-BR" sz="2400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</a:t>
            </a:r>
            <a:r>
              <a:rPr lang="pt-BR" sz="24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 + senha;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22D3B97-880F-43C0-C271-B7F749AB8EC0}"/>
              </a:ext>
            </a:extLst>
          </p:cNvPr>
          <p:cNvSpPr txBox="1"/>
          <p:nvPr/>
        </p:nvSpPr>
        <p:spPr>
          <a:xfrm>
            <a:off x="567454" y="2481772"/>
            <a:ext cx="107986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o </a:t>
            </a:r>
            <a:r>
              <a:rPr lang="pt-BR" sz="2800" b="1" dirty="0" err="1">
                <a:latin typeface="Courier New" panose="02070309020205020404" pitchFamily="49" charset="0"/>
              </a:rPr>
              <a:t>PreparedStatement</a:t>
            </a:r>
            <a:r>
              <a:rPr lang="pt-BR" sz="2800" dirty="0"/>
              <a:t> (os </a:t>
            </a:r>
            <a:r>
              <a:rPr lang="pt-BR" sz="2800" dirty="0">
                <a:latin typeface="Courier New" panose="02070309020205020404" pitchFamily="49" charset="0"/>
              </a:rPr>
              <a:t>?</a:t>
            </a:r>
            <a:r>
              <a:rPr lang="pt-BR" sz="2800" dirty="0"/>
              <a:t>) é obrigatório porque: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B403C33-3F2E-4E27-2102-FC53D4E7825F}"/>
              </a:ext>
            </a:extLst>
          </p:cNvPr>
          <p:cNvSpPr txBox="1"/>
          <p:nvPr/>
        </p:nvSpPr>
        <p:spPr>
          <a:xfrm>
            <a:off x="943896" y="3096539"/>
            <a:ext cx="1024521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Segurança:</a:t>
            </a:r>
            <a:r>
              <a:rPr lang="pt-BR" sz="2800" dirty="0"/>
              <a:t> Evita ataques de SQL </a:t>
            </a:r>
            <a:r>
              <a:rPr lang="pt-BR" sz="2800" dirty="0" err="1"/>
              <a:t>Injection</a:t>
            </a:r>
            <a:r>
              <a:rPr lang="pt-BR" sz="2800" dirty="0"/>
              <a:t>.</a:t>
            </a:r>
          </a:p>
          <a:p>
            <a:pPr marL="285750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Performance:</a:t>
            </a:r>
            <a:r>
              <a:rPr lang="pt-BR" sz="2800" dirty="0"/>
              <a:t> O banco faz o "</a:t>
            </a:r>
            <a:r>
              <a:rPr lang="pt-BR" sz="2800" dirty="0" err="1"/>
              <a:t>pre</a:t>
            </a:r>
            <a:r>
              <a:rPr lang="pt-BR" sz="2800" dirty="0"/>
              <a:t>-compile" do comando.</a:t>
            </a:r>
          </a:p>
          <a:p>
            <a:pPr marL="285750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Tipagem:</a:t>
            </a:r>
            <a:r>
              <a:rPr lang="pt-BR" sz="2800" dirty="0"/>
              <a:t> O Java cuida da conversão de datas e números automaticamente.</a:t>
            </a:r>
          </a:p>
        </p:txBody>
      </p:sp>
    </p:spTree>
    <p:extLst>
      <p:ext uri="{BB962C8B-B14F-4D97-AF65-F5344CB8AC3E}">
        <p14:creationId xmlns:p14="http://schemas.microsoft.com/office/powerpoint/2010/main" val="925551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B3DE2-011F-EE70-C03D-1EB44B2F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04BEC55-E8C4-2BAA-06FC-DFEAE7475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8907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2085</TotalTime>
  <Words>515</Words>
  <Application>Microsoft Office PowerPoint</Application>
  <PresentationFormat>Widescreen</PresentationFormat>
  <Paragraphs>54</Paragraphs>
  <Slides>13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9" baseType="lpstr">
      <vt:lpstr>Aptos</vt:lpstr>
      <vt:lpstr>Arial</vt:lpstr>
      <vt:lpstr>Century Gothic</vt:lpstr>
      <vt:lpstr>Courier New</vt:lpstr>
      <vt:lpstr>Wingdings 3</vt:lpstr>
      <vt:lpstr>Íon</vt:lpstr>
      <vt:lpstr>Apresentação do PowerPoint</vt:lpstr>
      <vt:lpstr>Apresentação do PowerPoint</vt:lpstr>
      <vt:lpstr>JDBC</vt:lpstr>
      <vt:lpstr>O Fluxo de Conexão (Os 5 Passos)</vt:lpstr>
      <vt:lpstr>Persistência de Dados com JDBC</vt:lpstr>
      <vt:lpstr>SQL – Structured Query Language (Linguagem de consulta estruturada)</vt:lpstr>
      <vt:lpstr>Aplicação</vt:lpstr>
      <vt:lpstr>A Classe de Conexão (Singleton/Fabrica)</vt:lpstr>
      <vt:lpstr>O Padrão Singleton</vt:lpstr>
      <vt:lpstr>O Padrão DAO (Data Access Object)</vt:lpstr>
      <vt:lpstr>Consultando Dados (ResultSet)</vt:lpstr>
      <vt:lpstr>Conceitos de Segurança: SQL Injection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CESAR B. DA SILVA</dc:creator>
  <cp:lastModifiedBy>PAULO CESAR B. DA SILVA</cp:lastModifiedBy>
  <cp:revision>65</cp:revision>
  <dcterms:created xsi:type="dcterms:W3CDTF">2026-05-09T23:28:48Z</dcterms:created>
  <dcterms:modified xsi:type="dcterms:W3CDTF">2026-05-13T23:54:42Z</dcterms:modified>
</cp:coreProperties>
</file>