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668" r:id="rId5"/>
    <p:sldId id="669" r:id="rId6"/>
    <p:sldId id="670" r:id="rId7"/>
    <p:sldId id="671" r:id="rId8"/>
    <p:sldId id="672" r:id="rId9"/>
    <p:sldId id="673" r:id="rId10"/>
    <p:sldId id="6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Coleções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Coleções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46112" y="1460787"/>
            <a:ext cx="10845515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19"/>
              </a:spcBef>
            </a:pPr>
            <a:r>
              <a:rPr lang="pt-BR" altLang="pt-BR" sz="3200" dirty="0"/>
              <a:t>Uma coleção é uma estrutura de dados – na realidade um objeto – que pode armazenar referências a outros objetos.</a:t>
            </a:r>
          </a:p>
          <a:p>
            <a:pPr algn="just">
              <a:spcBef>
                <a:spcPts val="1619"/>
              </a:spcBef>
            </a:pPr>
            <a:r>
              <a:rPr lang="pt-BR" altLang="pt-BR" sz="3200" dirty="0"/>
              <a:t>Normalmente, as coleções contêm referências as objetos que são inteiramente do mesmo tipo. As interfaces de estrutura de coleções declaram as operações a ser realizadas genericamente em vários tipos de coleções.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8D4F7-65A8-367E-81DA-E8FC35FB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1A744-5950-CF84-3079-445C874A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Coleções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01DCD0-0BC0-E716-9B9A-D844A3B07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5777A68E-D5B9-77D3-65EE-58394E909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188782"/>
              </p:ext>
            </p:extLst>
          </p:nvPr>
        </p:nvGraphicFramePr>
        <p:xfrm>
          <a:off x="810846" y="1405086"/>
          <a:ext cx="10390553" cy="4342502"/>
        </p:xfrm>
        <a:graphic>
          <a:graphicData uri="http://schemas.openxmlformats.org/drawingml/2006/table">
            <a:tbl>
              <a:tblPr/>
              <a:tblGrid>
                <a:gridCol w="2184601">
                  <a:extLst>
                    <a:ext uri="{9D8B030D-6E8A-4147-A177-3AD203B41FA5}">
                      <a16:colId xmlns:a16="http://schemas.microsoft.com/office/drawing/2014/main" val="623663581"/>
                    </a:ext>
                  </a:extLst>
                </a:gridCol>
                <a:gridCol w="8205952">
                  <a:extLst>
                    <a:ext uri="{9D8B030D-6E8A-4147-A177-3AD203B41FA5}">
                      <a16:colId xmlns:a16="http://schemas.microsoft.com/office/drawing/2014/main" val="585093521"/>
                    </a:ext>
                  </a:extLst>
                </a:gridCol>
              </a:tblGrid>
              <a:tr h="406084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Interface</a:t>
                      </a:r>
                    </a:p>
                  </a:txBody>
                  <a:tcPr marL="97139" marR="97139" marT="92457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Descrição</a:t>
                      </a:r>
                    </a:p>
                  </a:txBody>
                  <a:tcPr marL="97139" marR="97139" marT="9245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354496"/>
                  </a:ext>
                </a:extLst>
              </a:tr>
              <a:tr h="986937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Collection</a:t>
                      </a:r>
                    </a:p>
                  </a:txBody>
                  <a:tcPr marL="97139" marR="97139" marT="65317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A interface raiz na hierarquia de coleções a partir da qual as interfaces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Set, Queue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List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são derivadas.</a:t>
                      </a:r>
                    </a:p>
                  </a:txBody>
                  <a:tcPr marL="97139" marR="97139" marT="9245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62427"/>
                  </a:ext>
                </a:extLst>
              </a:tr>
              <a:tr h="406084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Set</a:t>
                      </a:r>
                    </a:p>
                  </a:txBody>
                  <a:tcPr marL="97139" marR="97139" marT="65317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Uma coleção que não contém duplicatas.</a:t>
                      </a:r>
                    </a:p>
                  </a:txBody>
                  <a:tcPr marL="97139" marR="97139" marT="9245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420531"/>
                  </a:ext>
                </a:extLst>
              </a:tr>
              <a:tr h="690513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List</a:t>
                      </a:r>
                    </a:p>
                  </a:txBody>
                  <a:tcPr marL="97139" marR="97139" marT="65317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Uma *coleção ordenada que pode conter elementos duplicados.</a:t>
                      </a:r>
                    </a:p>
                  </a:txBody>
                  <a:tcPr marL="97139" marR="97139" marT="9245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10793"/>
                  </a:ext>
                </a:extLst>
              </a:tr>
              <a:tr h="690513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Map</a:t>
                      </a:r>
                    </a:p>
                  </a:txBody>
                  <a:tcPr marL="97139" marR="97139" marT="65317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Associa chaves a valores e não podem conter chaves duplicadas.</a:t>
                      </a:r>
                    </a:p>
                  </a:txBody>
                  <a:tcPr marL="97139" marR="97139" marT="9245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355170"/>
                  </a:ext>
                </a:extLst>
              </a:tr>
              <a:tr h="693940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Queue</a:t>
                      </a:r>
                    </a:p>
                  </a:txBody>
                  <a:tcPr marL="97139" marR="97139" marT="65317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Em geral, uma coleção primeiro a entrar, primeiro a sair que modela uma fila de espera; outras ordens podem ser especificadas</a:t>
                      </a:r>
                    </a:p>
                  </a:txBody>
                  <a:tcPr marL="97139" marR="97139" marT="9245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170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68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8E4BC-28BC-CB25-A30E-F0799648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275D2-A70B-E357-95E0-3AD8CDD0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Coleções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B8D05CC-D585-A3B1-44E2-157FBBB0B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95B6740-D17A-EE63-CEB4-B7EDDFAA5747}"/>
              </a:ext>
            </a:extLst>
          </p:cNvPr>
          <p:cNvSpPr txBox="1"/>
          <p:nvPr/>
        </p:nvSpPr>
        <p:spPr>
          <a:xfrm>
            <a:off x="646112" y="1460787"/>
            <a:ext cx="108455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Antes das Coleções, os programadores usavam </a:t>
            </a:r>
            <a:r>
              <a:rPr lang="pt-BR" sz="3200" b="1" dirty="0" err="1"/>
              <a:t>Arrays</a:t>
            </a:r>
            <a:r>
              <a:rPr lang="pt-BR" sz="3200" dirty="0"/>
              <a:t>. O problema? </a:t>
            </a:r>
            <a:r>
              <a:rPr lang="pt-BR" sz="3200" dirty="0" err="1"/>
              <a:t>Arrays</a:t>
            </a:r>
            <a:r>
              <a:rPr lang="pt-BR" sz="3200" dirty="0"/>
              <a:t> têm tamanho fixo. Se você tem 10 sensores e adiciona o 11º, o sistema quebra.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 Framework de Coleções é um conjunto de interfaces e classes que permitem armazenar e manipular grupos de objetos de forma dinâmica. Ele está localizado no pacote </a:t>
            </a:r>
            <a:r>
              <a:rPr lang="pt-BR" sz="3200" dirty="0" err="1"/>
              <a:t>java.util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59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BBDA-227F-174E-7E44-FC012E29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BE56B-D7A0-B81E-4794-33AF7AA4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 Hierarquia Principal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2F52DF6-1AAE-EDE0-5FFF-CBB6FB8BC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3843301-3448-02DF-00DB-97D9F96D6E77}"/>
              </a:ext>
            </a:extLst>
          </p:cNvPr>
          <p:cNvSpPr txBox="1"/>
          <p:nvPr/>
        </p:nvSpPr>
        <p:spPr>
          <a:xfrm>
            <a:off x="532533" y="1277449"/>
            <a:ext cx="10700039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3200" b="1" dirty="0" err="1"/>
              <a:t>List</a:t>
            </a:r>
            <a:r>
              <a:rPr lang="pt-BR" sz="3200" b="1" dirty="0"/>
              <a:t> (Lista)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3200" b="1" dirty="0"/>
              <a:t> C</a:t>
            </a:r>
            <a:r>
              <a:rPr lang="pt-BR" sz="2800" b="1" dirty="0"/>
              <a:t>omportamento:</a:t>
            </a:r>
            <a:r>
              <a:rPr lang="pt-BR" sz="2800" dirty="0"/>
              <a:t> Mantém a ordem de inserção e permite elementos duplicados.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Analogia:</a:t>
            </a:r>
            <a:r>
              <a:rPr lang="pt-BR" sz="2800" dirty="0"/>
              <a:t> Uma fila de espera onde pessoas podem ter o mesmo nome.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Classes principais:</a:t>
            </a:r>
            <a:endParaRPr lang="pt-BR" sz="2800" dirty="0"/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>
                <a:latin typeface="Courier New" panose="02070309020205020404" pitchFamily="49" charset="0"/>
              </a:rPr>
              <a:t>ArrayList</a:t>
            </a:r>
            <a:r>
              <a:rPr lang="pt-BR" sz="2800" dirty="0"/>
              <a:t>: Rápida para leitura (acesso via índice), mas lenta para remover elementos do meio.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>
                <a:latin typeface="Courier New" panose="02070309020205020404" pitchFamily="49" charset="0"/>
              </a:rPr>
              <a:t>LinkedList</a:t>
            </a:r>
            <a:r>
              <a:rPr lang="pt-BR" sz="2800" dirty="0"/>
              <a:t>: Excelente para inserir ou remover elementos frequentemente.</a:t>
            </a:r>
          </a:p>
        </p:txBody>
      </p:sp>
    </p:spTree>
    <p:extLst>
      <p:ext uri="{BB962C8B-B14F-4D97-AF65-F5344CB8AC3E}">
        <p14:creationId xmlns:p14="http://schemas.microsoft.com/office/powerpoint/2010/main" val="172462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86B2-004D-F00C-7E49-0651E6F09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21BE7-B164-0B87-DC49-693556F2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 Hierarquia Principal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38CDCC-FE49-7F84-2864-1513B0B3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BC2615B-6613-04AE-51AB-3A4F8135EB99}"/>
              </a:ext>
            </a:extLst>
          </p:cNvPr>
          <p:cNvSpPr txBox="1"/>
          <p:nvPr/>
        </p:nvSpPr>
        <p:spPr>
          <a:xfrm>
            <a:off x="532534" y="1277449"/>
            <a:ext cx="105857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b="1" dirty="0"/>
              <a:t>Set (Conjunto)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Comportamento:</a:t>
            </a:r>
            <a:r>
              <a:rPr lang="pt-BR" sz="2800" dirty="0"/>
              <a:t> Não permite elementos duplicados.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Analogia:</a:t>
            </a:r>
            <a:r>
              <a:rPr lang="pt-BR" sz="2800" dirty="0"/>
              <a:t> Um saco de moedas onde você só quer saber quais tipos de moedas tem, sem repetir a mesma.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Classes principais:</a:t>
            </a:r>
            <a:endParaRPr lang="pt-BR" sz="2800" dirty="0"/>
          </a:p>
          <a:p>
            <a:pPr marL="914400" lvl="1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HashSet</a:t>
            </a:r>
            <a:r>
              <a:rPr lang="pt-BR" sz="2800" dirty="0"/>
              <a:t>: Muito rápida, mas não garante nenhuma ordem.</a:t>
            </a:r>
          </a:p>
          <a:p>
            <a:pPr marL="914400" lvl="1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TreeSet</a:t>
            </a:r>
            <a:r>
              <a:rPr lang="pt-BR" sz="2800" dirty="0"/>
              <a:t>: Mantém os elementos ordenados (</a:t>
            </a:r>
            <a:r>
              <a:rPr lang="pt-BR" sz="2800" dirty="0" err="1"/>
              <a:t>ex</a:t>
            </a:r>
            <a:r>
              <a:rPr lang="pt-BR" sz="2800" dirty="0"/>
              <a:t>: ordem alfabética).</a:t>
            </a:r>
          </a:p>
        </p:txBody>
      </p:sp>
    </p:spTree>
    <p:extLst>
      <p:ext uri="{BB962C8B-B14F-4D97-AF65-F5344CB8AC3E}">
        <p14:creationId xmlns:p14="http://schemas.microsoft.com/office/powerpoint/2010/main" val="232449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4DAD-3952-3362-61EE-F2A42002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F868B-2B3C-6892-5D5C-35FE55DF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A Hierarquia Principal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E64BA6-D43E-4072-50CD-0D72CBA04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50F0BB2-BC07-98C3-CB90-135FD4CE7963}"/>
              </a:ext>
            </a:extLst>
          </p:cNvPr>
          <p:cNvSpPr txBox="1"/>
          <p:nvPr/>
        </p:nvSpPr>
        <p:spPr>
          <a:xfrm>
            <a:off x="532534" y="1277449"/>
            <a:ext cx="1058574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1" dirty="0"/>
              <a:t>Map (Mapa/Dicionário)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Comportamento:</a:t>
            </a:r>
            <a:r>
              <a:rPr lang="pt-BR" sz="2800" dirty="0"/>
              <a:t> Armazena pares de </a:t>
            </a:r>
            <a:r>
              <a:rPr lang="pt-BR" sz="2800" b="1" dirty="0"/>
              <a:t>Chave e Valor</a:t>
            </a:r>
            <a:r>
              <a:rPr lang="pt-BR" sz="2800" dirty="0"/>
              <a:t>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Analogia:</a:t>
            </a:r>
            <a:r>
              <a:rPr lang="pt-BR" sz="2800" dirty="0"/>
              <a:t> Um dicionário (a Chave é a palavra, o Valor é a definição).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Classes principais:</a:t>
            </a:r>
            <a:endParaRPr lang="pt-BR" sz="2800" dirty="0"/>
          </a:p>
          <a:p>
            <a:pPr marL="914400" lvl="1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HashMap</a:t>
            </a:r>
            <a:r>
              <a:rPr lang="pt-BR" sz="2800" dirty="0"/>
              <a:t>: Rápido e permite chaves nulas.</a:t>
            </a:r>
          </a:p>
          <a:p>
            <a:pPr marL="914400" lvl="1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TreeMap</a:t>
            </a:r>
            <a:r>
              <a:rPr lang="pt-BR" sz="2800" dirty="0"/>
              <a:t>: Mantém as chaves ordenadas.</a:t>
            </a:r>
          </a:p>
        </p:txBody>
      </p:sp>
    </p:spTree>
    <p:extLst>
      <p:ext uri="{BB962C8B-B14F-4D97-AF65-F5344CB8AC3E}">
        <p14:creationId xmlns:p14="http://schemas.microsoft.com/office/powerpoint/2010/main" val="345143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AEFE-971D-27C4-7CE6-B6C00257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B12A3-CB26-1170-6437-25F6E4B8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Escolha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A039F39-5F1A-8E1B-5F05-306A66AE9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6610FB1-3B96-A4EE-634E-64A716D46A84}"/>
              </a:ext>
            </a:extLst>
          </p:cNvPr>
          <p:cNvSpPr txBox="1"/>
          <p:nvPr/>
        </p:nvSpPr>
        <p:spPr>
          <a:xfrm>
            <a:off x="646111" y="1433174"/>
            <a:ext cx="105864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Precisa de ordem e permite repetidos?</a:t>
            </a:r>
            <a:r>
              <a:rPr lang="pt-BR" sz="2800" dirty="0"/>
              <a:t> Use </a:t>
            </a:r>
            <a:r>
              <a:rPr lang="pt-BR" sz="2800" dirty="0" err="1">
                <a:latin typeface="Courier New" panose="02070309020205020404" pitchFamily="49" charset="0"/>
              </a:rPr>
              <a:t>ArrayList</a:t>
            </a:r>
            <a:r>
              <a:rPr lang="pt-BR" sz="2800" dirty="0"/>
              <a:t>.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Não quer repetidos e a ordem não importa?</a:t>
            </a:r>
            <a:r>
              <a:rPr lang="pt-BR" sz="2800" dirty="0"/>
              <a:t> Use </a:t>
            </a:r>
            <a:r>
              <a:rPr lang="pt-BR" sz="2800" dirty="0" err="1">
                <a:latin typeface="Courier New" panose="02070309020205020404" pitchFamily="49" charset="0"/>
              </a:rPr>
              <a:t>HashSet</a:t>
            </a:r>
            <a:r>
              <a:rPr lang="pt-BR" sz="2800" dirty="0"/>
              <a:t>.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Precisa associar uma informação a uma chave (ID)?</a:t>
            </a:r>
            <a:r>
              <a:rPr lang="pt-BR" sz="2800" dirty="0"/>
              <a:t> Use </a:t>
            </a:r>
            <a:r>
              <a:rPr lang="pt-BR" sz="2800" dirty="0" err="1">
                <a:latin typeface="Courier New" panose="02070309020205020404" pitchFamily="49" charset="0"/>
              </a:rPr>
              <a:t>HashMap</a:t>
            </a:r>
            <a:r>
              <a:rPr lang="pt-BR" sz="2800" dirty="0"/>
              <a:t>.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Precisa de tudo ordenado o tempo todo?</a:t>
            </a:r>
            <a:r>
              <a:rPr lang="pt-BR" sz="2800" dirty="0"/>
              <a:t> Use as versões </a:t>
            </a:r>
            <a:r>
              <a:rPr lang="pt-BR" sz="2800" dirty="0" err="1">
                <a:latin typeface="Courier New" panose="02070309020205020404" pitchFamily="49" charset="0"/>
              </a:rPr>
              <a:t>Tree</a:t>
            </a:r>
            <a:r>
              <a:rPr lang="pt-BR" sz="2800" dirty="0"/>
              <a:t> (</a:t>
            </a:r>
            <a:r>
              <a:rPr lang="pt-BR" sz="2800" dirty="0" err="1">
                <a:latin typeface="Courier New" panose="02070309020205020404" pitchFamily="49" charset="0"/>
              </a:rPr>
              <a:t>TreeSet</a:t>
            </a:r>
            <a:r>
              <a:rPr lang="pt-BR" sz="2800" dirty="0"/>
              <a:t> ou </a:t>
            </a:r>
            <a:r>
              <a:rPr lang="pt-BR" sz="2800" dirty="0" err="1">
                <a:latin typeface="Courier New" panose="02070309020205020404" pitchFamily="49" charset="0"/>
              </a:rPr>
              <a:t>TreeMap</a:t>
            </a:r>
            <a:r>
              <a:rPr lang="pt-B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91461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464</TotalTime>
  <Words>437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Coleções</vt:lpstr>
      <vt:lpstr>Coleções</vt:lpstr>
      <vt:lpstr>Coleções</vt:lpstr>
      <vt:lpstr>A Hierarquia Principal</vt:lpstr>
      <vt:lpstr>A Hierarquia Principal</vt:lpstr>
      <vt:lpstr>A Hierarquia Principal</vt:lpstr>
      <vt:lpstr>Escolha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35</cp:revision>
  <dcterms:created xsi:type="dcterms:W3CDTF">2026-05-09T23:28:48Z</dcterms:created>
  <dcterms:modified xsi:type="dcterms:W3CDTF">2026-05-11T18:54:16Z</dcterms:modified>
</cp:coreProperties>
</file>