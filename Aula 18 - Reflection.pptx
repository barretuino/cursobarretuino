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671" r:id="rId4"/>
    <p:sldId id="672" r:id="rId5"/>
    <p:sldId id="673" r:id="rId6"/>
    <p:sldId id="674" r:id="rId7"/>
    <p:sldId id="675" r:id="rId8"/>
    <p:sldId id="676" r:id="rId9"/>
    <p:sldId id="677" r:id="rId10"/>
    <p:sldId id="678" r:id="rId11"/>
    <p:sldId id="679" r:id="rId12"/>
    <p:sldId id="680" r:id="rId13"/>
    <p:sldId id="681" r:id="rId14"/>
    <p:sldId id="6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08EC-A2CA-6E81-D65E-A17B1918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59B94C-9892-7648-FE68-42E8D619C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F6EBB6-F824-017D-126C-5432FC40B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E95D42-8751-1830-6EE5-9F656D10D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34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2C09-B6AC-E962-C22A-CA4C359A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E725F1-9E6E-5F3B-7FA0-E5C7EFD32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3CC8D8-0BDE-2F72-BAD4-E7F2D1CCE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E169B3-5DA4-62DB-65DF-5AFFD99E7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124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E3CC-7988-6EF1-18A3-BC3D4602B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911983-E364-7C69-3DF2-489E7EAE3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C9A472-1532-296F-4DF0-B42C1FA45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3902DF-8E47-3D8D-7FA8-91F11DE7C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477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5726B-9C8C-D0BA-BABA-A0E482C29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91A4FD-BD86-8677-5FB4-4F915F64A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8C181E-65DD-6914-30FB-09D4CDF7E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C35CF8-9B82-D2CC-FF01-069F65D97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446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69CE-4229-AAEF-0E6B-F60D3963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1360800-5702-C8CD-5328-7F6F5C4F8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2E6F38-6A10-A371-8B79-2542361D5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5C88-65C5-0331-FC38-67099516E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737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5A6B-F415-6178-E149-FC0873D7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4C9193-E0D0-5DAB-62C9-5823D59FE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F51C4C-8AD8-FADF-9507-85D9D0DBE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3D2096-BF6E-5032-81C2-0DC6616B9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258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5EC0-16FD-3040-F8FA-755C071E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3D4E2F-CC3B-7EB5-4B03-D8958B17F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56B39B-0136-2771-D888-BEC4F9A21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7249A7-510B-11A9-E631-41070A347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7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2E9E5-6A96-2BF1-B23B-A3E71BC7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9830BD-6E6E-0FB3-313A-D0AAD241A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E22921-A157-B294-C290-563C1B045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6A1F9B-62FA-C6CC-6535-805B78C25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137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351F-3D8E-76F1-7380-0996A9C9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CF9A03-C9DD-8687-D7BA-557710A45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CB8DE6-1469-4A28-974E-29E829973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4790AA-D25B-2A54-53C0-88D526266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012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0A77-BE04-D2C6-B8E2-B8D95F15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310ECC-625C-4494-CF03-24CD08FFE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15727D-3FD7-B53E-4987-A66FBB2DE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13BF00-FC4B-19A8-2F5D-036489EE0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127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3FC11-D5CB-56EF-7CBC-B14D704D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7805A9-9FA1-0ED6-9AA8-2BDC9E5D3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83E8FC-D3DA-AAA7-C436-F1699813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8B9165-C683-633A-4C87-EC7987BEA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65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Reflection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DDD-562E-3997-3C2D-BD1F1ED8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98A5C-1F41-1601-A688-09661161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Java </a:t>
            </a:r>
            <a:r>
              <a:rPr lang="pt-BR" b="1" dirty="0" err="1"/>
              <a:t>Reflection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B683D1-05DC-45CF-B10E-AAB9A8AD1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52FA7C-9DFD-92C4-19A8-4AB6332A7313}"/>
              </a:ext>
            </a:extLst>
          </p:cNvPr>
          <p:cNvSpPr txBox="1"/>
          <p:nvPr/>
        </p:nvSpPr>
        <p:spPr>
          <a:xfrm>
            <a:off x="646109" y="1330381"/>
            <a:ext cx="1054299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O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, em poucas palavras, serve para determinar métodos e atributos que serão utilizados de determinada classe (que você nem conhece) em tempo de execução. 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Há inúmeras utilidades para esse tipo de tarefa, podemos citar por exemplo a instalação de plugins adicionais ao nosso software desenvolvido.</a:t>
            </a:r>
          </a:p>
        </p:txBody>
      </p:sp>
    </p:spTree>
    <p:extLst>
      <p:ext uri="{BB962C8B-B14F-4D97-AF65-F5344CB8AC3E}">
        <p14:creationId xmlns:p14="http://schemas.microsoft.com/office/powerpoint/2010/main" val="55855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54A20-2F5E-0889-B884-F6E818F9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3ED7F-131C-BB58-4BD4-4294C0F8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Java </a:t>
            </a:r>
            <a:r>
              <a:rPr lang="pt-BR" b="1" dirty="0" err="1"/>
              <a:t>Reflection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6A47D1E-29D7-34A9-D4C8-EABCEB32C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4C8984E-7046-90E7-47F6-438E0302A4BB}"/>
              </a:ext>
            </a:extLst>
          </p:cNvPr>
          <p:cNvSpPr txBox="1"/>
          <p:nvPr/>
        </p:nvSpPr>
        <p:spPr>
          <a:xfrm>
            <a:off x="646109" y="1330381"/>
            <a:ext cx="1054299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Imagine se toda vez que um novo plugin fosse desenvolvido para o Eclipse, ele tivesse que ser refatorado (</a:t>
            </a:r>
            <a:r>
              <a:rPr lang="pt-BR" altLang="pt-BR" sz="2800" i="1" dirty="0" err="1"/>
              <a:t>refactoring</a:t>
            </a:r>
            <a:r>
              <a:rPr lang="pt-BR" altLang="pt-BR" sz="2800" dirty="0"/>
              <a:t>) a fim de adaptar-se ao uso desse novo plugin. Seria muito trabalhoso e inviável, dado a quantidade de plugins que são desenvolvidos para tal IDE. 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A solução para isso é sem dúvida o uso do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, com ele podemos deixar, por exemplo, pontos estratégicos do sistema para aceitar a instalação de plugins afim de tornar o sistema extensível.</a:t>
            </a:r>
          </a:p>
        </p:txBody>
      </p:sp>
    </p:spTree>
    <p:extLst>
      <p:ext uri="{BB962C8B-B14F-4D97-AF65-F5344CB8AC3E}">
        <p14:creationId xmlns:p14="http://schemas.microsoft.com/office/powerpoint/2010/main" val="260810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D2F3-5077-E913-649E-B144A2EC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32194-2F18-ACAE-B765-59ED2B74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Java </a:t>
            </a:r>
            <a:r>
              <a:rPr lang="pt-BR" b="1" dirty="0" err="1"/>
              <a:t>Reflection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51C809-5F00-ECB9-48B7-0A2EB8ED2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6B7DA92-CB6C-8E58-26D8-F597C457779F}"/>
              </a:ext>
            </a:extLst>
          </p:cNvPr>
          <p:cNvSpPr txBox="1"/>
          <p:nvPr/>
        </p:nvSpPr>
        <p:spPr>
          <a:xfrm>
            <a:off x="488793" y="2736345"/>
            <a:ext cx="10542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Perceba no código acima que não sabemos quais os métodos e atributos da “</a:t>
            </a:r>
            <a:r>
              <a:rPr lang="pt-BR" altLang="pt-BR" sz="2800" dirty="0" err="1"/>
              <a:t>ClassDesconhecida</a:t>
            </a:r>
            <a:r>
              <a:rPr lang="pt-BR" altLang="pt-BR" sz="2800" dirty="0"/>
              <a:t>”, para isso vamos utilizar as ferramentas oferecidas pelo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 afim de descobrir essas informações em tempo de execução. </a:t>
            </a:r>
          </a:p>
          <a:p>
            <a:pPr algn="just">
              <a:spcBef>
                <a:spcPct val="50000"/>
              </a:spcBef>
            </a:pPr>
            <a:r>
              <a:rPr lang="pt-BR" altLang="pt-BR" sz="2400" dirty="0"/>
              <a:t>Veja que com o método “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DeclaredFields</a:t>
            </a:r>
            <a:r>
              <a:rPr lang="pt-BR" altLang="pt-BR" sz="2400" dirty="0"/>
              <a:t>” conseguimos capturar todos os atributos da classe em questão, mesmo sem saber como ela foi construída.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F96FD-8A95-987C-EB44-E5AA8E49F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0" y="1236835"/>
            <a:ext cx="9079409" cy="1391356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ClassDesconhecida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classe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5B8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ClassDesconhecida.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D1949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D1949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(Field atributo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5B83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classe.getDeclaredFields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atributo.getName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8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44F5-50B8-D28F-AC62-B5516992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0E65D-9160-856A-BE5D-F72EB018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Riscos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7C2D51-175A-40E6-86B8-61D5826D3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B4D95C-B5C1-2266-0077-9FBD2486634A}"/>
              </a:ext>
            </a:extLst>
          </p:cNvPr>
          <p:cNvSpPr txBox="1"/>
          <p:nvPr/>
        </p:nvSpPr>
        <p:spPr>
          <a:xfrm>
            <a:off x="655938" y="1152983"/>
            <a:ext cx="1054299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altLang="pt-BR" sz="3200" dirty="0"/>
              <a:t>Deve usar este recurso com muito cuidado, sempre atentando aos possíveis riscos que podem ser causados pelo uso indevido do mesmo: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400" dirty="0"/>
              <a:t>Redução de Desempenho, pois se o código que está sendo executado for requerido com muita frequência, consequentemente acarretará em uma redução de desempenho.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400" dirty="0"/>
              <a:t>Problemas por restrição de segurança, especialmente se executado em um ambiente com regras específicas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altLang="pt-BR" sz="2400" dirty="0"/>
              <a:t>Exposição de estrutura interna dos objetos, pois utilizando este recurso temos acesso a todos os métodos e atributos de determinado objeto, isso pode ser um problema em se tratando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192387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11AC7-570B-6B98-07B1-6B2DB370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22223-C28F-0968-46E9-57F51353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 err="1"/>
              <a:t>Beneficios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C3D672-6E6E-EBAE-0AB3-379F3C272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DA09682-FA34-6DD8-1E80-1517D44785AA}"/>
              </a:ext>
            </a:extLst>
          </p:cNvPr>
          <p:cNvSpPr txBox="1"/>
          <p:nvPr/>
        </p:nvSpPr>
        <p:spPr>
          <a:xfrm>
            <a:off x="655938" y="1152983"/>
            <a:ext cx="1054299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Mas, além dos riscos temos também os benefícios que podem ser aproveitados se usarmos o Java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 da forma correta e adequada.</a:t>
            </a:r>
          </a:p>
          <a:p>
            <a:pPr marL="120015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Facilidade na manutenção</a:t>
            </a:r>
          </a:p>
          <a:p>
            <a:pPr marL="120015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Minimização de Erros</a:t>
            </a:r>
          </a:p>
          <a:p>
            <a:pPr marL="120015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Ganho de Produtividade</a:t>
            </a:r>
          </a:p>
          <a:p>
            <a:pPr marL="120015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Padronização</a:t>
            </a:r>
          </a:p>
          <a:p>
            <a:pPr marL="120015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Extensibilidade</a:t>
            </a:r>
          </a:p>
        </p:txBody>
      </p:sp>
    </p:spTree>
    <p:extLst>
      <p:ext uri="{BB962C8B-B14F-4D97-AF65-F5344CB8AC3E}">
        <p14:creationId xmlns:p14="http://schemas.microsoft.com/office/powerpoint/2010/main" val="62772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267B3-1870-3732-FACA-8B94564F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AAF95-C3A5-27E8-83F1-6AB3F65B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 err="1"/>
              <a:t>Beneficios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AF54A3-EEAE-FD7B-3AC2-1DC4509A2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E24888-D15C-73DE-D080-8333D4721A45}"/>
              </a:ext>
            </a:extLst>
          </p:cNvPr>
          <p:cNvSpPr txBox="1"/>
          <p:nvPr/>
        </p:nvSpPr>
        <p:spPr>
          <a:xfrm>
            <a:off x="655938" y="1241471"/>
            <a:ext cx="105429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Alguns itens são bem óbvios, como é o caso do Ganho de Produtividade, isso porque é notório que não precisaremos ficar reescrevendo código a toda vez que quisermos adicionar novas funcionalidades ao nosso sistema, é óbvio que o mesmo tem que estar pronto para receber tal “acoplamento”. 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Consideramos a extensibilidade como um dos pontos mais importantes e beneficiários do Java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339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0B0B-FEDF-BC13-053A-C1A2C2B5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FB48D-3455-5AD0-94CF-D317FBBE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Criação de Objetos com </a:t>
            </a:r>
            <a:r>
              <a:rPr lang="pt-BR" b="1" dirty="0" err="1"/>
              <a:t>Reflection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017261-1386-816B-7B2A-DB3B7EE8C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FD9A2E-4DAB-03C1-1A31-CDED9316BF77}"/>
              </a:ext>
            </a:extLst>
          </p:cNvPr>
          <p:cNvSpPr txBox="1"/>
          <p:nvPr/>
        </p:nvSpPr>
        <p:spPr>
          <a:xfrm>
            <a:off x="655938" y="1241471"/>
            <a:ext cx="1054299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Com o uso do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 para criar objetos, é necessário cria-los através de um construtor. Neste caso, devemos primeiro invocar um construtor para que seja criado o objeto. O detalhe é que para recuperar este construtor, devemos nos atentar aos tipos dos parâmetros que compõem o construtor e a ordem que eles são declarados. 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Isso torna flexível recuperar diferentes construtores com quantidade de parâmetros e tipos diferentes.</a:t>
            </a:r>
          </a:p>
        </p:txBody>
      </p:sp>
    </p:spTree>
    <p:extLst>
      <p:ext uri="{BB962C8B-B14F-4D97-AF65-F5344CB8AC3E}">
        <p14:creationId xmlns:p14="http://schemas.microsoft.com/office/powerpoint/2010/main" val="69355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4972B-F10F-39C4-D12C-466877D0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9BC08-16F8-7103-1A9E-2019942D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Criação de Objetos com </a:t>
            </a:r>
            <a:r>
              <a:rPr lang="pt-BR" b="1" dirty="0" err="1"/>
              <a:t>Reflection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CA38CB-4EA6-3E50-1619-17CF5C196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28CFEC7-E845-93A5-C085-24FACAFD0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91" y="1269519"/>
            <a:ext cx="7867970" cy="538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2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6149-F068-142B-48F4-FF28EEA3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7F34C-2C34-EAA2-BDC5-4D01443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Invocando Métodos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95A19DA-30B3-C9D4-236C-88DB12EA5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554ECBE-BD07-A9F9-4223-11B8F236D2AE}"/>
              </a:ext>
            </a:extLst>
          </p:cNvPr>
          <p:cNvSpPr txBox="1"/>
          <p:nvPr/>
        </p:nvSpPr>
        <p:spPr>
          <a:xfrm>
            <a:off x="655938" y="1241471"/>
            <a:ext cx="10542999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Para invocar um método através de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 é bem simples como é mostrado no código abaixo. </a:t>
            </a:r>
          </a:p>
          <a:p>
            <a:pPr algn="just">
              <a:spcBef>
                <a:spcPct val="50000"/>
              </a:spcBef>
            </a:pPr>
            <a:endParaRPr lang="pt-BR" altLang="pt-BR" sz="2800" dirty="0"/>
          </a:p>
          <a:p>
            <a:pPr algn="just">
              <a:spcBef>
                <a:spcPct val="50000"/>
              </a:spcBef>
            </a:pPr>
            <a:endParaRPr lang="pt-BR" altLang="pt-BR" sz="2800" dirty="0"/>
          </a:p>
          <a:p>
            <a:pPr algn="just">
              <a:spcBef>
                <a:spcPct val="50000"/>
              </a:spcBef>
            </a:pPr>
            <a:endParaRPr lang="pt-BR" altLang="pt-BR" dirty="0"/>
          </a:p>
          <a:p>
            <a:pPr algn="just">
              <a:spcBef>
                <a:spcPct val="50000"/>
              </a:spcBef>
            </a:pPr>
            <a:r>
              <a:rPr lang="pt-BR" altLang="pt-BR" sz="2400" dirty="0"/>
              <a:t>Perceba que é necessário passar como parâmetro no método </a:t>
            </a:r>
            <a:r>
              <a:rPr lang="pt-BR" altLang="pt-BR" sz="2400" dirty="0" err="1"/>
              <a:t>cls.getMethod</a:t>
            </a:r>
            <a:r>
              <a:rPr lang="pt-BR" altLang="pt-BR" sz="2400" dirty="0"/>
              <a:t>("</a:t>
            </a:r>
            <a:r>
              <a:rPr lang="pt-BR" altLang="pt-BR" sz="2400" dirty="0" err="1"/>
              <a:t>doDeposit</a:t>
            </a:r>
            <a:r>
              <a:rPr lang="pt-BR" altLang="pt-BR" sz="2400" dirty="0"/>
              <a:t>", </a:t>
            </a:r>
            <a:r>
              <a:rPr lang="pt-BR" altLang="pt-BR" sz="2400" dirty="0" err="1"/>
              <a:t>argumentsType</a:t>
            </a:r>
            <a:r>
              <a:rPr lang="pt-BR" altLang="pt-BR" sz="2400" dirty="0"/>
              <a:t>) o nome explícito do método, no caso o "</a:t>
            </a:r>
            <a:r>
              <a:rPr lang="pt-BR" altLang="pt-BR" sz="2400" dirty="0" err="1"/>
              <a:t>doDeposit</a:t>
            </a:r>
            <a:r>
              <a:rPr lang="pt-BR" altLang="pt-BR" sz="2400" dirty="0"/>
              <a:t>" e no segundo parâmetro, um </a:t>
            </a:r>
            <a:r>
              <a:rPr lang="pt-BR" altLang="pt-BR" sz="2400" dirty="0" err="1"/>
              <a:t>array</a:t>
            </a:r>
            <a:r>
              <a:rPr lang="pt-BR" altLang="pt-BR" sz="2400" dirty="0"/>
              <a:t> representando o tipo do dado usado no parâmetro do método </a:t>
            </a:r>
            <a:r>
              <a:rPr lang="pt-BR" altLang="pt-BR" sz="2400" dirty="0" err="1"/>
              <a:t>doDeposit</a:t>
            </a:r>
            <a:r>
              <a:rPr lang="pt-BR" altLang="pt-BR" sz="2400" dirty="0"/>
              <a:t>(</a:t>
            </a:r>
            <a:r>
              <a:rPr lang="pt-BR" altLang="pt-BR" sz="2400" dirty="0" err="1"/>
              <a:t>double</a:t>
            </a:r>
            <a:r>
              <a:rPr lang="pt-BR" altLang="pt-BR" sz="2400" dirty="0"/>
              <a:t> </a:t>
            </a:r>
            <a:r>
              <a:rPr lang="pt-BR" altLang="pt-BR" sz="2400" dirty="0" err="1"/>
              <a:t>amount</a:t>
            </a:r>
            <a:r>
              <a:rPr lang="pt-BR" altLang="pt-BR" sz="2400" dirty="0"/>
              <a:t>), no caso um parâmetro do tipo </a:t>
            </a:r>
            <a:r>
              <a:rPr lang="pt-BR" altLang="pt-BR" sz="2400" dirty="0" err="1"/>
              <a:t>double</a:t>
            </a:r>
            <a:r>
              <a:rPr lang="pt-BR" altLang="pt-BR" sz="2400" dirty="0"/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89C901-CD02-AF15-8003-AA5954973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81" y="2298054"/>
            <a:ext cx="9856336" cy="15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5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9926-862D-834E-F843-CAB3E509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8BEAC-AA22-668F-9C64-BD4A64FD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Considerações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F62704-D995-ECA5-CF10-92272A5A1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016581B-167C-B911-891A-AD99B29B7D31}"/>
              </a:ext>
            </a:extLst>
          </p:cNvPr>
          <p:cNvSpPr txBox="1"/>
          <p:nvPr/>
        </p:nvSpPr>
        <p:spPr>
          <a:xfrm>
            <a:off x="655938" y="1241471"/>
            <a:ext cx="105429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O uso dessa poderosa ferramenta faz-se necessária principalmente quando estamos pensando em extensibilidade, tornar o sistema apto a receber novas funcionalidades sem a necessidade de modificação do código.</a:t>
            </a:r>
          </a:p>
        </p:txBody>
      </p:sp>
    </p:spTree>
    <p:extLst>
      <p:ext uri="{BB962C8B-B14F-4D97-AF65-F5344CB8AC3E}">
        <p14:creationId xmlns:p14="http://schemas.microsoft.com/office/powerpoint/2010/main" val="2109848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C48F-7314-1B2C-5E47-668383DA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0726A-D1B9-53F6-A13F-AD3811B3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Considerações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C7CD7F-7CF6-0ECC-D658-6125C34EE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56D2658-8C31-C13D-DA82-98A40A044A28}"/>
              </a:ext>
            </a:extLst>
          </p:cNvPr>
          <p:cNvSpPr txBox="1"/>
          <p:nvPr/>
        </p:nvSpPr>
        <p:spPr>
          <a:xfrm>
            <a:off x="655938" y="1241471"/>
            <a:ext cx="10542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O uso de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 é uma boa estratégia quando necessita-se de flexibilidade em explorar diferentes classes e seus métodos sem a necessidade de instanciar objetos. Normalmente usa-se </a:t>
            </a:r>
            <a:r>
              <a:rPr lang="pt-BR" altLang="pt-BR" sz="2800" dirty="0" err="1"/>
              <a:t>Reflection</a:t>
            </a:r>
            <a:r>
              <a:rPr lang="pt-BR" altLang="pt-BR" sz="2800" dirty="0"/>
              <a:t> em componentes específicos de uma arquitetura mas não impede de ser usado em cenários variados. Pelo exemplos mostrados acima, percebe-se cenários infinitos de sua aplicação e as vantagens do seu uso.</a:t>
            </a:r>
          </a:p>
        </p:txBody>
      </p:sp>
    </p:spTree>
    <p:extLst>
      <p:ext uri="{BB962C8B-B14F-4D97-AF65-F5344CB8AC3E}">
        <p14:creationId xmlns:p14="http://schemas.microsoft.com/office/powerpoint/2010/main" val="294685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2090</TotalTime>
  <Words>711</Words>
  <Application>Microsoft Office PowerPoint</Application>
  <PresentationFormat>Widescreen</PresentationFormat>
  <Paragraphs>54</Paragraphs>
  <Slides>14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Java Reflection</vt:lpstr>
      <vt:lpstr>Java Reflection</vt:lpstr>
      <vt:lpstr>Java Reflection</vt:lpstr>
      <vt:lpstr>Riscos</vt:lpstr>
      <vt:lpstr>Beneficios</vt:lpstr>
      <vt:lpstr>Beneficios</vt:lpstr>
      <vt:lpstr>Criação de Objetos com Reflection</vt:lpstr>
      <vt:lpstr>Criação de Objetos com Reflection</vt:lpstr>
      <vt:lpstr>Invocando Métodos</vt:lpstr>
      <vt:lpstr>Considerações</vt:lpstr>
      <vt:lpstr>Considerações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66</cp:revision>
  <dcterms:created xsi:type="dcterms:W3CDTF">2026-05-09T23:28:48Z</dcterms:created>
  <dcterms:modified xsi:type="dcterms:W3CDTF">2026-05-14T00:02:07Z</dcterms:modified>
</cp:coreProperties>
</file>