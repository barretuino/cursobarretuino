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256" r:id="rId2"/>
    <p:sldId id="257" r:id="rId3"/>
    <p:sldId id="259" r:id="rId4"/>
    <p:sldId id="668" r:id="rId5"/>
    <p:sldId id="669" r:id="rId6"/>
    <p:sldId id="670" r:id="rId7"/>
    <p:sldId id="678" r:id="rId8"/>
    <p:sldId id="679" r:id="rId9"/>
    <p:sldId id="680" r:id="rId10"/>
    <p:sldId id="681" r:id="rId11"/>
    <p:sldId id="682" r:id="rId12"/>
    <p:sldId id="683" r:id="rId13"/>
    <p:sldId id="684" r:id="rId14"/>
    <p:sldId id="685" r:id="rId15"/>
    <p:sldId id="686" r:id="rId16"/>
    <p:sldId id="687" r:id="rId17"/>
    <p:sldId id="671" r:id="rId18"/>
    <p:sldId id="672" r:id="rId19"/>
    <p:sldId id="673" r:id="rId20"/>
    <p:sldId id="674" r:id="rId21"/>
    <p:sldId id="675" r:id="rId22"/>
    <p:sldId id="676" r:id="rId23"/>
    <p:sldId id="677" r:id="rId24"/>
    <p:sldId id="667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DAC97C-5B33-4781-812F-662DF630EBCD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3341F5-7495-47E1-9545-033FF0448F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932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8767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3860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3244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2506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3188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7712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2852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3304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7023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4004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79301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279080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4873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50763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93561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9106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022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9E3A743-186D-4F77-9612-BE4CFC269A59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97158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C9B53827-0705-E714-6193-8D30E15280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0500" y="0"/>
            <a:ext cx="12573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127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1B28F63-CF00-448F-B141-FE33C33B1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AE609E2-8522-44E4-9077-980E5BCF3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4FA533C5-33E3-4611-AF9F-72811D8B2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949AD42-25FD-4C3D-9EEE-B7FEC5809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AC7D913-60B7-4603-881B-831DA5D3A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7F0FDC4-AD8C-47D9-9131-623C98ADB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6A222EB-A81E-4238-B08D-AAB1828C8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014676C-074B-475A-8346-9C901C86C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79C4C8E-197B-4679-AE96-B5147F971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56687" y="1930986"/>
            <a:ext cx="0" cy="3200400"/>
          </a:xfrm>
          <a:prstGeom prst="line">
            <a:avLst/>
          </a:prstGeom>
          <a:ln w="15875" cap="sq">
            <a:solidFill>
              <a:schemeClr val="tx2">
                <a:alpha val="7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ixaDeTexto 3">
            <a:extLst>
              <a:ext uri="{FF2B5EF4-FFF2-40B4-BE49-F238E27FC236}">
                <a16:creationId xmlns:a16="http://schemas.microsoft.com/office/drawing/2014/main" id="{A2F8BC53-1D92-2AFC-631B-5986D255097B}"/>
              </a:ext>
            </a:extLst>
          </p:cNvPr>
          <p:cNvSpPr txBox="1"/>
          <p:nvPr/>
        </p:nvSpPr>
        <p:spPr>
          <a:xfrm>
            <a:off x="4751690" y="1266958"/>
            <a:ext cx="7458645" cy="45284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pt-BR" sz="7200" b="0" i="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Manipulação de Arquivos</a:t>
            </a:r>
            <a:endParaRPr lang="en-US" sz="7200" b="0" i="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Imagem 1" descr="Java - ícones de logotipo grátis">
            <a:extLst>
              <a:ext uri="{FF2B5EF4-FFF2-40B4-BE49-F238E27FC236}">
                <a16:creationId xmlns:a16="http://schemas.microsoft.com/office/drawing/2014/main" id="{73B0CD15-B44E-4315-4DF4-F7B46587D1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5004" y="1691120"/>
            <a:ext cx="3566680" cy="356668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3CE62C90-F960-52A5-4225-9D5977F813E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910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4B982-FC15-4D85-5175-36591210C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5B1CD2-2C42-7171-FDE6-B3951563F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Conceito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AF10BD0-99B4-052A-B6F3-61DACA77C8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4F3A9AC-944C-8F8E-F54B-5EB65400C768}"/>
              </a:ext>
            </a:extLst>
          </p:cNvPr>
          <p:cNvSpPr txBox="1"/>
          <p:nvPr/>
        </p:nvSpPr>
        <p:spPr>
          <a:xfrm>
            <a:off x="646112" y="1460787"/>
            <a:ext cx="10845515" cy="4237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619"/>
              </a:spcBef>
            </a:pPr>
            <a:r>
              <a:rPr lang="pt-BR" altLang="pt-BR" sz="3200" dirty="0"/>
              <a:t>O armazenamento de dados em variáveis e </a:t>
            </a:r>
            <a:r>
              <a:rPr lang="pt-BR" altLang="pt-BR" sz="3200" dirty="0" err="1"/>
              <a:t>arrays</a:t>
            </a:r>
            <a:r>
              <a:rPr lang="pt-BR" altLang="pt-BR" sz="3200" dirty="0"/>
              <a:t> é temporário – os dados são perdidos quando uma variável local sai do escopo ou quando o programa termina. </a:t>
            </a:r>
          </a:p>
          <a:p>
            <a:pPr algn="just">
              <a:spcBef>
                <a:spcPts val="1619"/>
              </a:spcBef>
            </a:pPr>
            <a:r>
              <a:rPr lang="pt-BR" altLang="pt-BR" sz="3200" dirty="0"/>
              <a:t>Computadores utilizam arquivos para armazenamento de longo prazo de grandes volumes de dados, mesmo depois de os programas que criaram os dados terminaram.</a:t>
            </a:r>
          </a:p>
        </p:txBody>
      </p:sp>
    </p:spTree>
    <p:extLst>
      <p:ext uri="{BB962C8B-B14F-4D97-AF65-F5344CB8AC3E}">
        <p14:creationId xmlns:p14="http://schemas.microsoft.com/office/powerpoint/2010/main" val="730938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56858-5A4A-58FD-01D0-0F08D6B83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D245AF-D990-9A32-D346-BC92FF986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Conceito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D1C6F33-CBD5-D8E2-3C48-BF4C334C23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AC89A28-E76D-CAC2-DAC5-BC80167B2602}"/>
              </a:ext>
            </a:extLst>
          </p:cNvPr>
          <p:cNvSpPr txBox="1"/>
          <p:nvPr/>
        </p:nvSpPr>
        <p:spPr>
          <a:xfrm>
            <a:off x="646112" y="1460787"/>
            <a:ext cx="1084551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619"/>
              </a:spcBef>
            </a:pPr>
            <a:r>
              <a:rPr lang="pt-BR" altLang="pt-BR" sz="3200" dirty="0"/>
              <a:t>Uma das principais facilidades em Java, comparando com outras linguagens de programação, é a facilidade na leitura e gravação de arquivos no sistema operacional sem ter de se preocupar com o sistema operacional no qual sua aplicação está rodando. </a:t>
            </a:r>
          </a:p>
        </p:txBody>
      </p:sp>
    </p:spTree>
    <p:extLst>
      <p:ext uri="{BB962C8B-B14F-4D97-AF65-F5344CB8AC3E}">
        <p14:creationId xmlns:p14="http://schemas.microsoft.com/office/powerpoint/2010/main" val="910010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4BC97-92E3-394F-F0A6-AEEC8BB27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B41037-3F25-ED01-4C5A-CFD06E7E9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Conceito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D3D88FF-4DC7-83F2-8519-3AB7D2ACA3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724E2FC0-8A2C-896E-2302-7E2A01D92608}"/>
              </a:ext>
            </a:extLst>
          </p:cNvPr>
          <p:cNvSpPr txBox="1"/>
          <p:nvPr/>
        </p:nvSpPr>
        <p:spPr>
          <a:xfrm>
            <a:off x="646112" y="1460787"/>
            <a:ext cx="1084551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619"/>
              </a:spcBef>
            </a:pPr>
            <a:r>
              <a:rPr lang="pt-BR" altLang="pt-BR" sz="3200" dirty="0"/>
              <a:t>Sendo Java uma linguagem orientada a objetos, nada mais claro que utilizar classes e instâncias delas (objetos) para lidar com a </a:t>
            </a:r>
            <a:r>
              <a:rPr lang="pt-BR" altLang="pt-BR" sz="3200" dirty="0" err="1"/>
              <a:t>saida</a:t>
            </a:r>
            <a:r>
              <a:rPr lang="pt-BR" altLang="pt-BR" sz="3200" dirty="0"/>
              <a:t> e entrada de dados (input/output, abreviado: </a:t>
            </a:r>
            <a:r>
              <a:rPr lang="pt-BR" altLang="pt-BR" sz="3200" dirty="0" err="1"/>
              <a:t>io</a:t>
            </a:r>
            <a:r>
              <a:rPr lang="pt-BR" altLang="pt-BR" sz="3200" dirty="0"/>
              <a:t>). O </a:t>
            </a:r>
            <a:r>
              <a:rPr lang="pt-BR" altLang="pt-BR" sz="3200" dirty="0" err="1"/>
              <a:t>java</a:t>
            </a:r>
            <a:r>
              <a:rPr lang="pt-BR" altLang="pt-BR" sz="3200" dirty="0"/>
              <a:t> trata a entrada e saída como fluxos de dados (os tão chamados </a:t>
            </a:r>
            <a:r>
              <a:rPr lang="pt-BR" altLang="pt-BR" sz="3200" dirty="0" err="1"/>
              <a:t>Streams</a:t>
            </a:r>
            <a:r>
              <a:rPr lang="pt-BR" altLang="pt-BR" sz="3200" dirty="0"/>
              <a:t>), que você tem pleno controle sobre eles. </a:t>
            </a:r>
          </a:p>
        </p:txBody>
      </p:sp>
    </p:spTree>
    <p:extLst>
      <p:ext uri="{BB962C8B-B14F-4D97-AF65-F5344CB8AC3E}">
        <p14:creationId xmlns:p14="http://schemas.microsoft.com/office/powerpoint/2010/main" val="3002540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6BED7-E220-9F91-5FF8-BF38A1854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158705-1514-1ADC-94BF-7C11D9832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Conceito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F6F5211-8701-6B37-E923-9DE6C4EBF3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pic>
        <p:nvPicPr>
          <p:cNvPr id="3" name="Google Shape;101;p15" descr="image.png">
            <a:extLst>
              <a:ext uri="{FF2B5EF4-FFF2-40B4-BE49-F238E27FC236}">
                <a16:creationId xmlns:a16="http://schemas.microsoft.com/office/drawing/2014/main" id="{3B00B55B-1CAA-64E5-95C1-1B25A36464F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3458" y="1710814"/>
            <a:ext cx="5501403" cy="28599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02;p15" descr="image.png">
            <a:extLst>
              <a:ext uri="{FF2B5EF4-FFF2-40B4-BE49-F238E27FC236}">
                <a16:creationId xmlns:a16="http://schemas.microsoft.com/office/drawing/2014/main" id="{AEC07064-C9F8-B42D-5D41-39E482F73BD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93708" y="1710814"/>
            <a:ext cx="5501403" cy="285992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03;p15">
            <a:extLst>
              <a:ext uri="{FF2B5EF4-FFF2-40B4-BE49-F238E27FC236}">
                <a16:creationId xmlns:a16="http://schemas.microsoft.com/office/drawing/2014/main" id="{C2B914A9-F333-51ED-6386-F652FD325878}"/>
              </a:ext>
            </a:extLst>
          </p:cNvPr>
          <p:cNvSpPr txBox="1"/>
          <p:nvPr/>
        </p:nvSpPr>
        <p:spPr>
          <a:xfrm>
            <a:off x="791441" y="2330256"/>
            <a:ext cx="4936258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Arquivos de Texto</a:t>
            </a:r>
            <a:endParaRPr sz="2000"/>
          </a:p>
        </p:txBody>
      </p:sp>
      <p:sp>
        <p:nvSpPr>
          <p:cNvPr id="8" name="Google Shape;104;p15">
            <a:extLst>
              <a:ext uri="{FF2B5EF4-FFF2-40B4-BE49-F238E27FC236}">
                <a16:creationId xmlns:a16="http://schemas.microsoft.com/office/drawing/2014/main" id="{0553DC6B-1A03-7D45-5C70-F6607898629D}"/>
              </a:ext>
            </a:extLst>
          </p:cNvPr>
          <p:cNvSpPr txBox="1"/>
          <p:nvPr/>
        </p:nvSpPr>
        <p:spPr>
          <a:xfrm>
            <a:off x="802662" y="2805658"/>
            <a:ext cx="4701199" cy="155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Armazenam dados como sequências de caracteres interpretáveis por humanos. Utilizam encodings como UTF-8. Exemplos: .txt, .csv, .json.</a:t>
            </a:r>
            <a:endParaRPr sz="2000"/>
          </a:p>
        </p:txBody>
      </p:sp>
      <p:sp>
        <p:nvSpPr>
          <p:cNvPr id="9" name="Google Shape;105;p15">
            <a:extLst>
              <a:ext uri="{FF2B5EF4-FFF2-40B4-BE49-F238E27FC236}">
                <a16:creationId xmlns:a16="http://schemas.microsoft.com/office/drawing/2014/main" id="{DEB6FAB4-90BB-D862-6B2E-ED0FA7AEB429}"/>
              </a:ext>
            </a:extLst>
          </p:cNvPr>
          <p:cNvSpPr txBox="1"/>
          <p:nvPr/>
        </p:nvSpPr>
        <p:spPr>
          <a:xfrm>
            <a:off x="6601691" y="2330256"/>
            <a:ext cx="4936258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Arquivos Binários</a:t>
            </a:r>
            <a:endParaRPr sz="2000"/>
          </a:p>
        </p:txBody>
      </p:sp>
      <p:sp>
        <p:nvSpPr>
          <p:cNvPr id="10" name="Google Shape;106;p15">
            <a:extLst>
              <a:ext uri="{FF2B5EF4-FFF2-40B4-BE49-F238E27FC236}">
                <a16:creationId xmlns:a16="http://schemas.microsoft.com/office/drawing/2014/main" id="{150ED457-0443-D909-B2FA-DC728232DEDE}"/>
              </a:ext>
            </a:extLst>
          </p:cNvPr>
          <p:cNvSpPr txBox="1"/>
          <p:nvPr/>
        </p:nvSpPr>
        <p:spPr>
          <a:xfrm>
            <a:off x="6612912" y="2805658"/>
            <a:ext cx="4701199" cy="155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Armazenam dados como bytes puros (0 e 1). Representam o estado direto da memória. Exemplos: imagens (.png), áudio (.mp3), executáveis.</a:t>
            </a:r>
            <a:endParaRPr sz="2000"/>
          </a:p>
        </p:txBody>
      </p:sp>
    </p:spTree>
    <p:extLst>
      <p:ext uri="{BB962C8B-B14F-4D97-AF65-F5344CB8AC3E}">
        <p14:creationId xmlns:p14="http://schemas.microsoft.com/office/powerpoint/2010/main" val="2610998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86933-1E61-FA59-AB7E-7D908A7E5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40306B-B85D-6E5D-7673-B1A73BCCC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File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6527967-CF77-6C67-4EEE-E24397434D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3" name="Text Box 2">
            <a:extLst>
              <a:ext uri="{FF2B5EF4-FFF2-40B4-BE49-F238E27FC236}">
                <a16:creationId xmlns:a16="http://schemas.microsoft.com/office/drawing/2014/main" id="{08B52A71-AEB0-CC7E-6E07-52BD2418DE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059" y="1434499"/>
            <a:ext cx="10570547" cy="18255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7139" tIns="50513" rIns="97139" bIns="50513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>
              <a:spcBef>
                <a:spcPts val="1214"/>
              </a:spcBef>
            </a:pPr>
            <a:r>
              <a:rPr lang="pt-BR" altLang="pt-BR" sz="2800" dirty="0">
                <a:solidFill>
                  <a:schemeClr val="tx1"/>
                </a:solidFill>
              </a:rPr>
              <a:t>Instâncias da classe </a:t>
            </a:r>
            <a:r>
              <a:rPr lang="pt-BR" altLang="pt-BR" sz="2800" dirty="0" err="1">
                <a:solidFill>
                  <a:schemeClr val="tx1"/>
                </a:solidFill>
              </a:rPr>
              <a:t>java.io.File</a:t>
            </a:r>
            <a:r>
              <a:rPr lang="pt-BR" altLang="pt-BR" sz="2800" dirty="0">
                <a:solidFill>
                  <a:schemeClr val="tx1"/>
                </a:solidFill>
              </a:rPr>
              <a:t> representam caminhos (paths) para possíveis locais no sistema operacional. Lembre-se que ele apenas representa um arquivo ou diretório, isto não quer dizer que este caminho exista ou não. </a:t>
            </a: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8C49FE29-9F8A-8F37-2BD7-FC6A36B274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060" y="3426367"/>
            <a:ext cx="10570546" cy="963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7139" tIns="50513" rIns="97139" bIns="50513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>
              <a:spcBef>
                <a:spcPts val="1619"/>
              </a:spcBef>
            </a:pPr>
            <a:r>
              <a:rPr lang="pt-BR" altLang="pt-BR" sz="2800" dirty="0">
                <a:solidFill>
                  <a:schemeClr val="tx1"/>
                </a:solidFill>
              </a:rPr>
              <a:t>Por exemplo, o código a seguir cria uma instância da classe mencionada, que aponta para /</a:t>
            </a:r>
            <a:r>
              <a:rPr lang="pt-BR" altLang="pt-BR" sz="2800" dirty="0" err="1">
                <a:solidFill>
                  <a:schemeClr val="tx1"/>
                </a:solidFill>
              </a:rPr>
              <a:t>usr</a:t>
            </a:r>
            <a:r>
              <a:rPr lang="pt-BR" altLang="pt-BR" sz="2800" dirty="0">
                <a:solidFill>
                  <a:schemeClr val="tx1"/>
                </a:solidFill>
              </a:rPr>
              <a:t>/</a:t>
            </a:r>
            <a:r>
              <a:rPr lang="pt-BR" altLang="pt-BR" sz="2800" dirty="0" err="1">
                <a:solidFill>
                  <a:schemeClr val="tx1"/>
                </a:solidFill>
              </a:rPr>
              <a:t>poo</a:t>
            </a:r>
            <a:r>
              <a:rPr lang="pt-BR" altLang="pt-BR" sz="2800" dirty="0">
                <a:solidFill>
                  <a:schemeClr val="tx1"/>
                </a:solidFill>
              </a:rPr>
              <a:t>/arquivo.txt: </a:t>
            </a:r>
          </a:p>
        </p:txBody>
      </p:sp>
      <p:graphicFrame>
        <p:nvGraphicFramePr>
          <p:cNvPr id="6" name="Group 5">
            <a:extLst>
              <a:ext uri="{FF2B5EF4-FFF2-40B4-BE49-F238E27FC236}">
                <a16:creationId xmlns:a16="http://schemas.microsoft.com/office/drawing/2014/main" id="{7EE2BEC5-CB69-0B5D-1FF4-27D60BDEE7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8353436"/>
              </p:ext>
            </p:extLst>
          </p:nvPr>
        </p:nvGraphicFramePr>
        <p:xfrm>
          <a:off x="2027565" y="4833292"/>
          <a:ext cx="7811534" cy="509077"/>
        </p:xfrm>
        <a:graphic>
          <a:graphicData uri="http://schemas.openxmlformats.org/drawingml/2006/table">
            <a:tbl>
              <a:tblPr/>
              <a:tblGrid>
                <a:gridCol w="7811534">
                  <a:extLst>
                    <a:ext uri="{9D8B030D-6E8A-4147-A177-3AD203B41FA5}">
                      <a16:colId xmlns:a16="http://schemas.microsoft.com/office/drawing/2014/main" val="3417671314"/>
                    </a:ext>
                  </a:extLst>
                </a:gridCol>
              </a:tblGrid>
              <a:tr h="507520">
                <a:tc>
                  <a:txBody>
                    <a:bodyPr/>
                    <a:lstStyle>
                      <a:lvl1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pt-B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1</a:t>
                      </a:r>
                      <a:r>
                        <a:rPr kumimoji="0" lang="en-US" altLang="pt-B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 File </a:t>
                      </a:r>
                      <a:r>
                        <a:rPr kumimoji="0" lang="en-US" altLang="pt-BR" sz="2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file</a:t>
                      </a:r>
                      <a:r>
                        <a:rPr kumimoji="0" lang="en-US" altLang="pt-B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 = </a:t>
                      </a:r>
                      <a:r>
                        <a:rPr kumimoji="0" lang="en-US" altLang="pt-BR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0055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new </a:t>
                      </a:r>
                      <a:r>
                        <a:rPr kumimoji="0" lang="en-US" altLang="pt-B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File(</a:t>
                      </a:r>
                      <a:r>
                        <a:rPr kumimoji="0" lang="en-US" altLang="pt-B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A00FF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"/</a:t>
                      </a:r>
                      <a:r>
                        <a:rPr kumimoji="0" lang="en-US" altLang="pt-BR" sz="2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2A00FF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usr</a:t>
                      </a:r>
                      <a:r>
                        <a:rPr kumimoji="0" lang="en-US" altLang="pt-B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A00FF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/</a:t>
                      </a:r>
                      <a:r>
                        <a:rPr kumimoji="0" lang="en-US" altLang="pt-BR" sz="2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2A00FF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barretuino</a:t>
                      </a:r>
                      <a:r>
                        <a:rPr kumimoji="0" lang="en-US" altLang="pt-B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A00FF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/arquivo.txt"</a:t>
                      </a:r>
                      <a:r>
                        <a:rPr kumimoji="0" lang="en-US" altLang="pt-B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);</a:t>
                      </a:r>
                      <a:r>
                        <a:rPr kumimoji="0" lang="en-US" altLang="pt-BR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marL="97139" marR="97139" marT="50513" marB="5051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E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67023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99773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24BA8-8D79-9BD7-E471-66652ACF4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B6DBE6-1E76-006C-7FB8-633846BAA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File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19CCA4B-920A-5CF8-8F04-7D444E9DF0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4" name="Text Box 2">
            <a:extLst>
              <a:ext uri="{FF2B5EF4-FFF2-40B4-BE49-F238E27FC236}">
                <a16:creationId xmlns:a16="http://schemas.microsoft.com/office/drawing/2014/main" id="{C9377782-EC1B-579F-5C95-3E984E95D1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886" y="1204385"/>
            <a:ext cx="10393566" cy="1297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7139" tIns="50513" rIns="97139" bIns="50513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>
              <a:spcBef>
                <a:spcPts val="1619"/>
              </a:spcBef>
            </a:pPr>
            <a:r>
              <a:rPr lang="pt-BR" altLang="pt-BR" sz="2590" dirty="0">
                <a:solidFill>
                  <a:schemeClr val="tx1"/>
                </a:solidFill>
              </a:rPr>
              <a:t>E o código a seguir um caminho para o arquivo arquivo.txt que estará no diretório atual do sistema e ../arquivo.txt que estará no diretório pai do atual. </a:t>
            </a: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3650011B-1430-8478-C5F8-CCBD1D3FEA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908" y="3682518"/>
            <a:ext cx="10393566" cy="24718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7139" tIns="50513" rIns="97139" bIns="50513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>
              <a:spcBef>
                <a:spcPts val="1214"/>
              </a:spcBef>
            </a:pPr>
            <a:r>
              <a:rPr lang="pt-BR" altLang="pt-BR" sz="2400" b="1" dirty="0">
                <a:solidFill>
                  <a:schemeClr val="tx1"/>
                </a:solidFill>
              </a:rPr>
              <a:t>Dica:</a:t>
            </a:r>
            <a:r>
              <a:rPr lang="pt-BR" altLang="pt-BR" sz="2400" dirty="0">
                <a:solidFill>
                  <a:schemeClr val="tx1"/>
                </a:solidFill>
              </a:rPr>
              <a:t> No caso do sistema operacional </a:t>
            </a:r>
            <a:r>
              <a:rPr lang="pt-BR" altLang="pt-BR" sz="2400" dirty="0" err="1">
                <a:solidFill>
                  <a:schemeClr val="tx1"/>
                </a:solidFill>
              </a:rPr>
              <a:t>windows</a:t>
            </a:r>
            <a:r>
              <a:rPr lang="pt-BR" altLang="pt-BR" sz="2400" dirty="0">
                <a:solidFill>
                  <a:schemeClr val="tx1"/>
                </a:solidFill>
              </a:rPr>
              <a:t>, você deve usar duplas barras invertidas (\\), já que uma barra invertida apenas é considerado escape pelo </a:t>
            </a:r>
            <a:r>
              <a:rPr lang="pt-BR" altLang="pt-BR" sz="2400" dirty="0" err="1">
                <a:solidFill>
                  <a:schemeClr val="tx1"/>
                </a:solidFill>
              </a:rPr>
              <a:t>java</a:t>
            </a:r>
            <a:r>
              <a:rPr lang="pt-BR" altLang="pt-BR" sz="2400" dirty="0">
                <a:solidFill>
                  <a:schemeClr val="tx1"/>
                </a:solidFill>
              </a:rPr>
              <a:t>.</a:t>
            </a:r>
          </a:p>
          <a:p>
            <a:pPr algn="just">
              <a:spcBef>
                <a:spcPts val="1214"/>
              </a:spcBef>
            </a:pPr>
            <a:r>
              <a:rPr lang="pt-BR" altLang="pt-BR" sz="2400" b="1" dirty="0">
                <a:solidFill>
                  <a:schemeClr val="tx1"/>
                </a:solidFill>
              </a:rPr>
              <a:t>Dica: </a:t>
            </a:r>
            <a:r>
              <a:rPr lang="pt-BR" altLang="pt-BR" sz="2400" dirty="0">
                <a:solidFill>
                  <a:schemeClr val="tx1"/>
                </a:solidFill>
              </a:rPr>
              <a:t>Em </a:t>
            </a:r>
            <a:r>
              <a:rPr lang="pt-BR" altLang="pt-BR" sz="2400" dirty="0" err="1">
                <a:solidFill>
                  <a:schemeClr val="tx1"/>
                </a:solidFill>
              </a:rPr>
              <a:t>java</a:t>
            </a:r>
            <a:r>
              <a:rPr lang="pt-BR" altLang="pt-BR" sz="2400" dirty="0">
                <a:solidFill>
                  <a:schemeClr val="tx1"/>
                </a:solidFill>
              </a:rPr>
              <a:t>, você não há como alterar o diretório atual, por isso pode criar instâncias da classe File que apontam para lugares relativos, mas sempre ao diretório inicial.</a:t>
            </a:r>
          </a:p>
        </p:txBody>
      </p:sp>
      <p:graphicFrame>
        <p:nvGraphicFramePr>
          <p:cNvPr id="9" name="Group 6">
            <a:extLst>
              <a:ext uri="{FF2B5EF4-FFF2-40B4-BE49-F238E27FC236}">
                <a16:creationId xmlns:a16="http://schemas.microsoft.com/office/drawing/2014/main" id="{F809C57D-D988-8DE2-E0A0-432FEED382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9948502"/>
              </p:ext>
            </p:extLst>
          </p:nvPr>
        </p:nvGraphicFramePr>
        <p:xfrm>
          <a:off x="2414472" y="2692428"/>
          <a:ext cx="6646401" cy="736572"/>
        </p:xfrm>
        <a:graphic>
          <a:graphicData uri="http://schemas.openxmlformats.org/drawingml/2006/table">
            <a:tbl>
              <a:tblPr/>
              <a:tblGrid>
                <a:gridCol w="6646401">
                  <a:extLst>
                    <a:ext uri="{9D8B030D-6E8A-4147-A177-3AD203B41FA5}">
                      <a16:colId xmlns:a16="http://schemas.microsoft.com/office/drawing/2014/main" val="307336221"/>
                    </a:ext>
                  </a:extLst>
                </a:gridCol>
              </a:tblGrid>
              <a:tr h="736572">
                <a:tc>
                  <a:txBody>
                    <a:bodyPr/>
                    <a:lstStyle>
                      <a:lvl1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pt-BR" altLang="pt-BR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1</a:t>
                      </a:r>
                      <a:r>
                        <a:rPr kumimoji="0" lang="pt-BR" altLang="pt-BR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 File </a:t>
                      </a:r>
                      <a:r>
                        <a:rPr kumimoji="0" lang="pt-BR" altLang="pt-BR" sz="1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noDiretorioAtual</a:t>
                      </a:r>
                      <a:r>
                        <a:rPr kumimoji="0" lang="pt-BR" altLang="pt-BR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 = </a:t>
                      </a:r>
                      <a:r>
                        <a:rPr kumimoji="0" lang="pt-BR" altLang="pt-BR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0055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new </a:t>
                      </a:r>
                      <a:r>
                        <a:rPr kumimoji="0" lang="pt-BR" altLang="pt-BR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File(</a:t>
                      </a:r>
                      <a:r>
                        <a:rPr kumimoji="0" lang="pt-BR" altLang="pt-BR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A00FF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"arquivo.txt"</a:t>
                      </a:r>
                      <a:r>
                        <a:rPr kumimoji="0" lang="pt-BR" altLang="pt-BR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);</a:t>
                      </a:r>
                      <a:br>
                        <a:rPr kumimoji="0" lang="pt-BR" altLang="pt-BR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</a:br>
                      <a:r>
                        <a:rPr kumimoji="0" lang="pt-BR" altLang="pt-BR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2</a:t>
                      </a:r>
                      <a:r>
                        <a:rPr kumimoji="0" lang="pt-BR" altLang="pt-BR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 File </a:t>
                      </a:r>
                      <a:r>
                        <a:rPr kumimoji="0" lang="pt-BR" altLang="pt-BR" sz="1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noDiretorioAnterior</a:t>
                      </a:r>
                      <a:r>
                        <a:rPr kumimoji="0" lang="pt-BR" altLang="pt-BR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 = </a:t>
                      </a:r>
                      <a:r>
                        <a:rPr kumimoji="0" lang="pt-BR" altLang="pt-BR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0055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new </a:t>
                      </a:r>
                      <a:r>
                        <a:rPr kumimoji="0" lang="pt-BR" altLang="pt-BR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File(</a:t>
                      </a:r>
                      <a:r>
                        <a:rPr kumimoji="0" lang="pt-BR" altLang="pt-BR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A00FF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"../arquivo.txt"</a:t>
                      </a:r>
                      <a:r>
                        <a:rPr kumimoji="0" lang="pt-BR" altLang="pt-BR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);</a:t>
                      </a:r>
                      <a:r>
                        <a:rPr kumimoji="0" lang="pt-BR" altLang="pt-BR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marL="97139" marR="97139" marT="50513" marB="5051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E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46637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9367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9B72D-1D6E-3438-1EDE-5B99EA8C1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E631A3-5F1B-4CE8-28BA-AA4AA4E51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File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72034F4-402A-57EA-C723-9732A8BB41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3" name="Text Box 2">
            <a:extLst>
              <a:ext uri="{FF2B5EF4-FFF2-40B4-BE49-F238E27FC236}">
                <a16:creationId xmlns:a16="http://schemas.microsoft.com/office/drawing/2014/main" id="{1D199F6A-0424-1E8D-7099-49E85E06E7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384" y="1261047"/>
            <a:ext cx="10413235" cy="899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7139" tIns="50513" rIns="97139" bIns="50513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>
              <a:spcBef>
                <a:spcPts val="1214"/>
              </a:spcBef>
            </a:pPr>
            <a:r>
              <a:rPr lang="pt-BR" altLang="pt-BR" sz="2590" dirty="0">
                <a:solidFill>
                  <a:schemeClr val="tx1"/>
                </a:solidFill>
              </a:rPr>
              <a:t>Existe outras maneiras de criar caminhos relativos a um outro caminho, por exemplo:</a:t>
            </a:r>
            <a:r>
              <a:rPr lang="pt-BR" altLang="pt-BR" sz="1943" dirty="0">
                <a:solidFill>
                  <a:schemeClr val="tx1"/>
                </a:solidFill>
              </a:rPr>
              <a:t> </a:t>
            </a:r>
          </a:p>
        </p:txBody>
      </p:sp>
      <p:graphicFrame>
        <p:nvGraphicFramePr>
          <p:cNvPr id="5" name="Group 6">
            <a:extLst>
              <a:ext uri="{FF2B5EF4-FFF2-40B4-BE49-F238E27FC236}">
                <a16:creationId xmlns:a16="http://schemas.microsoft.com/office/drawing/2014/main" id="{1F042DAC-6D5C-6E6B-05F9-BBF6961F2C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4432116"/>
              </p:ext>
            </p:extLst>
          </p:nvPr>
        </p:nvGraphicFramePr>
        <p:xfrm>
          <a:off x="1704655" y="2218244"/>
          <a:ext cx="9395964" cy="2935476"/>
        </p:xfrm>
        <a:graphic>
          <a:graphicData uri="http://schemas.openxmlformats.org/drawingml/2006/table">
            <a:tbl>
              <a:tblPr/>
              <a:tblGrid>
                <a:gridCol w="9395964">
                  <a:extLst>
                    <a:ext uri="{9D8B030D-6E8A-4147-A177-3AD203B41FA5}">
                      <a16:colId xmlns:a16="http://schemas.microsoft.com/office/drawing/2014/main" val="2437964424"/>
                    </a:ext>
                  </a:extLst>
                </a:gridCol>
              </a:tblGrid>
              <a:tr h="2864933">
                <a:tc>
                  <a:txBody>
                    <a:bodyPr/>
                    <a:lstStyle>
                      <a:lvl1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1</a:t>
                      </a: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 File </a:t>
                      </a:r>
                      <a:r>
                        <a:rPr kumimoji="0" lang="pt-BR" altLang="pt-BR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diretorioRaiz</a:t>
                      </a: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 = </a:t>
                      </a:r>
                      <a:r>
                        <a:rPr kumimoji="0" lang="pt-BR" altLang="pt-B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0055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new </a:t>
                      </a: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File(</a:t>
                      </a: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A00FF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"/"</a:t>
                      </a: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);</a:t>
                      </a:r>
                      <a:b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</a:b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2</a:t>
                      </a: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 File arquivo1 = </a:t>
                      </a:r>
                      <a:r>
                        <a:rPr kumimoji="0" lang="pt-BR" altLang="pt-B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0055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new </a:t>
                      </a: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File(</a:t>
                      </a:r>
                      <a:r>
                        <a:rPr kumimoji="0" lang="pt-BR" altLang="pt-BR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diretorioRaiz</a:t>
                      </a: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,</a:t>
                      </a: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A00FF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"autoexec.bat"</a:t>
                      </a: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);</a:t>
                      </a:r>
                      <a:b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</a:b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3</a:t>
                      </a: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 File arquivo2 = </a:t>
                      </a:r>
                      <a:r>
                        <a:rPr kumimoji="0" lang="pt-BR" altLang="pt-B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0055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new </a:t>
                      </a: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File(</a:t>
                      </a:r>
                      <a:r>
                        <a:rPr kumimoji="0" lang="pt-BR" altLang="pt-BR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diretorioRaiz</a:t>
                      </a: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,</a:t>
                      </a: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A00FF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"config.sys"</a:t>
                      </a: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);</a:t>
                      </a:r>
                      <a:b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</a:b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4</a:t>
                      </a: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 File </a:t>
                      </a:r>
                      <a:r>
                        <a:rPr kumimoji="0" lang="pt-BR" altLang="pt-BR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diretorioWindows</a:t>
                      </a: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 = </a:t>
                      </a:r>
                      <a:r>
                        <a:rPr kumimoji="0" lang="pt-BR" altLang="pt-B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0055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new </a:t>
                      </a: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File(</a:t>
                      </a:r>
                      <a:r>
                        <a:rPr kumimoji="0" lang="pt-BR" altLang="pt-BR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diretorioRaiz</a:t>
                      </a: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,</a:t>
                      </a: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A00FF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"</a:t>
                      </a:r>
                      <a:r>
                        <a:rPr kumimoji="0" lang="pt-BR" altLang="pt-BR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2A00FF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windows</a:t>
                      </a: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A00FF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"</a:t>
                      </a: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);</a:t>
                      </a:r>
                      <a:b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</a:b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5</a:t>
                      </a: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 File diretorioWindows2 = </a:t>
                      </a:r>
                      <a:r>
                        <a:rPr kumimoji="0" lang="pt-BR" altLang="pt-B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0055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new </a:t>
                      </a: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File(</a:t>
                      </a: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A00FF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"/</a:t>
                      </a:r>
                      <a:r>
                        <a:rPr kumimoji="0" lang="pt-BR" altLang="pt-BR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2A00FF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windows</a:t>
                      </a: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A00FF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/"</a:t>
                      </a: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);</a:t>
                      </a:r>
                      <a:b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</a:b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6</a:t>
                      </a: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 File diretorioWindows3 = </a:t>
                      </a:r>
                      <a:r>
                        <a:rPr kumimoji="0" lang="pt-BR" altLang="pt-B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0055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new </a:t>
                      </a: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File(</a:t>
                      </a: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A00FF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"/</a:t>
                      </a:r>
                      <a:r>
                        <a:rPr kumimoji="0" lang="pt-BR" altLang="pt-BR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2A00FF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windows</a:t>
                      </a: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A00FF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"</a:t>
                      </a: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);</a:t>
                      </a:r>
                      <a:b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</a:b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7</a:t>
                      </a: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 File diretorioWindows4 = </a:t>
                      </a:r>
                      <a:r>
                        <a:rPr kumimoji="0" lang="pt-BR" altLang="pt-B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0055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new </a:t>
                      </a: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File(</a:t>
                      </a: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A00FF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"c:\\\\windows"</a:t>
                      </a: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);</a:t>
                      </a:r>
                      <a:r>
                        <a:rPr kumimoji="0" lang="pt-BR" altLang="pt-B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marL="97139" marR="97139" marT="50513" marB="5051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E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8307805"/>
                  </a:ext>
                </a:extLst>
              </a:tr>
            </a:tbl>
          </a:graphicData>
        </a:graphic>
      </p:graphicFrame>
      <p:sp>
        <p:nvSpPr>
          <p:cNvPr id="6" name="Text Box 8">
            <a:extLst>
              <a:ext uri="{FF2B5EF4-FFF2-40B4-BE49-F238E27FC236}">
                <a16:creationId xmlns:a16="http://schemas.microsoft.com/office/drawing/2014/main" id="{7C22AC7F-483D-4BA3-A607-A81DB692C6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411" y="5154153"/>
            <a:ext cx="11005715" cy="998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7139" tIns="50513" rIns="97139" bIns="50513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>
              <a:spcBef>
                <a:spcPts val="1214"/>
              </a:spcBef>
            </a:pPr>
            <a:r>
              <a:rPr lang="pt-BR" altLang="pt-BR" sz="1943" b="1" dirty="0">
                <a:solidFill>
                  <a:schemeClr val="tx1"/>
                </a:solidFill>
              </a:rPr>
              <a:t>Dica:</a:t>
            </a:r>
            <a:r>
              <a:rPr lang="pt-BR" altLang="pt-BR" sz="1943" dirty="0">
                <a:solidFill>
                  <a:schemeClr val="tx1"/>
                </a:solidFill>
              </a:rPr>
              <a:t> É importante saber que criar um ponteiro para um caminho no sistema operacional não significa criar o arquivo/diretório. As instanciações do código acima iriam funcionar mesmo se você não possuísse esses arquivos, porém não irão apontar para um arquivo/diretório existente. </a:t>
            </a:r>
          </a:p>
        </p:txBody>
      </p:sp>
    </p:spTree>
    <p:extLst>
      <p:ext uri="{BB962C8B-B14F-4D97-AF65-F5344CB8AC3E}">
        <p14:creationId xmlns:p14="http://schemas.microsoft.com/office/powerpoint/2010/main" val="35280714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756A1-01AC-6082-0518-C4DC7836F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AE16E0-C231-4CDA-EF54-B1F8870E2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File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E7E7CC2-B8E5-FA5A-EAD7-30F76F8847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4" name="Text Box 2">
            <a:extLst>
              <a:ext uri="{FF2B5EF4-FFF2-40B4-BE49-F238E27FC236}">
                <a16:creationId xmlns:a16="http://schemas.microsoft.com/office/drawing/2014/main" id="{2154128B-471E-0032-046E-E8668A0D76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948" y="1447859"/>
            <a:ext cx="10579510" cy="1979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7139" tIns="50513" rIns="97139" bIns="50513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>
              <a:spcBef>
                <a:spcPts val="1214"/>
              </a:spcBef>
            </a:pPr>
            <a:r>
              <a:rPr lang="pt-BR" altLang="pt-BR" sz="2800" dirty="0">
                <a:solidFill>
                  <a:schemeClr val="tx1"/>
                </a:solidFill>
              </a:rPr>
              <a:t>O primeiro passo é descobrir se uma instância da classe </a:t>
            </a:r>
            <a:r>
              <a:rPr lang="pt-BR" altLang="pt-BR" sz="2800" dirty="0" err="1">
                <a:solidFill>
                  <a:schemeClr val="tx1"/>
                </a:solidFill>
              </a:rPr>
              <a:t>java.io.File</a:t>
            </a:r>
            <a:r>
              <a:rPr lang="pt-BR" altLang="pt-BR" sz="2800" dirty="0">
                <a:solidFill>
                  <a:schemeClr val="tx1"/>
                </a:solidFill>
              </a:rPr>
              <a:t> aponta para algo que existe, para um diretório ou arquivo. </a:t>
            </a:r>
          </a:p>
          <a:p>
            <a:pPr algn="just">
              <a:spcBef>
                <a:spcPts val="1214"/>
              </a:spcBef>
            </a:pPr>
            <a:r>
              <a:rPr lang="pt-BR" altLang="pt-BR" sz="2800" dirty="0">
                <a:solidFill>
                  <a:schemeClr val="tx1"/>
                </a:solidFill>
              </a:rPr>
              <a:t>Os três métodos úteis são:</a:t>
            </a:r>
          </a:p>
        </p:txBody>
      </p:sp>
      <p:graphicFrame>
        <p:nvGraphicFramePr>
          <p:cNvPr id="8" name="Group 7">
            <a:extLst>
              <a:ext uri="{FF2B5EF4-FFF2-40B4-BE49-F238E27FC236}">
                <a16:creationId xmlns:a16="http://schemas.microsoft.com/office/drawing/2014/main" id="{A38B2302-2382-E06E-FDAC-B692540291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6855057"/>
              </p:ext>
            </p:extLst>
          </p:nvPr>
        </p:nvGraphicFramePr>
        <p:xfrm>
          <a:off x="5306577" y="3099752"/>
          <a:ext cx="4470342" cy="1396680"/>
        </p:xfrm>
        <a:graphic>
          <a:graphicData uri="http://schemas.openxmlformats.org/drawingml/2006/table">
            <a:tbl>
              <a:tblPr/>
              <a:tblGrid>
                <a:gridCol w="4470342">
                  <a:extLst>
                    <a:ext uri="{9D8B030D-6E8A-4147-A177-3AD203B41FA5}">
                      <a16:colId xmlns:a16="http://schemas.microsoft.com/office/drawing/2014/main" val="3532138826"/>
                    </a:ext>
                  </a:extLst>
                </a:gridCol>
              </a:tblGrid>
              <a:tr h="1391788">
                <a:tc>
                  <a:txBody>
                    <a:bodyPr/>
                    <a:lstStyle>
                      <a:lvl1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pt-B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1</a:t>
                      </a:r>
                      <a:r>
                        <a:rPr kumimoji="0" lang="en-US" altLang="pt-B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 </a:t>
                      </a:r>
                      <a:r>
                        <a:rPr kumimoji="0" lang="en-US" altLang="pt-BR" sz="2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7F0055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boolean</a:t>
                      </a:r>
                      <a:r>
                        <a:rPr kumimoji="0" lang="en-US" altLang="pt-BR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0055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 </a:t>
                      </a:r>
                      <a:r>
                        <a:rPr kumimoji="0" lang="en-US" altLang="pt-B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exists();</a:t>
                      </a:r>
                      <a:br>
                        <a:rPr kumimoji="0" lang="en-US" altLang="pt-B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</a:br>
                      <a:r>
                        <a:rPr kumimoji="0" lang="en-US" altLang="pt-B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2</a:t>
                      </a:r>
                      <a:r>
                        <a:rPr kumimoji="0" lang="en-US" altLang="pt-B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 </a:t>
                      </a:r>
                      <a:r>
                        <a:rPr kumimoji="0" lang="en-US" altLang="pt-BR" sz="2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7F0055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boolean</a:t>
                      </a:r>
                      <a:r>
                        <a:rPr kumimoji="0" lang="en-US" altLang="pt-BR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0055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 </a:t>
                      </a:r>
                      <a:r>
                        <a:rPr kumimoji="0" lang="en-US" altLang="pt-BR" sz="2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isDirectory</a:t>
                      </a:r>
                      <a:r>
                        <a:rPr kumimoji="0" lang="en-US" altLang="pt-B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();</a:t>
                      </a:r>
                      <a:br>
                        <a:rPr kumimoji="0" lang="en-US" altLang="pt-B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</a:br>
                      <a:r>
                        <a:rPr kumimoji="0" lang="en-US" altLang="pt-B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3</a:t>
                      </a:r>
                      <a:r>
                        <a:rPr kumimoji="0" lang="en-US" altLang="pt-B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 </a:t>
                      </a:r>
                      <a:r>
                        <a:rPr kumimoji="0" lang="en-US" altLang="pt-BR" sz="2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7F0055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boolean</a:t>
                      </a:r>
                      <a:r>
                        <a:rPr kumimoji="0" lang="en-US" altLang="pt-BR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0055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 </a:t>
                      </a:r>
                      <a:r>
                        <a:rPr kumimoji="0" lang="en-US" altLang="pt-BR" sz="2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isFile</a:t>
                      </a:r>
                      <a:r>
                        <a:rPr kumimoji="0" lang="en-US" altLang="pt-B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();</a:t>
                      </a:r>
                      <a:r>
                        <a:rPr kumimoji="0" lang="en-US" altLang="pt-BR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marL="97139" marR="97139" marT="50513" marB="5051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E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22207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59753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EA986-3742-710A-6D49-C673B4A5E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AB808-08AA-B6C6-000C-0BA75FF80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File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D1E0F67-E859-E7CC-43ED-2EC8D0088A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graphicFrame>
        <p:nvGraphicFramePr>
          <p:cNvPr id="9" name="Group 10">
            <a:extLst>
              <a:ext uri="{FF2B5EF4-FFF2-40B4-BE49-F238E27FC236}">
                <a16:creationId xmlns:a16="http://schemas.microsoft.com/office/drawing/2014/main" id="{C13A102E-10F6-92D1-55CE-31EDF0C699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5748525"/>
              </p:ext>
            </p:extLst>
          </p:nvPr>
        </p:nvGraphicFramePr>
        <p:xfrm>
          <a:off x="717755" y="1528529"/>
          <a:ext cx="10412361" cy="3497348"/>
        </p:xfrm>
        <a:graphic>
          <a:graphicData uri="http://schemas.openxmlformats.org/drawingml/2006/table">
            <a:tbl>
              <a:tblPr/>
              <a:tblGrid>
                <a:gridCol w="4685162">
                  <a:extLst>
                    <a:ext uri="{9D8B030D-6E8A-4147-A177-3AD203B41FA5}">
                      <a16:colId xmlns:a16="http://schemas.microsoft.com/office/drawing/2014/main" val="3428040203"/>
                    </a:ext>
                  </a:extLst>
                </a:gridCol>
                <a:gridCol w="5727199">
                  <a:extLst>
                    <a:ext uri="{9D8B030D-6E8A-4147-A177-3AD203B41FA5}">
                      <a16:colId xmlns:a16="http://schemas.microsoft.com/office/drawing/2014/main" val="1280617698"/>
                    </a:ext>
                  </a:extLst>
                </a:gridCol>
              </a:tblGrid>
              <a:tr h="889271">
                <a:tc>
                  <a:txBody>
                    <a:bodyPr/>
                    <a:lstStyle>
                      <a:lvl1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just" defTabSz="449263" rtl="0" eaLnBrk="1" fontAlgn="base" latinLnBrk="0" hangingPunct="1">
                        <a:lnSpc>
                          <a:spcPct val="94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pt-BR" altLang="pt-BR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Microsoft YaHei" panose="020B0503020204020204" pitchFamily="34" charset="-122"/>
                        </a:rPr>
                        <a:t>boolean</a:t>
                      </a: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pt-BR" altLang="pt-BR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Microsoft YaHei" panose="020B0503020204020204" pitchFamily="34" charset="-122"/>
                        </a:rPr>
                        <a:t>exists</a:t>
                      </a: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Microsoft YaHei" panose="020B0503020204020204" pitchFamily="34" charset="-122"/>
                        </a:rPr>
                        <a:t>()</a:t>
                      </a:r>
                    </a:p>
                  </a:txBody>
                  <a:tcPr marL="97139" marR="97139" marT="63672" marB="50513" horzOverflow="overflow">
                    <a:lnL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just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pt-BR" altLang="pt-B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icrosoft YaHei" panose="020B0503020204020204" pitchFamily="34" charset="-122"/>
                        </a:rPr>
                        <a:t>Retorna </a:t>
                      </a:r>
                      <a:r>
                        <a:rPr kumimoji="0" lang="pt-BR" altLang="pt-B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Microsoft YaHei" panose="020B0503020204020204" pitchFamily="34" charset="-122"/>
                        </a:rPr>
                        <a:t>true</a:t>
                      </a:r>
                      <a:r>
                        <a:rPr kumimoji="0" lang="pt-BR" altLang="pt-B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icrosoft YaHei" panose="020B0503020204020204" pitchFamily="34" charset="-122"/>
                        </a:rPr>
                        <a:t> se o nome especificado como o argumento para o construtor </a:t>
                      </a:r>
                      <a:r>
                        <a:rPr kumimoji="0" lang="pt-BR" altLang="pt-B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Microsoft YaHei" panose="020B0503020204020204" pitchFamily="34" charset="-122"/>
                        </a:rPr>
                        <a:t>File</a:t>
                      </a:r>
                      <a:r>
                        <a:rPr kumimoji="0" lang="pt-BR" altLang="pt-B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icrosoft YaHei" panose="020B0503020204020204" pitchFamily="34" charset="-122"/>
                        </a:rPr>
                        <a:t> é um arquivo ou diretório no caminho especificado; caso contrário, </a:t>
                      </a:r>
                      <a:r>
                        <a:rPr kumimoji="0" lang="pt-BR" altLang="pt-B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Microsoft YaHei" panose="020B0503020204020204" pitchFamily="34" charset="-122"/>
                        </a:rPr>
                        <a:t>false</a:t>
                      </a:r>
                      <a:r>
                        <a:rPr kumimoji="0" lang="pt-BR" altLang="pt-B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icrosoft YaHei" panose="020B0503020204020204" pitchFamily="34" charset="-122"/>
                        </a:rPr>
                        <a:t>.</a:t>
                      </a:r>
                    </a:p>
                  </a:txBody>
                  <a:tcPr marL="97139" marR="97139" marT="87797" marB="50513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266790"/>
                  </a:ext>
                </a:extLst>
              </a:tr>
              <a:tr h="627116">
                <a:tc>
                  <a:txBody>
                    <a:bodyPr/>
                    <a:lstStyle>
                      <a:lvl1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just" defTabSz="449263" rtl="0" eaLnBrk="1" fontAlgn="base" latinLnBrk="0" hangingPunct="1">
                        <a:lnSpc>
                          <a:spcPct val="94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pt-BR" altLang="pt-BR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Microsoft YaHei" panose="020B0503020204020204" pitchFamily="34" charset="-122"/>
                        </a:rPr>
                        <a:t>boolean</a:t>
                      </a: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pt-BR" altLang="pt-BR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Microsoft YaHei" panose="020B0503020204020204" pitchFamily="34" charset="-122"/>
                        </a:rPr>
                        <a:t>isDirectory</a:t>
                      </a: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Microsoft YaHei" panose="020B0503020204020204" pitchFamily="34" charset="-122"/>
                        </a:rPr>
                        <a:t>()</a:t>
                      </a:r>
                    </a:p>
                  </a:txBody>
                  <a:tcPr marL="97139" marR="97139" marT="63672" marB="50513" horzOverflow="overflow">
                    <a:lnL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just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pt-BR" altLang="pt-B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icrosoft YaHei" panose="020B0503020204020204" pitchFamily="34" charset="-122"/>
                        </a:rPr>
                        <a:t>Retorna </a:t>
                      </a:r>
                      <a:r>
                        <a:rPr kumimoji="0" lang="pt-BR" altLang="pt-B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Microsoft YaHei" panose="020B0503020204020204" pitchFamily="34" charset="-122"/>
                        </a:rPr>
                        <a:t>true</a:t>
                      </a:r>
                      <a:r>
                        <a:rPr kumimoji="0" lang="pt-BR" altLang="pt-B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icrosoft YaHei" panose="020B0503020204020204" pitchFamily="34" charset="-122"/>
                        </a:rPr>
                        <a:t> se o nome especificado como argumento para o construtor</a:t>
                      </a:r>
                      <a:r>
                        <a:rPr kumimoji="0" lang="pt-BR" altLang="pt-B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Microsoft YaHei" panose="020B0503020204020204" pitchFamily="34" charset="-122"/>
                        </a:rPr>
                        <a:t> File</a:t>
                      </a:r>
                      <a:r>
                        <a:rPr kumimoji="0" lang="pt-BR" altLang="pt-B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icrosoft YaHei" panose="020B0503020204020204" pitchFamily="34" charset="-122"/>
                        </a:rPr>
                        <a:t> é um diretório; caso contrário,</a:t>
                      </a:r>
                      <a:r>
                        <a:rPr kumimoji="0" lang="pt-BR" altLang="pt-B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Microsoft YaHei" panose="020B0503020204020204" pitchFamily="34" charset="-122"/>
                        </a:rPr>
                        <a:t> false</a:t>
                      </a:r>
                      <a:r>
                        <a:rPr kumimoji="0" lang="pt-BR" altLang="pt-B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icrosoft YaHei" panose="020B0503020204020204" pitchFamily="34" charset="-122"/>
                        </a:rPr>
                        <a:t>.</a:t>
                      </a:r>
                    </a:p>
                  </a:txBody>
                  <a:tcPr marL="97139" marR="97139" marT="87797" marB="50513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8113711"/>
                  </a:ext>
                </a:extLst>
              </a:tr>
              <a:tr h="645964">
                <a:tc>
                  <a:txBody>
                    <a:bodyPr/>
                    <a:lstStyle>
                      <a:lvl1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just" defTabSz="449263" rtl="0" eaLnBrk="1" fontAlgn="base" latinLnBrk="0" hangingPunct="1">
                        <a:lnSpc>
                          <a:spcPct val="94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pt-BR" altLang="pt-B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Microsoft YaHei" panose="020B0503020204020204" pitchFamily="34" charset="-122"/>
                        </a:rPr>
                        <a:t>boolean isFile()</a:t>
                      </a:r>
                    </a:p>
                  </a:txBody>
                  <a:tcPr marL="97139" marR="97139" marT="63672" marB="50513" horzOverflow="overflow">
                    <a:lnL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just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icrosoft YaHei" panose="020B0503020204020204" pitchFamily="34" charset="-122"/>
                        </a:rPr>
                        <a:t>Retorna </a:t>
                      </a:r>
                      <a:r>
                        <a:rPr kumimoji="0" lang="pt-BR" altLang="pt-BR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Microsoft YaHei" panose="020B0503020204020204" pitchFamily="34" charset="-122"/>
                        </a:rPr>
                        <a:t>true</a:t>
                      </a: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icrosoft YaHei" panose="020B0503020204020204" pitchFamily="34" charset="-122"/>
                        </a:rPr>
                        <a:t> se o nome especificado como argumento para o </a:t>
                      </a: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Microsoft YaHei" panose="020B0503020204020204" pitchFamily="34" charset="-122"/>
                        </a:rPr>
                        <a:t>File</a:t>
                      </a: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icrosoft YaHei" panose="020B0503020204020204" pitchFamily="34" charset="-122"/>
                        </a:rPr>
                        <a:t> construtor é um arquivo; caso contrário,</a:t>
                      </a: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Microsoft YaHei" panose="020B0503020204020204" pitchFamily="34" charset="-122"/>
                        </a:rPr>
                        <a:t> false</a:t>
                      </a: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icrosoft YaHei" panose="020B0503020204020204" pitchFamily="34" charset="-122"/>
                        </a:rPr>
                        <a:t>.</a:t>
                      </a:r>
                    </a:p>
                  </a:txBody>
                  <a:tcPr marL="97139" marR="97139" marT="87797" marB="50513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3797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5390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76372-C97D-3725-026D-856DF9404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4585A1-7408-97C8-BC43-3F92475D0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File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31F4EE5-9E6D-32FF-8A83-068FCA572B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3" name="Text Box 2">
            <a:extLst>
              <a:ext uri="{FF2B5EF4-FFF2-40B4-BE49-F238E27FC236}">
                <a16:creationId xmlns:a16="http://schemas.microsoft.com/office/drawing/2014/main" id="{A41B10CA-21D0-8A4A-7705-31DDEB334B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388" y="1275839"/>
            <a:ext cx="10511554" cy="899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7139" tIns="50513" rIns="97139" bIns="50513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>
              <a:spcBef>
                <a:spcPts val="1619"/>
              </a:spcBef>
            </a:pPr>
            <a:r>
              <a:rPr lang="pt-BR" altLang="pt-BR" sz="2590" dirty="0">
                <a:solidFill>
                  <a:schemeClr val="tx1"/>
                </a:solidFill>
              </a:rPr>
              <a:t>Outros métodos que podem ser úteis para checar a viabilidade de leitura e gravação são:</a:t>
            </a:r>
          </a:p>
        </p:txBody>
      </p:sp>
      <p:graphicFrame>
        <p:nvGraphicFramePr>
          <p:cNvPr id="5" name="Group 7">
            <a:extLst>
              <a:ext uri="{FF2B5EF4-FFF2-40B4-BE49-F238E27FC236}">
                <a16:creationId xmlns:a16="http://schemas.microsoft.com/office/drawing/2014/main" id="{56B157F5-5E07-2566-E87D-CD12F029FB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6558248"/>
              </p:ext>
            </p:extLst>
          </p:nvPr>
        </p:nvGraphicFramePr>
        <p:xfrm>
          <a:off x="3397545" y="2371679"/>
          <a:ext cx="4470342" cy="952879"/>
        </p:xfrm>
        <a:graphic>
          <a:graphicData uri="http://schemas.openxmlformats.org/drawingml/2006/table">
            <a:tbl>
              <a:tblPr/>
              <a:tblGrid>
                <a:gridCol w="4470342">
                  <a:extLst>
                    <a:ext uri="{9D8B030D-6E8A-4147-A177-3AD203B41FA5}">
                      <a16:colId xmlns:a16="http://schemas.microsoft.com/office/drawing/2014/main" val="1219989471"/>
                    </a:ext>
                  </a:extLst>
                </a:gridCol>
              </a:tblGrid>
              <a:tr h="949653">
                <a:tc>
                  <a:txBody>
                    <a:bodyPr/>
                    <a:lstStyle>
                      <a:lvl1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pt-B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1</a:t>
                      </a:r>
                      <a:r>
                        <a:rPr kumimoji="0" lang="en-US" altLang="pt-B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 </a:t>
                      </a:r>
                      <a:r>
                        <a:rPr kumimoji="0" lang="en-US" altLang="pt-BR" sz="2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7F0055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boolean</a:t>
                      </a:r>
                      <a:r>
                        <a:rPr kumimoji="0" lang="en-US" altLang="pt-BR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0055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 </a:t>
                      </a:r>
                      <a:r>
                        <a:rPr kumimoji="0" lang="en-US" altLang="pt-BR" sz="2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canRead</a:t>
                      </a:r>
                      <a:r>
                        <a:rPr kumimoji="0" lang="en-US" altLang="pt-B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();</a:t>
                      </a:r>
                      <a:br>
                        <a:rPr kumimoji="0" lang="en-US" altLang="pt-B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</a:br>
                      <a:r>
                        <a:rPr kumimoji="0" lang="en-US" altLang="pt-B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2</a:t>
                      </a:r>
                      <a:r>
                        <a:rPr kumimoji="0" lang="en-US" altLang="pt-B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 </a:t>
                      </a:r>
                      <a:r>
                        <a:rPr kumimoji="0" lang="en-US" altLang="pt-BR" sz="2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7F0055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boolean</a:t>
                      </a:r>
                      <a:r>
                        <a:rPr kumimoji="0" lang="en-US" altLang="pt-BR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0055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 </a:t>
                      </a:r>
                      <a:r>
                        <a:rPr kumimoji="0" lang="en-US" altLang="pt-BR" sz="2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canWrite</a:t>
                      </a:r>
                      <a:r>
                        <a:rPr kumimoji="0" lang="en-US" altLang="pt-B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();</a:t>
                      </a:r>
                    </a:p>
                  </a:txBody>
                  <a:tcPr marL="97139" marR="97139" marT="50513" marB="5051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E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0377662"/>
                  </a:ext>
                </a:extLst>
              </a:tr>
            </a:tbl>
          </a:graphicData>
        </a:graphic>
      </p:graphicFrame>
      <p:graphicFrame>
        <p:nvGraphicFramePr>
          <p:cNvPr id="6" name="Group 10">
            <a:extLst>
              <a:ext uri="{FF2B5EF4-FFF2-40B4-BE49-F238E27FC236}">
                <a16:creationId xmlns:a16="http://schemas.microsoft.com/office/drawing/2014/main" id="{FFD1C194-1A6F-C972-7E11-50AF66DE3A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6329001"/>
              </p:ext>
            </p:extLst>
          </p:nvPr>
        </p:nvGraphicFramePr>
        <p:xfrm>
          <a:off x="687387" y="3609338"/>
          <a:ext cx="10511553" cy="1521982"/>
        </p:xfrm>
        <a:graphic>
          <a:graphicData uri="http://schemas.openxmlformats.org/drawingml/2006/table">
            <a:tbl>
              <a:tblPr/>
              <a:tblGrid>
                <a:gridCol w="3759704">
                  <a:extLst>
                    <a:ext uri="{9D8B030D-6E8A-4147-A177-3AD203B41FA5}">
                      <a16:colId xmlns:a16="http://schemas.microsoft.com/office/drawing/2014/main" val="2844370689"/>
                    </a:ext>
                  </a:extLst>
                </a:gridCol>
                <a:gridCol w="6751849">
                  <a:extLst>
                    <a:ext uri="{9D8B030D-6E8A-4147-A177-3AD203B41FA5}">
                      <a16:colId xmlns:a16="http://schemas.microsoft.com/office/drawing/2014/main" val="2548255293"/>
                    </a:ext>
                  </a:extLst>
                </a:gridCol>
              </a:tblGrid>
              <a:tr h="697367">
                <a:tc>
                  <a:txBody>
                    <a:bodyPr/>
                    <a:lstStyle>
                      <a:lvl1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just" defTabSz="449263" rtl="0" eaLnBrk="1" fontAlgn="base" latinLnBrk="0" hangingPunct="1">
                        <a:lnSpc>
                          <a:spcPct val="94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pt-BR" altLang="pt-B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Microsoft YaHei" panose="020B0503020204020204" pitchFamily="34" charset="-122"/>
                        </a:rPr>
                        <a:t>boolean canRead()</a:t>
                      </a:r>
                    </a:p>
                  </a:txBody>
                  <a:tcPr marL="97139" marR="97139" marT="63672" marB="50513" horzOverflow="overflow">
                    <a:lnL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just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pt-BR" altLang="pt-B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icrosoft YaHei" panose="020B0503020204020204" pitchFamily="34" charset="-122"/>
                        </a:rPr>
                        <a:t>Retorna </a:t>
                      </a:r>
                      <a:r>
                        <a:rPr kumimoji="0" lang="pt-BR" altLang="pt-B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Microsoft YaHei" panose="020B0503020204020204" pitchFamily="34" charset="-122"/>
                        </a:rPr>
                        <a:t>true</a:t>
                      </a:r>
                      <a:r>
                        <a:rPr kumimoji="0" lang="pt-BR" altLang="pt-B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icrosoft YaHei" panose="020B0503020204020204" pitchFamily="34" charset="-122"/>
                        </a:rPr>
                        <a:t> se um arquivo for legível pelo aplicativo atual; </a:t>
                      </a:r>
                      <a:r>
                        <a:rPr kumimoji="0" lang="pt-BR" altLang="pt-B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Microsoft YaHei" panose="020B0503020204020204" pitchFamily="34" charset="-122"/>
                        </a:rPr>
                        <a:t>false</a:t>
                      </a:r>
                      <a:r>
                        <a:rPr kumimoji="0" lang="pt-BR" altLang="pt-B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icrosoft YaHei" panose="020B0503020204020204" pitchFamily="34" charset="-122"/>
                        </a:rPr>
                        <a:t>, caso contrário.</a:t>
                      </a:r>
                    </a:p>
                  </a:txBody>
                  <a:tcPr marL="97139" marR="97139" marT="87797" marB="50513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9397685"/>
                  </a:ext>
                </a:extLst>
              </a:tr>
              <a:tr h="627116">
                <a:tc>
                  <a:txBody>
                    <a:bodyPr/>
                    <a:lstStyle>
                      <a:lvl1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just" defTabSz="449263" rtl="0" eaLnBrk="1" fontAlgn="base" latinLnBrk="0" hangingPunct="1">
                        <a:lnSpc>
                          <a:spcPct val="94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pt-BR" altLang="pt-B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Microsoft YaHei" panose="020B0503020204020204" pitchFamily="34" charset="-122"/>
                        </a:rPr>
                        <a:t>boolean canWrite()</a:t>
                      </a:r>
                    </a:p>
                  </a:txBody>
                  <a:tcPr marL="97139" marR="97139" marT="63672" marB="50513" horzOverflow="overflow">
                    <a:lnL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just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icrosoft YaHei" panose="020B0503020204020204" pitchFamily="34" charset="-122"/>
                        </a:rPr>
                        <a:t>Retorna </a:t>
                      </a:r>
                      <a:r>
                        <a:rPr kumimoji="0" lang="pt-BR" altLang="pt-BR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Microsoft YaHei" panose="020B0503020204020204" pitchFamily="34" charset="-122"/>
                        </a:rPr>
                        <a:t>true</a:t>
                      </a: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icrosoft YaHei" panose="020B0503020204020204" pitchFamily="34" charset="-122"/>
                        </a:rPr>
                        <a:t> se um arquivo for </a:t>
                      </a:r>
                      <a:r>
                        <a:rPr kumimoji="0" lang="pt-BR" altLang="pt-BR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icrosoft YaHei" panose="020B0503020204020204" pitchFamily="34" charset="-122"/>
                        </a:rPr>
                        <a:t>gravavél</a:t>
                      </a: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icrosoft YaHei" panose="020B0503020204020204" pitchFamily="34" charset="-122"/>
                        </a:rPr>
                        <a:t> pelo aplicativo atual; </a:t>
                      </a: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Microsoft YaHei" panose="020B0503020204020204" pitchFamily="34" charset="-122"/>
                        </a:rPr>
                        <a:t>false</a:t>
                      </a: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icrosoft YaHei" panose="020B0503020204020204" pitchFamily="34" charset="-122"/>
                        </a:rPr>
                        <a:t>, caso contrário.</a:t>
                      </a:r>
                    </a:p>
                  </a:txBody>
                  <a:tcPr marL="97139" marR="97139" marT="87797" marB="50513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2634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36720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8C1D9-68FB-ACAD-E610-3E43DBCD6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57C883-9C09-0A2A-60E6-57982277F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File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7DBDC72-659E-C65C-131D-0720EE86A8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4" name="Text Box 2">
            <a:extLst>
              <a:ext uri="{FF2B5EF4-FFF2-40B4-BE49-F238E27FC236}">
                <a16:creationId xmlns:a16="http://schemas.microsoft.com/office/drawing/2014/main" id="{13847890-5CB9-F17E-0A1A-CC3EE426A2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202" y="1347156"/>
            <a:ext cx="8161075" cy="5005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7139" tIns="50513" rIns="97139" bIns="50513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>
              <a:spcBef>
                <a:spcPts val="1619"/>
              </a:spcBef>
            </a:pPr>
            <a:r>
              <a:rPr lang="pt-BR" altLang="pt-BR" sz="2590" dirty="0">
                <a:solidFill>
                  <a:schemeClr val="tx1"/>
                </a:solidFill>
              </a:rPr>
              <a:t>Métodos de criação de diretórios:</a:t>
            </a:r>
          </a:p>
        </p:txBody>
      </p:sp>
      <p:graphicFrame>
        <p:nvGraphicFramePr>
          <p:cNvPr id="8" name="Group 7">
            <a:extLst>
              <a:ext uri="{FF2B5EF4-FFF2-40B4-BE49-F238E27FC236}">
                <a16:creationId xmlns:a16="http://schemas.microsoft.com/office/drawing/2014/main" id="{6B150250-358B-7DC8-A504-6938F2CAF9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3050910"/>
              </p:ext>
            </p:extLst>
          </p:nvPr>
        </p:nvGraphicFramePr>
        <p:xfrm>
          <a:off x="3534378" y="2058138"/>
          <a:ext cx="4470343" cy="952879"/>
        </p:xfrm>
        <a:graphic>
          <a:graphicData uri="http://schemas.openxmlformats.org/drawingml/2006/table">
            <a:tbl>
              <a:tblPr/>
              <a:tblGrid>
                <a:gridCol w="4470343">
                  <a:extLst>
                    <a:ext uri="{9D8B030D-6E8A-4147-A177-3AD203B41FA5}">
                      <a16:colId xmlns:a16="http://schemas.microsoft.com/office/drawing/2014/main" val="1016176380"/>
                    </a:ext>
                  </a:extLst>
                </a:gridCol>
              </a:tblGrid>
              <a:tr h="949653">
                <a:tc>
                  <a:txBody>
                    <a:bodyPr/>
                    <a:lstStyle>
                      <a:lvl1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11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altLang="pt-B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1</a:t>
                      </a:r>
                      <a:r>
                        <a:rPr kumimoji="0" lang="en-US" altLang="pt-B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 </a:t>
                      </a:r>
                      <a:r>
                        <a:rPr kumimoji="0" lang="en-US" altLang="pt-BR" sz="2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7F0055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boolean</a:t>
                      </a:r>
                      <a:r>
                        <a:rPr kumimoji="0" lang="en-US" altLang="pt-BR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0055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 </a:t>
                      </a:r>
                      <a:r>
                        <a:rPr kumimoji="0" lang="en-US" altLang="pt-BR" sz="2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mkdir</a:t>
                      </a:r>
                      <a:r>
                        <a:rPr kumimoji="0" lang="en-US" altLang="pt-B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();</a:t>
                      </a:r>
                      <a:br>
                        <a:rPr kumimoji="0" lang="en-US" altLang="pt-B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</a:br>
                      <a:r>
                        <a:rPr kumimoji="0" lang="en-US" altLang="pt-B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80808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2</a:t>
                      </a:r>
                      <a:r>
                        <a:rPr kumimoji="0" lang="en-US" altLang="pt-B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 </a:t>
                      </a:r>
                      <a:r>
                        <a:rPr kumimoji="0" lang="en-US" altLang="pt-BR" sz="2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7F0055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boolean</a:t>
                      </a:r>
                      <a:r>
                        <a:rPr kumimoji="0" lang="en-US" altLang="pt-BR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0055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 </a:t>
                      </a:r>
                      <a:r>
                        <a:rPr kumimoji="0" lang="en-US" altLang="pt-BR" sz="2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mkdirs</a:t>
                      </a:r>
                      <a:r>
                        <a:rPr kumimoji="0" lang="en-US" altLang="pt-B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 pitchFamily="32" charset="0"/>
                          <a:ea typeface="Microsoft YaHei" panose="020B0503020204020204" pitchFamily="34" charset="-122"/>
                          <a:cs typeface="Arial Unicode MS" pitchFamily="32" charset="0"/>
                        </a:rPr>
                        <a:t>();</a:t>
                      </a:r>
                    </a:p>
                  </a:txBody>
                  <a:tcPr marL="97139" marR="97139" marT="50513" marB="5051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E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958388"/>
                  </a:ext>
                </a:extLst>
              </a:tr>
            </a:tbl>
          </a:graphicData>
        </a:graphic>
      </p:graphicFrame>
      <p:graphicFrame>
        <p:nvGraphicFramePr>
          <p:cNvPr id="9" name="Group 10">
            <a:extLst>
              <a:ext uri="{FF2B5EF4-FFF2-40B4-BE49-F238E27FC236}">
                <a16:creationId xmlns:a16="http://schemas.microsoft.com/office/drawing/2014/main" id="{A3FB63CB-D403-026C-5904-6F9D51722C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3708912"/>
              </p:ext>
            </p:extLst>
          </p:nvPr>
        </p:nvGraphicFramePr>
        <p:xfrm>
          <a:off x="740202" y="3429000"/>
          <a:ext cx="10389914" cy="1213504"/>
        </p:xfrm>
        <a:graphic>
          <a:graphicData uri="http://schemas.openxmlformats.org/drawingml/2006/table">
            <a:tbl>
              <a:tblPr/>
              <a:tblGrid>
                <a:gridCol w="3418843">
                  <a:extLst>
                    <a:ext uri="{9D8B030D-6E8A-4147-A177-3AD203B41FA5}">
                      <a16:colId xmlns:a16="http://schemas.microsoft.com/office/drawing/2014/main" val="2503601421"/>
                    </a:ext>
                  </a:extLst>
                </a:gridCol>
                <a:gridCol w="6971071">
                  <a:extLst>
                    <a:ext uri="{9D8B030D-6E8A-4147-A177-3AD203B41FA5}">
                      <a16:colId xmlns:a16="http://schemas.microsoft.com/office/drawing/2014/main" val="2789541683"/>
                    </a:ext>
                  </a:extLst>
                </a:gridCol>
              </a:tblGrid>
              <a:tr h="388949">
                <a:tc>
                  <a:txBody>
                    <a:bodyPr/>
                    <a:lstStyle>
                      <a:lvl1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just" defTabSz="449263" rtl="0" eaLnBrk="1" fontAlgn="base" latinLnBrk="0" hangingPunct="1">
                        <a:lnSpc>
                          <a:spcPct val="94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pt-BR" altLang="pt-B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Microsoft YaHei" panose="020B0503020204020204" pitchFamily="34" charset="-122"/>
                        </a:rPr>
                        <a:t>boolean mkdir()</a:t>
                      </a:r>
                    </a:p>
                  </a:txBody>
                  <a:tcPr marL="97139" marR="97139" marT="63672" marB="50513" horzOverflow="overflow">
                    <a:lnL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just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icrosoft YaHei" panose="020B0503020204020204" pitchFamily="34" charset="-122"/>
                        </a:rPr>
                        <a:t>Cria um diretório.</a:t>
                      </a:r>
                    </a:p>
                  </a:txBody>
                  <a:tcPr marL="97139" marR="97139" marT="87797" marB="50513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8682504"/>
                  </a:ext>
                </a:extLst>
              </a:tr>
              <a:tr h="699080">
                <a:tc>
                  <a:txBody>
                    <a:bodyPr/>
                    <a:lstStyle>
                      <a:lvl1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just" defTabSz="449263" rtl="0" eaLnBrk="1" fontAlgn="base" latinLnBrk="0" hangingPunct="1">
                        <a:lnSpc>
                          <a:spcPct val="94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pt-BR" altLang="pt-B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Microsoft YaHei" panose="020B0503020204020204" pitchFamily="34" charset="-122"/>
                        </a:rPr>
                        <a:t>boolean mkdirs()</a:t>
                      </a:r>
                    </a:p>
                  </a:txBody>
                  <a:tcPr marL="97139" marR="97139" marT="63672" marB="50513" horzOverflow="overflow">
                    <a:lnL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just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icrosoft YaHei" panose="020B0503020204020204" pitchFamily="34" charset="-122"/>
                        </a:rPr>
                        <a:t>Cria todos os diretórios necessários para chegar no caminho apontado pelo objeto </a:t>
                      </a:r>
                    </a:p>
                  </a:txBody>
                  <a:tcPr marL="97139" marR="97139" marT="87797" marB="50513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85755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88280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3099D-1526-9692-ADD3-18C3936A4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5B3D57-618A-15F7-FB8E-8F9C238D6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File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4FC8B5A-C2C5-18F2-F840-662C0DF9D3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DD5A9119-72EF-89C8-A4D7-1B6ECEA63D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3740122"/>
              </p:ext>
            </p:extLst>
          </p:nvPr>
        </p:nvGraphicFramePr>
        <p:xfrm>
          <a:off x="906668" y="1390741"/>
          <a:ext cx="10233281" cy="4456315"/>
        </p:xfrm>
        <a:graphic>
          <a:graphicData uri="http://schemas.openxmlformats.org/drawingml/2006/table">
            <a:tbl>
              <a:tblPr/>
              <a:tblGrid>
                <a:gridCol w="3822252">
                  <a:extLst>
                    <a:ext uri="{9D8B030D-6E8A-4147-A177-3AD203B41FA5}">
                      <a16:colId xmlns:a16="http://schemas.microsoft.com/office/drawing/2014/main" val="3425146721"/>
                    </a:ext>
                  </a:extLst>
                </a:gridCol>
                <a:gridCol w="6411029">
                  <a:extLst>
                    <a:ext uri="{9D8B030D-6E8A-4147-A177-3AD203B41FA5}">
                      <a16:colId xmlns:a16="http://schemas.microsoft.com/office/drawing/2014/main" val="2320374155"/>
                    </a:ext>
                  </a:extLst>
                </a:gridCol>
              </a:tblGrid>
              <a:tr h="585543">
                <a:tc>
                  <a:txBody>
                    <a:bodyPr/>
                    <a:lstStyle>
                      <a:lvl1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just" defTabSz="449263" rtl="0" eaLnBrk="1" fontAlgn="base" latinLnBrk="0" hangingPunct="1">
                        <a:lnSpc>
                          <a:spcPct val="94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pt-BR" altLang="pt-BR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Microsoft YaHei" panose="020B0503020204020204" pitchFamily="34" charset="-122"/>
                        </a:rPr>
                        <a:t>boolean</a:t>
                      </a: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pt-BR" altLang="pt-BR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Microsoft YaHei" panose="020B0503020204020204" pitchFamily="34" charset="-122"/>
                        </a:rPr>
                        <a:t>renameTo</a:t>
                      </a: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Microsoft YaHei" panose="020B0503020204020204" pitchFamily="34" charset="-122"/>
                        </a:rPr>
                        <a:t>()</a:t>
                      </a:r>
                    </a:p>
                  </a:txBody>
                  <a:tcPr marL="97139" marR="97139" marT="63672" marB="50513" horzOverflow="overflow">
                    <a:lnL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just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pt-BR" altLang="pt-B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icrosoft YaHei" panose="020B0503020204020204" pitchFamily="34" charset="-122"/>
                        </a:rPr>
                        <a:t>Renomeia o objeto </a:t>
                      </a:r>
                      <a:r>
                        <a:rPr kumimoji="0" lang="pt-BR" altLang="pt-B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Microsoft YaHei" panose="020B0503020204020204" pitchFamily="34" charset="-122"/>
                        </a:rPr>
                        <a:t>File</a:t>
                      </a:r>
                      <a:r>
                        <a:rPr kumimoji="0" lang="pt-BR" altLang="pt-B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icrosoft YaHei" panose="020B0503020204020204" pitchFamily="34" charset="-122"/>
                        </a:rPr>
                        <a:t>.</a:t>
                      </a:r>
                    </a:p>
                  </a:txBody>
                  <a:tcPr marL="97139" marR="97139" marT="87797" marB="50513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1802455"/>
                  </a:ext>
                </a:extLst>
              </a:tr>
              <a:tr h="515246">
                <a:tc>
                  <a:txBody>
                    <a:bodyPr/>
                    <a:lstStyle>
                      <a:lvl1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just" defTabSz="449263" rtl="0" eaLnBrk="1" fontAlgn="base" latinLnBrk="0" hangingPunct="1">
                        <a:lnSpc>
                          <a:spcPct val="94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pt-BR" altLang="pt-B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Microsoft YaHei" panose="020B0503020204020204" pitchFamily="34" charset="-122"/>
                        </a:rPr>
                        <a:t>boolean delete()</a:t>
                      </a:r>
                    </a:p>
                  </a:txBody>
                  <a:tcPr marL="97139" marR="97139" marT="63672" marB="50513" horzOverflow="overflow">
                    <a:lnL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just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icrosoft YaHei" panose="020B0503020204020204" pitchFamily="34" charset="-122"/>
                        </a:rPr>
                        <a:t>Remove o objeto </a:t>
                      </a: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Microsoft YaHei" panose="020B0503020204020204" pitchFamily="34" charset="-122"/>
                        </a:rPr>
                        <a:t>File</a:t>
                      </a: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icrosoft YaHei" panose="020B0503020204020204" pitchFamily="34" charset="-122"/>
                        </a:rPr>
                        <a:t>.</a:t>
                      </a:r>
                    </a:p>
                  </a:txBody>
                  <a:tcPr marL="97139" marR="97139" marT="87797" marB="50513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5133960"/>
                  </a:ext>
                </a:extLst>
              </a:tr>
              <a:tr h="1171461">
                <a:tc>
                  <a:txBody>
                    <a:bodyPr/>
                    <a:lstStyle>
                      <a:lvl1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just" defTabSz="449263" rtl="0" eaLnBrk="1" fontAlgn="base" latinLnBrk="0" hangingPunct="1">
                        <a:lnSpc>
                          <a:spcPct val="94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pt-BR" altLang="pt-B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Microsoft YaHei" panose="020B0503020204020204" pitchFamily="34" charset="-122"/>
                        </a:rPr>
                        <a:t>long length()</a:t>
                      </a:r>
                    </a:p>
                  </a:txBody>
                  <a:tcPr marL="97139" marR="97139" marT="63672" marB="50513" horzOverflow="overflow">
                    <a:lnL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just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icrosoft YaHei" panose="020B0503020204020204" pitchFamily="34" charset="-122"/>
                        </a:rPr>
                        <a:t>Retorna o comprimento do arquivo, em bytes. Se o objeto </a:t>
                      </a: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Microsoft YaHei" panose="020B0503020204020204" pitchFamily="34" charset="-122"/>
                        </a:rPr>
                        <a:t>File</a:t>
                      </a: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icrosoft YaHei" panose="020B0503020204020204" pitchFamily="34" charset="-122"/>
                        </a:rPr>
                        <a:t> representa um diretório, 0 é retornado.</a:t>
                      </a:r>
                    </a:p>
                  </a:txBody>
                  <a:tcPr marL="97139" marR="97139" marT="87797" marB="50513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877453"/>
                  </a:ext>
                </a:extLst>
              </a:tr>
              <a:tr h="2184065">
                <a:tc>
                  <a:txBody>
                    <a:bodyPr/>
                    <a:lstStyle>
                      <a:lvl1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just" defTabSz="449263" rtl="0" eaLnBrk="1" fontAlgn="base" latinLnBrk="0" hangingPunct="1">
                        <a:lnSpc>
                          <a:spcPct val="94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pt-BR" altLang="pt-B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Microsoft YaHei" panose="020B0503020204020204" pitchFamily="34" charset="-122"/>
                        </a:rPr>
                        <a:t>long lastModified()</a:t>
                      </a:r>
                    </a:p>
                  </a:txBody>
                  <a:tcPr marL="97139" marR="97139" marT="63672" marB="50513" horzOverflow="overflow">
                    <a:lnL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just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icrosoft YaHei" panose="020B0503020204020204" pitchFamily="34" charset="-122"/>
                        </a:rPr>
                        <a:t>Retorna uma representação dependente da plataforma da data/hora em que o arquivo ou diretório dor modificado pela última vez. O valor retornado é útil somente para comparação com outros valores retornados por esse método.</a:t>
                      </a:r>
                    </a:p>
                  </a:txBody>
                  <a:tcPr marL="97139" marR="97139" marT="87797" marB="50513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19447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24437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A37B3-5A7D-926F-43A2-42AED12C6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19AB1D-A0F6-A7AA-824B-C74E363DA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File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202D8CB-5F35-9413-D3C7-8472F9ABF3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E767035F-573F-C482-23AE-B65109648C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6037553"/>
              </p:ext>
            </p:extLst>
          </p:nvPr>
        </p:nvGraphicFramePr>
        <p:xfrm>
          <a:off x="798512" y="1610186"/>
          <a:ext cx="10587242" cy="3171910"/>
        </p:xfrm>
        <a:graphic>
          <a:graphicData uri="http://schemas.openxmlformats.org/drawingml/2006/table">
            <a:tbl>
              <a:tblPr/>
              <a:tblGrid>
                <a:gridCol w="4973023">
                  <a:extLst>
                    <a:ext uri="{9D8B030D-6E8A-4147-A177-3AD203B41FA5}">
                      <a16:colId xmlns:a16="http://schemas.microsoft.com/office/drawing/2014/main" val="3816297016"/>
                    </a:ext>
                  </a:extLst>
                </a:gridCol>
                <a:gridCol w="5614219">
                  <a:extLst>
                    <a:ext uri="{9D8B030D-6E8A-4147-A177-3AD203B41FA5}">
                      <a16:colId xmlns:a16="http://schemas.microsoft.com/office/drawing/2014/main" val="2331914299"/>
                    </a:ext>
                  </a:extLst>
                </a:gridCol>
              </a:tblGrid>
              <a:tr h="889271">
                <a:tc>
                  <a:txBody>
                    <a:bodyPr/>
                    <a:lstStyle>
                      <a:lvl1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just" defTabSz="449263" rtl="0" eaLnBrk="1" fontAlgn="base" latinLnBrk="0" hangingPunct="1">
                        <a:lnSpc>
                          <a:spcPct val="94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pt-BR" altLang="pt-BR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Microsoft YaHei" panose="020B0503020204020204" pitchFamily="34" charset="-122"/>
                        </a:rPr>
                        <a:t>boolean</a:t>
                      </a: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pt-BR" altLang="pt-BR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Microsoft YaHei" panose="020B0503020204020204" pitchFamily="34" charset="-122"/>
                        </a:rPr>
                        <a:t>isAbsolute</a:t>
                      </a: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Microsoft YaHei" panose="020B0503020204020204" pitchFamily="34" charset="-122"/>
                        </a:rPr>
                        <a:t>()</a:t>
                      </a:r>
                    </a:p>
                  </a:txBody>
                  <a:tcPr marL="97139" marR="97139" marT="63672" marB="50513" horzOverflow="overflow">
                    <a:lnL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just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icrosoft YaHei" panose="020B0503020204020204" pitchFamily="34" charset="-122"/>
                        </a:rPr>
                        <a:t>Retorna </a:t>
                      </a:r>
                      <a:r>
                        <a:rPr kumimoji="0" lang="pt-BR" altLang="pt-BR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Microsoft YaHei" panose="020B0503020204020204" pitchFamily="34" charset="-122"/>
                        </a:rPr>
                        <a:t>true</a:t>
                      </a: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icrosoft YaHei" panose="020B0503020204020204" pitchFamily="34" charset="-122"/>
                        </a:rPr>
                        <a:t> se os argumentos especificados para o construtor </a:t>
                      </a: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Microsoft YaHei" panose="020B0503020204020204" pitchFamily="34" charset="-122"/>
                        </a:rPr>
                        <a:t>File </a:t>
                      </a: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icrosoft YaHei" panose="020B0503020204020204" pitchFamily="34" charset="-122"/>
                        </a:rPr>
                        <a:t>indicam o caminho absoluto para um arquivo ou diretório; caso contrário, </a:t>
                      </a: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Microsoft YaHei" panose="020B0503020204020204" pitchFamily="34" charset="-122"/>
                        </a:rPr>
                        <a:t>false</a:t>
                      </a: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icrosoft YaHei" panose="020B0503020204020204" pitchFamily="34" charset="-122"/>
                        </a:rPr>
                        <a:t>.</a:t>
                      </a:r>
                    </a:p>
                  </a:txBody>
                  <a:tcPr marL="97139" marR="97139" marT="87797" marB="50513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7858041"/>
                  </a:ext>
                </a:extLst>
              </a:tr>
              <a:tr h="627116">
                <a:tc>
                  <a:txBody>
                    <a:bodyPr/>
                    <a:lstStyle>
                      <a:lvl1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just" defTabSz="449263" rtl="0" eaLnBrk="1" fontAlgn="base" latinLnBrk="0" hangingPunct="1">
                        <a:lnSpc>
                          <a:spcPct val="94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pt-BR" altLang="pt-B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Microsoft YaHei" panose="020B0503020204020204" pitchFamily="34" charset="-122"/>
                        </a:rPr>
                        <a:t>String getAbsolutePath()</a:t>
                      </a:r>
                    </a:p>
                  </a:txBody>
                  <a:tcPr marL="97139" marR="97139" marT="63672" marB="50513" horzOverflow="overflow">
                    <a:lnL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just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icrosoft YaHei" panose="020B0503020204020204" pitchFamily="34" charset="-122"/>
                        </a:rPr>
                        <a:t>Retorna uma </a:t>
                      </a:r>
                      <a:r>
                        <a:rPr kumimoji="0" lang="pt-BR" altLang="pt-BR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icrosoft YaHei" panose="020B0503020204020204" pitchFamily="34" charset="-122"/>
                        </a:rPr>
                        <a:t>string</a:t>
                      </a: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icrosoft YaHei" panose="020B0503020204020204" pitchFamily="34" charset="-122"/>
                        </a:rPr>
                        <a:t> com o caminho absoluto do arquivo ou diretório.</a:t>
                      </a:r>
                    </a:p>
                  </a:txBody>
                  <a:tcPr marL="97139" marR="97139" marT="87797" marB="50513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2275877"/>
                  </a:ext>
                </a:extLst>
              </a:tr>
              <a:tr h="365511">
                <a:tc>
                  <a:txBody>
                    <a:bodyPr/>
                    <a:lstStyle>
                      <a:lvl1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just" defTabSz="449263" rtl="0" eaLnBrk="1" fontAlgn="base" latinLnBrk="0" hangingPunct="1">
                        <a:lnSpc>
                          <a:spcPct val="94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pt-BR" altLang="pt-B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Microsoft YaHei" panose="020B0503020204020204" pitchFamily="34" charset="-122"/>
                        </a:rPr>
                        <a:t>String getName()</a:t>
                      </a:r>
                    </a:p>
                  </a:txBody>
                  <a:tcPr marL="97139" marR="97139" marT="63672" marB="50513" horzOverflow="overflow">
                    <a:lnL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just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icrosoft YaHei" panose="020B0503020204020204" pitchFamily="34" charset="-122"/>
                        </a:rPr>
                        <a:t>Retorna uma </a:t>
                      </a:r>
                      <a:r>
                        <a:rPr kumimoji="0" lang="pt-BR" altLang="pt-BR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icrosoft YaHei" panose="020B0503020204020204" pitchFamily="34" charset="-122"/>
                        </a:rPr>
                        <a:t>string</a:t>
                      </a: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icrosoft YaHei" panose="020B0503020204020204" pitchFamily="34" charset="-122"/>
                        </a:rPr>
                        <a:t> com o nome do arquivo ou diretório.</a:t>
                      </a:r>
                    </a:p>
                  </a:txBody>
                  <a:tcPr marL="97139" marR="97139" marT="87797" marB="50513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80788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69289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D312A-3525-C129-BB8B-FBFD5A0F2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2291D-A731-F305-6E97-3E344C61F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File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573900A-7B9D-E92E-A61A-CA6E09B8CE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graphicFrame>
        <p:nvGraphicFramePr>
          <p:cNvPr id="3" name="Group 7">
            <a:extLst>
              <a:ext uri="{FF2B5EF4-FFF2-40B4-BE49-F238E27FC236}">
                <a16:creationId xmlns:a16="http://schemas.microsoft.com/office/drawing/2014/main" id="{EF796571-FDDC-FDA9-E3D8-7A662ABE34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782939"/>
              </p:ext>
            </p:extLst>
          </p:nvPr>
        </p:nvGraphicFramePr>
        <p:xfrm>
          <a:off x="740202" y="1833380"/>
          <a:ext cx="10380082" cy="2868317"/>
        </p:xfrm>
        <a:graphic>
          <a:graphicData uri="http://schemas.openxmlformats.org/drawingml/2006/table">
            <a:tbl>
              <a:tblPr/>
              <a:tblGrid>
                <a:gridCol w="3877084">
                  <a:extLst>
                    <a:ext uri="{9D8B030D-6E8A-4147-A177-3AD203B41FA5}">
                      <a16:colId xmlns:a16="http://schemas.microsoft.com/office/drawing/2014/main" val="1324333272"/>
                    </a:ext>
                  </a:extLst>
                </a:gridCol>
                <a:gridCol w="6502998">
                  <a:extLst>
                    <a:ext uri="{9D8B030D-6E8A-4147-A177-3AD203B41FA5}">
                      <a16:colId xmlns:a16="http://schemas.microsoft.com/office/drawing/2014/main" val="2070931216"/>
                    </a:ext>
                  </a:extLst>
                </a:gridCol>
              </a:tblGrid>
              <a:tr h="623689">
                <a:tc>
                  <a:txBody>
                    <a:bodyPr/>
                    <a:lstStyle>
                      <a:lvl1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just" defTabSz="449263" rtl="0" eaLnBrk="1" fontAlgn="base" latinLnBrk="0" hangingPunct="1">
                        <a:lnSpc>
                          <a:spcPct val="94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pt-BR" altLang="pt-B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Microsoft YaHei" panose="020B0503020204020204" pitchFamily="34" charset="-122"/>
                        </a:rPr>
                        <a:t>String getPath()</a:t>
                      </a:r>
                    </a:p>
                  </a:txBody>
                  <a:tcPr marL="97139" marR="97139" marT="63672" marB="50513" horzOverflow="overflow">
                    <a:lnL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just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pt-BR" altLang="pt-B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icrosoft YaHei" panose="020B0503020204020204" pitchFamily="34" charset="-122"/>
                        </a:rPr>
                        <a:t>Retorna uma string com o caminho do arquivo ou diretório.</a:t>
                      </a:r>
                    </a:p>
                  </a:txBody>
                  <a:tcPr marL="97139" marR="97139" marT="87797" marB="50513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8745448"/>
                  </a:ext>
                </a:extLst>
              </a:tr>
              <a:tr h="889271">
                <a:tc>
                  <a:txBody>
                    <a:bodyPr/>
                    <a:lstStyle>
                      <a:lvl1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just" defTabSz="449263" rtl="0" eaLnBrk="1" fontAlgn="base" latinLnBrk="0" hangingPunct="1">
                        <a:lnSpc>
                          <a:spcPct val="94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pt-BR" altLang="pt-B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Microsoft YaHei" panose="020B0503020204020204" pitchFamily="34" charset="-122"/>
                        </a:rPr>
                        <a:t>String getParent()</a:t>
                      </a:r>
                    </a:p>
                  </a:txBody>
                  <a:tcPr marL="97139" marR="97139" marT="63672" marB="50513" horzOverflow="overflow">
                    <a:lnL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just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pt-BR" altLang="pt-B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icrosoft YaHei" panose="020B0503020204020204" pitchFamily="34" charset="-122"/>
                        </a:rPr>
                        <a:t>Retorna uma string com o diretório-pai do arquivo ou diretório (isto é, o diretório em que o arquivo ou diretório pode ser localizado).</a:t>
                      </a:r>
                    </a:p>
                  </a:txBody>
                  <a:tcPr marL="97139" marR="97139" marT="87797" marB="50513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5509443"/>
                  </a:ext>
                </a:extLst>
              </a:tr>
              <a:tr h="889271">
                <a:tc>
                  <a:txBody>
                    <a:bodyPr/>
                    <a:lstStyle>
                      <a:lvl1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just" defTabSz="449263" rtl="0" eaLnBrk="1" fontAlgn="base" latinLnBrk="0" hangingPunct="1">
                        <a:lnSpc>
                          <a:spcPct val="94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pt-BR" altLang="pt-B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Microsoft YaHei" panose="020B0503020204020204" pitchFamily="34" charset="-122"/>
                        </a:rPr>
                        <a:t>String[] list()</a:t>
                      </a:r>
                    </a:p>
                  </a:txBody>
                  <a:tcPr marL="97139" marR="97139" marT="63672" marB="50513" horzOverflow="overflow">
                    <a:lnL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1pPr>
                      <a:lvl2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2pPr>
                      <a:lvl3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3pPr>
                      <a:lvl4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4pPr>
                      <a:lvl5pPr eaLnBrk="0" hangingPunct="0">
                        <a:spcBef>
                          <a:spcPts val="35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 sz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</a:defRPr>
                      </a:lvl9pPr>
                    </a:lstStyle>
                    <a:p>
                      <a:pPr marL="0" marR="0" lvl="0" indent="0" algn="just" defTabSz="449263" rtl="0" eaLnBrk="1" fontAlgn="base" latinLnBrk="0" hangingPunct="1">
                        <a:lnSpc>
                          <a:spcPct val="83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icrosoft YaHei" panose="020B0503020204020204" pitchFamily="34" charset="-122"/>
                        </a:rPr>
                        <a:t>Retorna um </a:t>
                      </a:r>
                      <a:r>
                        <a:rPr kumimoji="0" lang="pt-BR" altLang="pt-BR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icrosoft YaHei" panose="020B0503020204020204" pitchFamily="34" charset="-122"/>
                        </a:rPr>
                        <a:t>array</a:t>
                      </a: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icrosoft YaHei" panose="020B0503020204020204" pitchFamily="34" charset="-122"/>
                        </a:rPr>
                        <a:t> de </a:t>
                      </a:r>
                      <a:r>
                        <a:rPr kumimoji="0" lang="pt-BR" altLang="pt-BR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icrosoft YaHei" panose="020B0503020204020204" pitchFamily="34" charset="-122"/>
                        </a:rPr>
                        <a:t>strings</a:t>
                      </a: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icrosoft YaHei" panose="020B0503020204020204" pitchFamily="34" charset="-122"/>
                        </a:rPr>
                        <a:t> que representa o conteúdo de um diretório. Retorna </a:t>
                      </a:r>
                      <a:r>
                        <a:rPr kumimoji="0" lang="pt-BR" altLang="pt-BR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Microsoft YaHei" panose="020B0503020204020204" pitchFamily="34" charset="-122"/>
                        </a:rPr>
                        <a:t>null</a:t>
                      </a: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icrosoft YaHei" panose="020B0503020204020204" pitchFamily="34" charset="-122"/>
                        </a:rPr>
                        <a:t> se o objeto </a:t>
                      </a: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Microsoft YaHei" panose="020B0503020204020204" pitchFamily="34" charset="-122"/>
                        </a:rPr>
                        <a:t>File</a:t>
                      </a: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Microsoft YaHei" panose="020B0503020204020204" pitchFamily="34" charset="-122"/>
                        </a:rPr>
                        <a:t> não representar um diretório.</a:t>
                      </a:r>
                    </a:p>
                  </a:txBody>
                  <a:tcPr marL="97139" marR="97139" marT="87797" marB="50513" horzOverflow="overflow">
                    <a:lnL w="57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29060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27205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9B0D3-0416-77CB-1A54-C358E0AEE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6C09F3-961C-7604-8728-C6F6A4432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Classes Base de </a:t>
            </a:r>
            <a:r>
              <a:rPr lang="pt-BR" b="1" dirty="0" err="1"/>
              <a:t>Streams</a:t>
            </a:r>
            <a:br>
              <a:rPr lang="pt-BR" b="1" dirty="0"/>
            </a:br>
            <a:endParaRPr lang="pt-BR" b="1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EBF90B4-8754-050F-389E-2B4B90ADDD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pic>
        <p:nvPicPr>
          <p:cNvPr id="4" name="Google Shape;114;p16" descr="image.png">
            <a:extLst>
              <a:ext uri="{FF2B5EF4-FFF2-40B4-BE49-F238E27FC236}">
                <a16:creationId xmlns:a16="http://schemas.microsoft.com/office/drawing/2014/main" id="{365A9C9D-FCFD-C4E5-F6EF-75B9A9067FE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6890" y="1495885"/>
            <a:ext cx="3462337" cy="4047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5;p16" descr="image.png">
            <a:extLst>
              <a:ext uri="{FF2B5EF4-FFF2-40B4-BE49-F238E27FC236}">
                <a16:creationId xmlns:a16="http://schemas.microsoft.com/office/drawing/2014/main" id="{0F965CB6-7337-34EC-CC08-AC5F5A15A13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44977" y="1495885"/>
            <a:ext cx="3552825" cy="4047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16;p16" descr="image.png">
            <a:extLst>
              <a:ext uri="{FF2B5EF4-FFF2-40B4-BE49-F238E27FC236}">
                <a16:creationId xmlns:a16="http://schemas.microsoft.com/office/drawing/2014/main" id="{8FD0B2E8-E9A2-454D-2C46-66747BCCE43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83552" y="1495885"/>
            <a:ext cx="3462337" cy="404797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17;p16">
            <a:extLst>
              <a:ext uri="{FF2B5EF4-FFF2-40B4-BE49-F238E27FC236}">
                <a16:creationId xmlns:a16="http://schemas.microsoft.com/office/drawing/2014/main" id="{AA85F35C-A5C5-7614-DA3C-12B00F106B3B}"/>
              </a:ext>
            </a:extLst>
          </p:cNvPr>
          <p:cNvSpPr txBox="1"/>
          <p:nvPr/>
        </p:nvSpPr>
        <p:spPr>
          <a:xfrm>
            <a:off x="810381" y="2638885"/>
            <a:ext cx="283535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FileInputStream</a:t>
            </a:r>
            <a:endParaRPr/>
          </a:p>
        </p:txBody>
      </p:sp>
      <p:sp>
        <p:nvSpPr>
          <p:cNvPr id="14" name="Google Shape;118;p16">
            <a:extLst>
              <a:ext uri="{FF2B5EF4-FFF2-40B4-BE49-F238E27FC236}">
                <a16:creationId xmlns:a16="http://schemas.microsoft.com/office/drawing/2014/main" id="{2C1E4470-48A9-4AB4-07C1-3F7A53991843}"/>
              </a:ext>
            </a:extLst>
          </p:cNvPr>
          <p:cNvSpPr txBox="1"/>
          <p:nvPr/>
        </p:nvSpPr>
        <p:spPr>
          <a:xfrm>
            <a:off x="877890" y="3238960"/>
            <a:ext cx="2700337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Lê dados de um arquivo como um fluxo de bytes brutos. Essencial para leitura de arquivos existentes.</a:t>
            </a:r>
            <a:endParaRPr sz="2000"/>
          </a:p>
        </p:txBody>
      </p:sp>
      <p:sp>
        <p:nvSpPr>
          <p:cNvPr id="15" name="Google Shape;119;p16">
            <a:extLst>
              <a:ext uri="{FF2B5EF4-FFF2-40B4-BE49-F238E27FC236}">
                <a16:creationId xmlns:a16="http://schemas.microsoft.com/office/drawing/2014/main" id="{B7A65D93-216A-F93E-1A84-16DE1280470B}"/>
              </a:ext>
            </a:extLst>
          </p:cNvPr>
          <p:cNvSpPr txBox="1"/>
          <p:nvPr/>
        </p:nvSpPr>
        <p:spPr>
          <a:xfrm>
            <a:off x="4556206" y="2638885"/>
            <a:ext cx="293036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FileOutputStream</a:t>
            </a:r>
            <a:endParaRPr/>
          </a:p>
        </p:txBody>
      </p:sp>
      <p:sp>
        <p:nvSpPr>
          <p:cNvPr id="16" name="Google Shape;120;p16">
            <a:extLst>
              <a:ext uri="{FF2B5EF4-FFF2-40B4-BE49-F238E27FC236}">
                <a16:creationId xmlns:a16="http://schemas.microsoft.com/office/drawing/2014/main" id="{B409147E-7A27-21EF-0E55-8F06819FE6A3}"/>
              </a:ext>
            </a:extLst>
          </p:cNvPr>
          <p:cNvSpPr txBox="1"/>
          <p:nvPr/>
        </p:nvSpPr>
        <p:spPr>
          <a:xfrm>
            <a:off x="4625977" y="3238960"/>
            <a:ext cx="2790825" cy="155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Escreve bytes em um arquivo. Cria o arquivo se ele não existir ou sobrescreve o conteúdo.</a:t>
            </a:r>
            <a:endParaRPr sz="2000"/>
          </a:p>
        </p:txBody>
      </p:sp>
      <p:sp>
        <p:nvSpPr>
          <p:cNvPr id="17" name="Google Shape;121;p16">
            <a:extLst>
              <a:ext uri="{FF2B5EF4-FFF2-40B4-BE49-F238E27FC236}">
                <a16:creationId xmlns:a16="http://schemas.microsoft.com/office/drawing/2014/main" id="{072D2A9B-33FC-341E-3289-E182D1930F4E}"/>
              </a:ext>
            </a:extLst>
          </p:cNvPr>
          <p:cNvSpPr txBox="1"/>
          <p:nvPr/>
        </p:nvSpPr>
        <p:spPr>
          <a:xfrm>
            <a:off x="8397044" y="2638885"/>
            <a:ext cx="2835354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Buffered Streams</a:t>
            </a:r>
            <a:endParaRPr/>
          </a:p>
        </p:txBody>
      </p:sp>
      <p:sp>
        <p:nvSpPr>
          <p:cNvPr id="18" name="Google Shape;122;p16">
            <a:extLst>
              <a:ext uri="{FF2B5EF4-FFF2-40B4-BE49-F238E27FC236}">
                <a16:creationId xmlns:a16="http://schemas.microsoft.com/office/drawing/2014/main" id="{89050D50-8FD0-7D4B-8FFD-D00FAC72469B}"/>
              </a:ext>
            </a:extLst>
          </p:cNvPr>
          <p:cNvSpPr txBox="1"/>
          <p:nvPr/>
        </p:nvSpPr>
        <p:spPr>
          <a:xfrm>
            <a:off x="8464551" y="3229584"/>
            <a:ext cx="2700337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Encapsulam</a:t>
            </a:r>
            <a:r>
              <a:rPr lang="en-US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outros streams para </a:t>
            </a:r>
            <a:r>
              <a:rPr lang="en-US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adicionar</a:t>
            </a:r>
            <a:r>
              <a:rPr lang="en-US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uma</a:t>
            </a:r>
            <a:r>
              <a:rPr lang="en-US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camada</a:t>
            </a:r>
            <a:r>
              <a:rPr lang="en-US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de cache, </a:t>
            </a:r>
            <a:r>
              <a:rPr lang="en-US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reduzindo</a:t>
            </a:r>
            <a:r>
              <a:rPr lang="en-US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o </a:t>
            </a:r>
            <a:r>
              <a:rPr lang="en-US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número</a:t>
            </a:r>
            <a:r>
              <a:rPr lang="en-US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chamadas</a:t>
            </a:r>
            <a:r>
              <a:rPr lang="en-US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ao</a:t>
            </a:r>
            <a:r>
              <a:rPr lang="en-US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sistema</a:t>
            </a:r>
            <a:r>
              <a:rPr lang="en-US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2000" dirty="0"/>
          </a:p>
        </p:txBody>
      </p:sp>
      <p:pic>
        <p:nvPicPr>
          <p:cNvPr id="19" name="Google Shape;123;p16" descr="image.png">
            <a:extLst>
              <a:ext uri="{FF2B5EF4-FFF2-40B4-BE49-F238E27FC236}">
                <a16:creationId xmlns:a16="http://schemas.microsoft.com/office/drawing/2014/main" id="{8DFAC313-BDE1-8523-FB6A-3BC0DE2C4448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89933" y="192451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124;p16" descr="image.png">
            <a:extLst>
              <a:ext uri="{FF2B5EF4-FFF2-40B4-BE49-F238E27FC236}">
                <a16:creationId xmlns:a16="http://schemas.microsoft.com/office/drawing/2014/main" id="{89F9C3FD-6574-2530-7FD8-F20077F01225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54690" y="1924510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125;p16" descr="image.png">
            <a:extLst>
              <a:ext uri="{FF2B5EF4-FFF2-40B4-BE49-F238E27FC236}">
                <a16:creationId xmlns:a16="http://schemas.microsoft.com/office/drawing/2014/main" id="{77C981F2-9C1A-0BEB-6575-C12A70CF856A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05171" y="1924510"/>
            <a:ext cx="419100" cy="476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553864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9A72F-0FD0-D29F-635B-0088BDD3D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3DFB3-7597-180E-F18D-C882527DB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O Paradigma de de </a:t>
            </a:r>
            <a:r>
              <a:rPr lang="pt-BR" b="1" dirty="0" err="1"/>
              <a:t>Streams</a:t>
            </a:r>
            <a:br>
              <a:rPr lang="pt-BR" b="1" dirty="0"/>
            </a:br>
            <a:endParaRPr lang="pt-BR" b="1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8BB2056-125F-C31F-0BC1-CBA8B93855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3" name="Google Shape;133;p17">
            <a:extLst>
              <a:ext uri="{FF2B5EF4-FFF2-40B4-BE49-F238E27FC236}">
                <a16:creationId xmlns:a16="http://schemas.microsoft.com/office/drawing/2014/main" id="{52D3ADE6-5068-AD8B-B66B-388FCF6D1540}"/>
              </a:ext>
            </a:extLst>
          </p:cNvPr>
          <p:cNvSpPr txBox="1"/>
          <p:nvPr/>
        </p:nvSpPr>
        <p:spPr>
          <a:xfrm>
            <a:off x="857250" y="1418507"/>
            <a:ext cx="10263034" cy="1206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Em Java, um </a:t>
            </a:r>
            <a:r>
              <a:rPr lang="en-US" sz="2800" b="1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Stream</a:t>
            </a: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é </a:t>
            </a:r>
            <a:r>
              <a:rPr lang="en-US" sz="2800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uma</a:t>
            </a: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800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abstração</a:t>
            </a: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2800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uma</a:t>
            </a: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800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sequência</a:t>
            </a: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de dados </a:t>
            </a:r>
            <a:r>
              <a:rPr lang="en-US" sz="2800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800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flui</a:t>
            </a: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2800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uma</a:t>
            </a: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800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fonte</a:t>
            </a: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para um </a:t>
            </a:r>
            <a:r>
              <a:rPr lang="en-US" sz="2800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destino</a:t>
            </a: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2800" dirty="0"/>
          </a:p>
        </p:txBody>
      </p:sp>
      <p:sp>
        <p:nvSpPr>
          <p:cNvPr id="5" name="Google Shape;135;p17">
            <a:extLst>
              <a:ext uri="{FF2B5EF4-FFF2-40B4-BE49-F238E27FC236}">
                <a16:creationId xmlns:a16="http://schemas.microsoft.com/office/drawing/2014/main" id="{E54B2CB0-A1CA-1185-B08F-57F74015C1C2}"/>
              </a:ext>
            </a:extLst>
          </p:cNvPr>
          <p:cNvSpPr txBox="1"/>
          <p:nvPr/>
        </p:nvSpPr>
        <p:spPr>
          <a:xfrm>
            <a:off x="1023782" y="2792754"/>
            <a:ext cx="9762203" cy="60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8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Uni-</a:t>
            </a:r>
            <a:r>
              <a:rPr lang="en-US" sz="2800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direcional</a:t>
            </a: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-US" sz="2800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Apenas</a:t>
            </a: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800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leitura</a:t>
            </a: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800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ou</a:t>
            </a: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800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escrita</a:t>
            </a: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2800" dirty="0"/>
          </a:p>
        </p:txBody>
      </p:sp>
      <p:sp>
        <p:nvSpPr>
          <p:cNvPr id="6" name="Google Shape;136;p17">
            <a:extLst>
              <a:ext uri="{FF2B5EF4-FFF2-40B4-BE49-F238E27FC236}">
                <a16:creationId xmlns:a16="http://schemas.microsoft.com/office/drawing/2014/main" id="{FE43C110-410D-E4D1-2DC5-59893EC0065C}"/>
              </a:ext>
            </a:extLst>
          </p:cNvPr>
          <p:cNvSpPr txBox="1"/>
          <p:nvPr/>
        </p:nvSpPr>
        <p:spPr>
          <a:xfrm>
            <a:off x="1023782" y="3422279"/>
            <a:ext cx="9762203" cy="60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8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Baixo Nível: Processa byte por byte.</a:t>
            </a:r>
            <a:endParaRPr sz="2800"/>
          </a:p>
        </p:txBody>
      </p:sp>
      <p:sp>
        <p:nvSpPr>
          <p:cNvPr id="8" name="Google Shape;137;p17">
            <a:extLst>
              <a:ext uri="{FF2B5EF4-FFF2-40B4-BE49-F238E27FC236}">
                <a16:creationId xmlns:a16="http://schemas.microsoft.com/office/drawing/2014/main" id="{7B0EEBDB-FC4B-0492-23D5-685CB54ABDEF}"/>
              </a:ext>
            </a:extLst>
          </p:cNvPr>
          <p:cNvSpPr txBox="1"/>
          <p:nvPr/>
        </p:nvSpPr>
        <p:spPr>
          <a:xfrm>
            <a:off x="1023782" y="4065246"/>
            <a:ext cx="9762203" cy="60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8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Sequencial: Acesso um após o outro.</a:t>
            </a:r>
            <a:endParaRPr sz="2800"/>
          </a:p>
        </p:txBody>
      </p:sp>
      <p:pic>
        <p:nvPicPr>
          <p:cNvPr id="23" name="Google Shape;138;p17" descr="image.png">
            <a:extLst>
              <a:ext uri="{FF2B5EF4-FFF2-40B4-BE49-F238E27FC236}">
                <a16:creationId xmlns:a16="http://schemas.microsoft.com/office/drawing/2014/main" id="{5EE62D16-C6BA-DD6A-1FC4-CBF1927A370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6970" y="2932017"/>
            <a:ext cx="382229" cy="35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138;p17" descr="image.png">
            <a:extLst>
              <a:ext uri="{FF2B5EF4-FFF2-40B4-BE49-F238E27FC236}">
                <a16:creationId xmlns:a16="http://schemas.microsoft.com/office/drawing/2014/main" id="{1D3B6393-5724-7E5F-2733-3A66CE34594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1884" y="3556364"/>
            <a:ext cx="382229" cy="35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138;p17" descr="image.png">
            <a:extLst>
              <a:ext uri="{FF2B5EF4-FFF2-40B4-BE49-F238E27FC236}">
                <a16:creationId xmlns:a16="http://schemas.microsoft.com/office/drawing/2014/main" id="{47F06966-AB1B-F38A-27AE-BAD7B5AF977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6968" y="4180715"/>
            <a:ext cx="382229" cy="3582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904235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A18EB-0A73-6032-A9D7-5FAB2AB1B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C42009-452F-8DE6-F41C-DD4CAFEA7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Data </a:t>
            </a:r>
            <a:r>
              <a:rPr lang="pt-BR" b="1" dirty="0" err="1"/>
              <a:t>Streams</a:t>
            </a:r>
            <a:r>
              <a:rPr lang="pt-BR" b="1" dirty="0"/>
              <a:t> Primitivos</a:t>
            </a:r>
            <a:br>
              <a:rPr lang="pt-BR" b="1" dirty="0"/>
            </a:br>
            <a:br>
              <a:rPr lang="pt-BR" b="1" dirty="0"/>
            </a:br>
            <a:endParaRPr lang="pt-BR" b="1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4B77F76-C1D9-025E-5BFA-9AB3911484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pic>
        <p:nvPicPr>
          <p:cNvPr id="4" name="Google Shape;156;p19" descr="image.png">
            <a:extLst>
              <a:ext uri="{FF2B5EF4-FFF2-40B4-BE49-F238E27FC236}">
                <a16:creationId xmlns:a16="http://schemas.microsoft.com/office/drawing/2014/main" id="{862692F9-1B81-23EF-1347-16B3AD8BD2A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825593"/>
            <a:ext cx="11049000" cy="11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57;p19">
            <a:extLst>
              <a:ext uri="{FF2B5EF4-FFF2-40B4-BE49-F238E27FC236}">
                <a16:creationId xmlns:a16="http://schemas.microsoft.com/office/drawing/2014/main" id="{191B646A-4E92-74CC-0495-68F27DF13F82}"/>
              </a:ext>
            </a:extLst>
          </p:cNvPr>
          <p:cNvSpPr txBox="1"/>
          <p:nvPr/>
        </p:nvSpPr>
        <p:spPr>
          <a:xfrm>
            <a:off x="700087" y="4770729"/>
            <a:ext cx="106680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rgbClr val="778DA9"/>
                </a:solidFill>
                <a:latin typeface="Lato"/>
                <a:ea typeface="Lato"/>
                <a:cs typeface="Lato"/>
                <a:sym typeface="Lato"/>
              </a:rPr>
              <a:t>Espaço</a:t>
            </a:r>
            <a:r>
              <a:rPr lang="en-US" sz="2400" b="0" i="0" u="none" strike="noStrike" cap="none" dirty="0">
                <a:solidFill>
                  <a:srgbClr val="778DA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b="0" i="0" u="none" strike="noStrike" cap="none" dirty="0" err="1">
                <a:solidFill>
                  <a:srgbClr val="778DA9"/>
                </a:solidFill>
                <a:latin typeface="Lato"/>
                <a:ea typeface="Lato"/>
                <a:cs typeface="Lato"/>
                <a:sym typeface="Lato"/>
              </a:rPr>
              <a:t>ocupado</a:t>
            </a:r>
            <a:r>
              <a:rPr lang="en-US" sz="2400" b="0" i="0" u="none" strike="noStrike" cap="none" dirty="0">
                <a:solidFill>
                  <a:srgbClr val="778DA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b="0" i="0" u="none" strike="noStrike" cap="none" dirty="0" err="1">
                <a:solidFill>
                  <a:srgbClr val="778DA9"/>
                </a:solidFill>
                <a:latin typeface="Lato"/>
                <a:ea typeface="Lato"/>
                <a:cs typeface="Lato"/>
                <a:sym typeface="Lato"/>
              </a:rPr>
              <a:t>por</a:t>
            </a:r>
            <a:r>
              <a:rPr lang="en-US" sz="2400" b="0" i="0" u="none" strike="noStrike" cap="none" dirty="0">
                <a:solidFill>
                  <a:srgbClr val="778DA9"/>
                </a:solidFill>
                <a:latin typeface="Lato"/>
                <a:ea typeface="Lato"/>
                <a:cs typeface="Lato"/>
                <a:sym typeface="Lato"/>
              </a:rPr>
              <a:t> um </a:t>
            </a:r>
            <a:r>
              <a:rPr lang="en-US" sz="2400" b="0" i="0" u="none" strike="noStrike" cap="none" dirty="0" err="1">
                <a:solidFill>
                  <a:srgbClr val="778DA9"/>
                </a:solidFill>
                <a:latin typeface="Lato"/>
                <a:ea typeface="Lato"/>
                <a:cs typeface="Lato"/>
                <a:sym typeface="Lato"/>
              </a:rPr>
              <a:t>Inteiro</a:t>
            </a:r>
            <a:r>
              <a:rPr lang="en-US" sz="2400" b="0" i="0" u="none" strike="noStrike" cap="none" dirty="0">
                <a:solidFill>
                  <a:srgbClr val="778DA9"/>
                </a:solidFill>
                <a:latin typeface="Lato"/>
                <a:ea typeface="Lato"/>
                <a:cs typeface="Lato"/>
                <a:sym typeface="Lato"/>
              </a:rPr>
              <a:t> e um Double:</a:t>
            </a:r>
            <a:endParaRPr sz="2400" dirty="0"/>
          </a:p>
        </p:txBody>
      </p:sp>
      <p:pic>
        <p:nvPicPr>
          <p:cNvPr id="10" name="Google Shape;158;p19" descr="image.png">
            <a:extLst>
              <a:ext uri="{FF2B5EF4-FFF2-40B4-BE49-F238E27FC236}">
                <a16:creationId xmlns:a16="http://schemas.microsoft.com/office/drawing/2014/main" id="{60C0F96C-8C36-69AC-5611-ADDC8F09AD2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73882" y="5404253"/>
            <a:ext cx="5895014" cy="396143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59;p19">
            <a:extLst>
              <a:ext uri="{FF2B5EF4-FFF2-40B4-BE49-F238E27FC236}">
                <a16:creationId xmlns:a16="http://schemas.microsoft.com/office/drawing/2014/main" id="{4E6BF58C-0D66-F679-608C-1DFE2407E454}"/>
              </a:ext>
            </a:extLst>
          </p:cNvPr>
          <p:cNvSpPr txBox="1"/>
          <p:nvPr/>
        </p:nvSpPr>
        <p:spPr>
          <a:xfrm>
            <a:off x="1122361" y="1416565"/>
            <a:ext cx="10572750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DataOutputStream</a:t>
            </a:r>
            <a:r>
              <a:rPr lang="en-US" sz="2800" b="1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800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Permite</a:t>
            </a: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800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gravar</a:t>
            </a: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800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tipos</a:t>
            </a: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800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primitivos</a:t>
            </a: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(int, double, </a:t>
            </a:r>
            <a:r>
              <a:rPr lang="en-US" sz="2800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boolean</a:t>
            </a: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) de forma </a:t>
            </a:r>
            <a:r>
              <a:rPr lang="en-US" sz="2800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portável</a:t>
            </a: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800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diretamente</a:t>
            </a: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no stream de </a:t>
            </a:r>
            <a:r>
              <a:rPr lang="en-US" sz="2800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saída</a:t>
            </a: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2800" dirty="0"/>
          </a:p>
        </p:txBody>
      </p:sp>
      <p:sp>
        <p:nvSpPr>
          <p:cNvPr id="12" name="Google Shape;160;p19">
            <a:extLst>
              <a:ext uri="{FF2B5EF4-FFF2-40B4-BE49-F238E27FC236}">
                <a16:creationId xmlns:a16="http://schemas.microsoft.com/office/drawing/2014/main" id="{DE977E74-184B-0CE9-6CA5-BE839445D31F}"/>
              </a:ext>
            </a:extLst>
          </p:cNvPr>
          <p:cNvSpPr txBox="1"/>
          <p:nvPr/>
        </p:nvSpPr>
        <p:spPr>
          <a:xfrm>
            <a:off x="1122361" y="2467513"/>
            <a:ext cx="10572750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DataInputStream</a:t>
            </a:r>
            <a:r>
              <a:rPr lang="en-US" sz="2800" b="1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Lê </a:t>
            </a:r>
            <a:r>
              <a:rPr lang="en-US" sz="2800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os</a:t>
            </a: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800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tipos</a:t>
            </a: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800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primitivos</a:t>
            </a: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800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na</a:t>
            </a: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800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mesma</a:t>
            </a: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800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ordem</a:t>
            </a: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800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em</a:t>
            </a: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800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800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foram</a:t>
            </a: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800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gravados</a:t>
            </a: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. Crucial para </a:t>
            </a:r>
            <a:r>
              <a:rPr lang="en-US" sz="2800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manter</a:t>
            </a: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2800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integridade</a:t>
            </a: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dos dados.</a:t>
            </a:r>
            <a:endParaRPr sz="2800" dirty="0"/>
          </a:p>
        </p:txBody>
      </p:sp>
      <p:sp>
        <p:nvSpPr>
          <p:cNvPr id="13" name="Google Shape;161;p19">
            <a:extLst>
              <a:ext uri="{FF2B5EF4-FFF2-40B4-BE49-F238E27FC236}">
                <a16:creationId xmlns:a16="http://schemas.microsoft.com/office/drawing/2014/main" id="{378EF928-12DE-62F4-668C-F51DBC049D86}"/>
              </a:ext>
            </a:extLst>
          </p:cNvPr>
          <p:cNvSpPr txBox="1"/>
          <p:nvPr/>
        </p:nvSpPr>
        <p:spPr>
          <a:xfrm>
            <a:off x="1122361" y="3577454"/>
            <a:ext cx="10572750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Exemplo</a:t>
            </a:r>
            <a:r>
              <a:rPr lang="en-US" sz="2800" b="1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2800" b="1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Métodos</a:t>
            </a:r>
            <a:r>
              <a:rPr lang="en-US" sz="2800" b="1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800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writeInt</a:t>
            </a: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(), </a:t>
            </a:r>
            <a:r>
              <a:rPr lang="en-US" sz="2800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writeUTF</a:t>
            </a: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(), </a:t>
            </a:r>
            <a:r>
              <a:rPr lang="en-US" sz="2800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readBoolean</a:t>
            </a: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(), </a:t>
            </a:r>
            <a:r>
              <a:rPr lang="en-US" sz="2800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readDouble</a:t>
            </a: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().</a:t>
            </a:r>
            <a:endParaRPr sz="2800" dirty="0"/>
          </a:p>
        </p:txBody>
      </p:sp>
      <p:pic>
        <p:nvPicPr>
          <p:cNvPr id="14" name="Google Shape;162;p19" descr="image.png">
            <a:extLst>
              <a:ext uri="{FF2B5EF4-FFF2-40B4-BE49-F238E27FC236}">
                <a16:creationId xmlns:a16="http://schemas.microsoft.com/office/drawing/2014/main" id="{8442E646-B7A6-3420-FBA9-F485882B089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6889" y="1731755"/>
            <a:ext cx="377822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63;p19" descr="image.png">
            <a:extLst>
              <a:ext uri="{FF2B5EF4-FFF2-40B4-BE49-F238E27FC236}">
                <a16:creationId xmlns:a16="http://schemas.microsoft.com/office/drawing/2014/main" id="{2D0C9BF9-6630-E333-7995-3B68C4E5A77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3275" y="2769314"/>
            <a:ext cx="4250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4;p19" descr="image.png">
            <a:extLst>
              <a:ext uri="{FF2B5EF4-FFF2-40B4-BE49-F238E27FC236}">
                <a16:creationId xmlns:a16="http://schemas.microsoft.com/office/drawing/2014/main" id="{EA9C6A2A-29CF-78C3-1AFC-74D5C26AFA92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49661" y="3825688"/>
            <a:ext cx="472278" cy="2857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187430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EC2FD-8519-2282-C6FE-9DA6B85B9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EF097F-96D9-613F-8821-5285C5489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Principais Métodos </a:t>
            </a:r>
            <a:r>
              <a:rPr lang="pt-BR" b="1" dirty="0" err="1"/>
              <a:t>DataStream</a:t>
            </a:r>
            <a:endParaRPr lang="pt-BR" b="1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46BB76E-EE8B-2ACC-D0CE-0CF7469951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graphicFrame>
        <p:nvGraphicFramePr>
          <p:cNvPr id="3" name="Google Shape;172;p20">
            <a:extLst>
              <a:ext uri="{FF2B5EF4-FFF2-40B4-BE49-F238E27FC236}">
                <a16:creationId xmlns:a16="http://schemas.microsoft.com/office/drawing/2014/main" id="{F49284CD-3D99-FB73-83C8-FF54D51806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3982151"/>
              </p:ext>
            </p:extLst>
          </p:nvPr>
        </p:nvGraphicFramePr>
        <p:xfrm>
          <a:off x="571500" y="1797151"/>
          <a:ext cx="11049025" cy="310512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267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8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9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93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 i="0" u="none" strike="noStrike" cap="none">
                          <a:solidFill>
                            <a:schemeClr val="tx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Tipo de Dado</a:t>
                      </a:r>
                      <a:endParaRPr sz="220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 i="0" u="none" strike="noStrike" cap="none">
                          <a:solidFill>
                            <a:schemeClr val="tx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Método de Escrita</a:t>
                      </a:r>
                      <a:endParaRPr sz="220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 i="0" u="none" strike="noStrike" cap="none">
                          <a:solidFill>
                            <a:schemeClr val="tx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Método de Leitura</a:t>
                      </a:r>
                      <a:endParaRPr sz="220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 i="0" u="none" strike="noStrike" cap="none">
                          <a:solidFill>
                            <a:schemeClr val="tx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Tamanho (Bytes)</a:t>
                      </a:r>
                      <a:endParaRPr sz="220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6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Inteiro (int)</a:t>
                      </a:r>
                      <a:endParaRPr sz="220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writeInt(v)</a:t>
                      </a:r>
                      <a:endParaRPr sz="220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readInt()</a:t>
                      </a:r>
                      <a:endParaRPr sz="220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</a:t>
                      </a:r>
                      <a:endParaRPr sz="220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Longo (long)</a:t>
                      </a:r>
                      <a:endParaRPr sz="220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writeLong(v)</a:t>
                      </a:r>
                      <a:endParaRPr sz="220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readLong()</a:t>
                      </a:r>
                      <a:endParaRPr sz="220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</a:t>
                      </a:r>
                      <a:endParaRPr sz="220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Ponto Flutuante</a:t>
                      </a:r>
                      <a:endParaRPr sz="220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writeDouble(v)</a:t>
                      </a:r>
                      <a:endParaRPr sz="220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readDouble()</a:t>
                      </a:r>
                      <a:endParaRPr sz="220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</a:t>
                      </a:r>
                      <a:endParaRPr sz="220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Texto (Strings)</a:t>
                      </a:r>
                      <a:endParaRPr sz="220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writeUTF(str)</a:t>
                      </a:r>
                      <a:endParaRPr sz="220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readUTF()</a:t>
                      </a:r>
                      <a:endParaRPr sz="220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i="0" u="none" strike="noStrike" cap="none" dirty="0" err="1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Variável</a:t>
                      </a:r>
                      <a:endParaRPr sz="220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3276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FDC55-E19E-9348-945C-3B23615BF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43DDDC-1E20-FA63-B534-59A42A722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Importância do </a:t>
            </a:r>
            <a:r>
              <a:rPr lang="pt-BR" b="1" dirty="0" err="1"/>
              <a:t>Buffering</a:t>
            </a:r>
            <a:endParaRPr lang="pt-BR" b="1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5FA3C07-B766-93F0-619E-A495F0C365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4" name="Google Shape;192;p21">
            <a:extLst>
              <a:ext uri="{FF2B5EF4-FFF2-40B4-BE49-F238E27FC236}">
                <a16:creationId xmlns:a16="http://schemas.microsoft.com/office/drawing/2014/main" id="{86FF2ED5-3951-0F5E-2855-2D3125379757}"/>
              </a:ext>
            </a:extLst>
          </p:cNvPr>
          <p:cNvSpPr txBox="1"/>
          <p:nvPr/>
        </p:nvSpPr>
        <p:spPr>
          <a:xfrm>
            <a:off x="571500" y="2633662"/>
            <a:ext cx="44196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 b="1" i="0" u="none" strike="noStrike" cap="none">
                <a:solidFill>
                  <a:srgbClr val="3A86FF"/>
                </a:solidFill>
                <a:latin typeface="Poppins"/>
                <a:ea typeface="Poppins"/>
                <a:cs typeface="Poppins"/>
                <a:sym typeface="Poppins"/>
              </a:rPr>
              <a:t>10x</a:t>
            </a:r>
            <a:endParaRPr/>
          </a:p>
        </p:txBody>
      </p:sp>
      <p:sp>
        <p:nvSpPr>
          <p:cNvPr id="5" name="Google Shape;193;p21">
            <a:extLst>
              <a:ext uri="{FF2B5EF4-FFF2-40B4-BE49-F238E27FC236}">
                <a16:creationId xmlns:a16="http://schemas.microsoft.com/office/drawing/2014/main" id="{B446FE0C-7C8C-8DFD-2A71-A6990996CB62}"/>
              </a:ext>
            </a:extLst>
          </p:cNvPr>
          <p:cNvSpPr txBox="1"/>
          <p:nvPr/>
        </p:nvSpPr>
        <p:spPr>
          <a:xfrm>
            <a:off x="571500" y="4496876"/>
            <a:ext cx="44196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Mais </a:t>
            </a:r>
            <a:r>
              <a:rPr lang="en-US" sz="2800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rápido</a:t>
            </a: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com Buffers</a:t>
            </a:r>
            <a:endParaRPr sz="2800" dirty="0"/>
          </a:p>
        </p:txBody>
      </p:sp>
      <p:sp>
        <p:nvSpPr>
          <p:cNvPr id="6" name="Google Shape;194;p21">
            <a:extLst>
              <a:ext uri="{FF2B5EF4-FFF2-40B4-BE49-F238E27FC236}">
                <a16:creationId xmlns:a16="http://schemas.microsoft.com/office/drawing/2014/main" id="{B29E7C46-6A3C-19C8-26BC-D174B919C599}"/>
              </a:ext>
            </a:extLst>
          </p:cNvPr>
          <p:cNvSpPr txBox="1"/>
          <p:nvPr/>
        </p:nvSpPr>
        <p:spPr>
          <a:xfrm>
            <a:off x="4991100" y="2252507"/>
            <a:ext cx="69608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Eficiência de E/S</a:t>
            </a:r>
            <a:endParaRPr/>
          </a:p>
        </p:txBody>
      </p:sp>
      <p:sp>
        <p:nvSpPr>
          <p:cNvPr id="8" name="Google Shape;195;p21">
            <a:extLst>
              <a:ext uri="{FF2B5EF4-FFF2-40B4-BE49-F238E27FC236}">
                <a16:creationId xmlns:a16="http://schemas.microsoft.com/office/drawing/2014/main" id="{9EC8E78A-C46A-4E1F-970C-4DBAD558ABEB}"/>
              </a:ext>
            </a:extLst>
          </p:cNvPr>
          <p:cNvSpPr txBox="1"/>
          <p:nvPr/>
        </p:nvSpPr>
        <p:spPr>
          <a:xfrm>
            <a:off x="4991100" y="2852582"/>
            <a:ext cx="6629400" cy="2412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O </a:t>
            </a:r>
            <a:r>
              <a:rPr lang="en-US" sz="2800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uso</a:t>
            </a: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2800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BufferedInputStream</a:t>
            </a: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800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reduz</a:t>
            </a: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800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drasticamente</a:t>
            </a: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as </a:t>
            </a:r>
            <a:r>
              <a:rPr lang="en-US" sz="2800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operações</a:t>
            </a: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de hardware </a:t>
            </a:r>
            <a:r>
              <a:rPr lang="en-US" sz="2800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ao</a:t>
            </a: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800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ler</a:t>
            </a: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800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grandes</a:t>
            </a: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800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blocos</a:t>
            </a: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de dados para a RAM de </a:t>
            </a:r>
            <a:r>
              <a:rPr lang="en-US" sz="2800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uma</a:t>
            </a: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800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só</a:t>
            </a: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800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vez</a:t>
            </a: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2800" dirty="0"/>
          </a:p>
        </p:txBody>
      </p:sp>
    </p:spTree>
    <p:extLst>
      <p:ext uri="{BB962C8B-B14F-4D97-AF65-F5344CB8AC3E}">
        <p14:creationId xmlns:p14="http://schemas.microsoft.com/office/powerpoint/2010/main" val="5338998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1CC74-9A6A-0A63-5153-627AC131C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AAC508-B5FE-E91B-64B5-C10EBE148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/>
              <a:t>Desempenho: Buffer vs. Direto</a:t>
            </a:r>
            <a:endParaRPr lang="pt-BR" b="1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DCA43D1-9125-E311-3926-8A22AB93E6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pic>
        <p:nvPicPr>
          <p:cNvPr id="9" name="Google Shape;203;p22" descr="image.png">
            <a:extLst>
              <a:ext uri="{FF2B5EF4-FFF2-40B4-BE49-F238E27FC236}">
                <a16:creationId xmlns:a16="http://schemas.microsoft.com/office/drawing/2014/main" id="{3DBBD0BD-33B7-F1A7-550A-DF624742EA0D}"/>
              </a:ext>
            </a:extLst>
          </p:cNvPr>
          <p:cNvPicPr preferRelativeResize="0"/>
          <p:nvPr/>
        </p:nvPicPr>
        <p:blipFill rotWithShape="1">
          <a:blip r:embed="rId3">
            <a:alphaModFix/>
            <a:biLevel thresh="75000"/>
          </a:blip>
          <a:srcRect l="14740" r="16628" b="15404"/>
          <a:stretch>
            <a:fillRect/>
          </a:stretch>
        </p:blipFill>
        <p:spPr>
          <a:xfrm>
            <a:off x="528635" y="851610"/>
            <a:ext cx="10516782" cy="556111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204;p22">
            <a:extLst>
              <a:ext uri="{FF2B5EF4-FFF2-40B4-BE49-F238E27FC236}">
                <a16:creationId xmlns:a16="http://schemas.microsoft.com/office/drawing/2014/main" id="{07FAFEA3-B967-5AE8-4DC8-0BFFFEDCA050}"/>
              </a:ext>
            </a:extLst>
          </p:cNvPr>
          <p:cNvSpPr txBox="1"/>
          <p:nvPr/>
        </p:nvSpPr>
        <p:spPr>
          <a:xfrm>
            <a:off x="1004247" y="1152983"/>
            <a:ext cx="9565559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0" i="1" u="none" strike="noStrike" cap="none" dirty="0">
                <a:latin typeface="Lato"/>
                <a:ea typeface="Lato"/>
                <a:cs typeface="Lato"/>
                <a:sym typeface="Lato"/>
              </a:rPr>
              <a:t>Gráfico ilustrativo da redução de latência com o aumento do volume de dados.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42887455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78C29-BAB8-F622-0A31-A9630CD61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481062-8557-0B2A-618A-73508260A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51279" cy="1400530"/>
          </a:xfrm>
        </p:spPr>
        <p:txBody>
          <a:bodyPr/>
          <a:lstStyle/>
          <a:p>
            <a:r>
              <a:rPr lang="pt-BR" b="1" dirty="0"/>
              <a:t>Java NIO e Modernidade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D2F92B1-4BB3-220A-A41C-947ABE9C9E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4" name="Google Shape;215;p23">
            <a:extLst>
              <a:ext uri="{FF2B5EF4-FFF2-40B4-BE49-F238E27FC236}">
                <a16:creationId xmlns:a16="http://schemas.microsoft.com/office/drawing/2014/main" id="{8511419C-9C52-6272-D20D-59BDC301A5F3}"/>
              </a:ext>
            </a:extLst>
          </p:cNvPr>
          <p:cNvSpPr txBox="1"/>
          <p:nvPr/>
        </p:nvSpPr>
        <p:spPr>
          <a:xfrm>
            <a:off x="787810" y="1539679"/>
            <a:ext cx="520065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Canais</a:t>
            </a:r>
            <a:r>
              <a:rPr lang="en-US" sz="28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 Buffers</a:t>
            </a:r>
            <a:endParaRPr sz="2800" dirty="0"/>
          </a:p>
        </p:txBody>
      </p:sp>
      <p:sp>
        <p:nvSpPr>
          <p:cNvPr id="5" name="Google Shape;216;p23">
            <a:extLst>
              <a:ext uri="{FF2B5EF4-FFF2-40B4-BE49-F238E27FC236}">
                <a16:creationId xmlns:a16="http://schemas.microsoft.com/office/drawing/2014/main" id="{514F6815-7F4B-39A3-CD1B-607F1A7CFFC1}"/>
              </a:ext>
            </a:extLst>
          </p:cNvPr>
          <p:cNvSpPr txBox="1"/>
          <p:nvPr/>
        </p:nvSpPr>
        <p:spPr>
          <a:xfrm>
            <a:off x="787809" y="2139754"/>
            <a:ext cx="10529120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O </a:t>
            </a:r>
            <a:r>
              <a:rPr lang="en-US" sz="2800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pacote</a:t>
            </a: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800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java.nio</a:t>
            </a: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800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introduziu</a:t>
            </a: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800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uma</a:t>
            </a: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forma </a:t>
            </a:r>
            <a:r>
              <a:rPr lang="en-US" sz="2800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muito</a:t>
            </a: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800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mais</a:t>
            </a: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800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performática</a:t>
            </a: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de lidar com </a:t>
            </a:r>
            <a:r>
              <a:rPr lang="en-US" sz="2800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binários</a:t>
            </a: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800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usando</a:t>
            </a: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800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FileChannel</a:t>
            </a: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e </a:t>
            </a:r>
            <a:r>
              <a:rPr lang="en-US" sz="2800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ByteBuffer</a:t>
            </a: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2800" dirty="0"/>
          </a:p>
        </p:txBody>
      </p:sp>
      <p:sp>
        <p:nvSpPr>
          <p:cNvPr id="6" name="Google Shape;217;p23">
            <a:extLst>
              <a:ext uri="{FF2B5EF4-FFF2-40B4-BE49-F238E27FC236}">
                <a16:creationId xmlns:a16="http://schemas.microsoft.com/office/drawing/2014/main" id="{A0E52FF2-63A3-B2A2-A5A0-C5A1CCD6B1DB}"/>
              </a:ext>
            </a:extLst>
          </p:cNvPr>
          <p:cNvSpPr txBox="1"/>
          <p:nvPr/>
        </p:nvSpPr>
        <p:spPr>
          <a:xfrm>
            <a:off x="787809" y="3329798"/>
            <a:ext cx="10961739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Permite</a:t>
            </a: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o </a:t>
            </a:r>
            <a:r>
              <a:rPr lang="en-US" sz="2800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mapeamento</a:t>
            </a: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2800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arquivos</a:t>
            </a: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800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diretamente</a:t>
            </a: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800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na</a:t>
            </a: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800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memória</a:t>
            </a: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(Memory Mapped Files), ideal para bases de dados e </a:t>
            </a:r>
            <a:r>
              <a:rPr lang="en-US" sz="2800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sistemas</a:t>
            </a: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2800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baixa</a:t>
            </a: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800" b="0" i="0" u="none" strike="noStrike" cap="none" dirty="0" err="1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latência</a:t>
            </a:r>
            <a:r>
              <a:rPr lang="en-US" sz="28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2800" dirty="0"/>
          </a:p>
        </p:txBody>
      </p:sp>
      <p:pic>
        <p:nvPicPr>
          <p:cNvPr id="211" name="Google Shape;211;p23" descr="image.png"/>
          <p:cNvPicPr preferRelativeResize="0"/>
          <p:nvPr/>
        </p:nvPicPr>
        <p:blipFill rotWithShape="1">
          <a:blip r:embed="rId3">
            <a:alphaModFix/>
          </a:blip>
          <a:srcRect l="5000" t="73402" r="55000" b="15555"/>
          <a:stretch>
            <a:fillRect/>
          </a:stretch>
        </p:blipFill>
        <p:spPr>
          <a:xfrm>
            <a:off x="2316111" y="4519842"/>
            <a:ext cx="7472516" cy="143531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247138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B3DE2-011F-EE70-C03D-1EB44B2FD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04BEC55-E8C4-2BAA-06FC-DFEAE74752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0500" y="0"/>
            <a:ext cx="12573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8907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">
  <a:themeElements>
    <a:clrScheme name="Í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Í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Í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1252</TotalTime>
  <Words>1363</Words>
  <Application>Microsoft Office PowerPoint</Application>
  <PresentationFormat>Widescreen</PresentationFormat>
  <Paragraphs>123</Paragraphs>
  <Slides>24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35" baseType="lpstr">
      <vt:lpstr>Aptos</vt:lpstr>
      <vt:lpstr>Arial Unicode MS</vt:lpstr>
      <vt:lpstr>Calibri</vt:lpstr>
      <vt:lpstr>Century Gothic</vt:lpstr>
      <vt:lpstr>Courier New</vt:lpstr>
      <vt:lpstr>Lato</vt:lpstr>
      <vt:lpstr>Poppins</vt:lpstr>
      <vt:lpstr>Times New Roman</vt:lpstr>
      <vt:lpstr>Verdana</vt:lpstr>
      <vt:lpstr>Wingdings 3</vt:lpstr>
      <vt:lpstr>Íon</vt:lpstr>
      <vt:lpstr>Apresentação do PowerPoint</vt:lpstr>
      <vt:lpstr>Apresentação do PowerPoint</vt:lpstr>
      <vt:lpstr>Conceito</vt:lpstr>
      <vt:lpstr>Conceito</vt:lpstr>
      <vt:lpstr>Conceito</vt:lpstr>
      <vt:lpstr>Conceito</vt:lpstr>
      <vt:lpstr>File</vt:lpstr>
      <vt:lpstr>File</vt:lpstr>
      <vt:lpstr>File</vt:lpstr>
      <vt:lpstr>File</vt:lpstr>
      <vt:lpstr>File</vt:lpstr>
      <vt:lpstr>File</vt:lpstr>
      <vt:lpstr>File</vt:lpstr>
      <vt:lpstr>File</vt:lpstr>
      <vt:lpstr>File</vt:lpstr>
      <vt:lpstr>File</vt:lpstr>
      <vt:lpstr>Classes Base de Streams </vt:lpstr>
      <vt:lpstr>O Paradigma de de Streams </vt:lpstr>
      <vt:lpstr>Data Streams Primitivos  </vt:lpstr>
      <vt:lpstr>Principais Métodos DataStream</vt:lpstr>
      <vt:lpstr>Importância do Buffering</vt:lpstr>
      <vt:lpstr>Desempenho: Buffer vs. Direto</vt:lpstr>
      <vt:lpstr>Java NIO e Modernidade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PAULO CESAR B. DA SILVA</dc:creator>
  <cp:lastModifiedBy>PAULO CESAR B. DA SILVA</cp:lastModifiedBy>
  <cp:revision>44</cp:revision>
  <dcterms:created xsi:type="dcterms:W3CDTF">2026-05-09T23:28:48Z</dcterms:created>
  <dcterms:modified xsi:type="dcterms:W3CDTF">2026-05-12T22:47:31Z</dcterms:modified>
</cp:coreProperties>
</file>