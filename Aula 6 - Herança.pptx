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9" r:id="rId4"/>
    <p:sldId id="668" r:id="rId5"/>
    <p:sldId id="673" r:id="rId6"/>
    <p:sldId id="669" r:id="rId7"/>
    <p:sldId id="670" r:id="rId8"/>
    <p:sldId id="671" r:id="rId9"/>
    <p:sldId id="672" r:id="rId10"/>
    <p:sldId id="6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29/06/2026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11" Type="http://schemas.openxmlformats.org/officeDocument/2006/relationships/image" Target="../media/image19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Herança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Herança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F3A9AC-944C-8F8E-F54B-5EB65400C768}"/>
              </a:ext>
            </a:extLst>
          </p:cNvPr>
          <p:cNvSpPr txBox="1"/>
          <p:nvPr/>
        </p:nvSpPr>
        <p:spPr>
          <a:xfrm>
            <a:off x="854651" y="1481573"/>
            <a:ext cx="10691237" cy="332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53"/>
              </a:spcBef>
            </a:pPr>
            <a:r>
              <a:rPr lang="pt-BR" altLang="pt-BR" sz="2800" dirty="0"/>
              <a:t>Herdar é derivar características de gerações precedentes. </a:t>
            </a:r>
          </a:p>
          <a:p>
            <a:pPr algn="just">
              <a:spcBef>
                <a:spcPts val="1653"/>
              </a:spcBef>
            </a:pPr>
            <a:r>
              <a:rPr lang="pt-BR" altLang="pt-BR" sz="2800" dirty="0"/>
              <a:t>No mundo da Programação Orientada a Objetos, o termo é associado com uma das formas de reutilização de software. Através da herança, novas classes podem ser derivadas das classes existentes. A nova classe herda propriedades e métodos da classe base. A nova classe também pode adicionar suas próprias propriedades e métodos.</a:t>
            </a:r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32D65-43BB-7B32-7A79-9955E85D6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479C5-8DC9-9808-4FFE-F9D47E36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Herança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A3DC65E-D35A-72CD-7A86-9A1212BE2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3" name="Picture 6_2">
            <a:extLst>
              <a:ext uri="{FF2B5EF4-FFF2-40B4-BE49-F238E27FC236}">
                <a16:creationId xmlns:a16="http://schemas.microsoft.com/office/drawing/2014/main" id="{C4BC2925-AFFF-94C0-8256-200051296A38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923224" y="1853248"/>
            <a:ext cx="3971880" cy="2685600"/>
          </a:xfrm>
          <a:prstGeom prst="rect">
            <a:avLst/>
          </a:prstGeom>
          <a:ln w="0">
            <a:noFill/>
          </a:ln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B09A566-59EB-E2B5-DA77-409C4070592C}"/>
              </a:ext>
            </a:extLst>
          </p:cNvPr>
          <p:cNvSpPr txBox="1"/>
          <p:nvPr/>
        </p:nvSpPr>
        <p:spPr>
          <a:xfrm>
            <a:off x="532533" y="1491965"/>
            <a:ext cx="68865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A Herança é um mecanismo que permite que uma classe (chamada de </a:t>
            </a:r>
            <a:r>
              <a:rPr lang="pt-BR" sz="2400" b="1" dirty="0"/>
              <a:t>Subclasse</a:t>
            </a:r>
            <a:r>
              <a:rPr lang="pt-BR" sz="2400" dirty="0"/>
              <a:t> ou classe filha) adquira as propriedades e métodos de outra classe (chamada de </a:t>
            </a:r>
            <a:r>
              <a:rPr lang="pt-BR" sz="2400" b="1" dirty="0"/>
              <a:t>Superclasse</a:t>
            </a:r>
            <a:r>
              <a:rPr lang="pt-BR" sz="2400" dirty="0"/>
              <a:t> ou classe pai). 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No Java, utilizamos a palavra-chave </a:t>
            </a:r>
            <a:r>
              <a:rPr lang="pt-BR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extends</a:t>
            </a:r>
            <a:r>
              <a:rPr lang="pt-BR" sz="2400" dirty="0"/>
              <a:t> para estabelecer essa relação.</a:t>
            </a:r>
          </a:p>
        </p:txBody>
      </p:sp>
    </p:spTree>
    <p:extLst>
      <p:ext uri="{BB962C8B-B14F-4D97-AF65-F5344CB8AC3E}">
        <p14:creationId xmlns:p14="http://schemas.microsoft.com/office/powerpoint/2010/main" val="308172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5F37ED4-EBD2-A64E-043D-18DA74978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86" y="270336"/>
            <a:ext cx="11758444" cy="609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42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6B96-8896-2777-C4CC-99998853A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DE649-DD52-7F28-7B6A-7810A5DF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Conceito de Herança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9C3FB29-2769-2F87-7838-5188C8C4E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1026">
            <a:extLst>
              <a:ext uri="{FF2B5EF4-FFF2-40B4-BE49-F238E27FC236}">
                <a16:creationId xmlns:a16="http://schemas.microsoft.com/office/drawing/2014/main" id="{0D9A405A-3C81-5CF6-E81E-44736F0707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1" y="1190771"/>
            <a:ext cx="1089977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400" dirty="0"/>
              <a:t>Ao criar uma classe, em vez de declarar membros completamente novos, o programador pode designar que a nova classe deverá herdar membros de uma classe existente.</a:t>
            </a:r>
          </a:p>
        </p:txBody>
      </p:sp>
      <p:grpSp>
        <p:nvGrpSpPr>
          <p:cNvPr id="5" name="Group 1028">
            <a:extLst>
              <a:ext uri="{FF2B5EF4-FFF2-40B4-BE49-F238E27FC236}">
                <a16:creationId xmlns:a16="http://schemas.microsoft.com/office/drawing/2014/main" id="{2487FDC7-A79E-B0F9-F079-2C95AA7D1AB1}"/>
              </a:ext>
            </a:extLst>
          </p:cNvPr>
          <p:cNvGrpSpPr>
            <a:grpSpLocks/>
          </p:cNvGrpSpPr>
          <p:nvPr/>
        </p:nvGrpSpPr>
        <p:grpSpPr bwMode="auto">
          <a:xfrm>
            <a:off x="2436788" y="2368695"/>
            <a:ext cx="2592387" cy="2298700"/>
            <a:chOff x="975" y="1525"/>
            <a:chExt cx="1633" cy="1448"/>
          </a:xfrm>
        </p:grpSpPr>
        <p:sp>
          <p:nvSpPr>
            <p:cNvPr id="8" name="Text Box 1029">
              <a:extLst>
                <a:ext uri="{FF2B5EF4-FFF2-40B4-BE49-F238E27FC236}">
                  <a16:creationId xmlns:a16="http://schemas.microsoft.com/office/drawing/2014/main" id="{0E9DCD45-EC23-DE82-7C51-193B5E43F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1525"/>
              <a:ext cx="1633" cy="1448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pt-BR" altLang="pt-BR" u="sng">
                  <a:solidFill>
                    <a:schemeClr val="bg1"/>
                  </a:solidFill>
                </a:rPr>
                <a:t>Pessoa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t-BR" altLang="pt-BR" sz="1200">
                  <a:solidFill>
                    <a:schemeClr val="bg1"/>
                  </a:solidFill>
                </a:rPr>
                <a:t>+nome: string (25)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t-BR" altLang="pt-BR" sz="1200">
                  <a:solidFill>
                    <a:schemeClr val="bg1"/>
                  </a:solidFill>
                </a:rPr>
                <a:t>+rg: int (9)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t-BR" altLang="pt-BR" sz="1200">
                  <a:solidFill>
                    <a:schemeClr val="bg1"/>
                  </a:solidFill>
                </a:rPr>
                <a:t>+altura: int(3);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t-BR" altLang="pt-BR" sz="1200">
                  <a:solidFill>
                    <a:schemeClr val="bg1"/>
                  </a:solidFill>
                </a:rPr>
                <a:t>+corOlhos: int (2);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t-BR" altLang="pt-BR" sz="1200">
                  <a:solidFill>
                    <a:schemeClr val="bg1"/>
                  </a:solidFill>
                </a:rPr>
                <a:t>-Pessoa(int rg)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t-BR" altLang="pt-BR" sz="1200">
                  <a:solidFill>
                    <a:schemeClr val="bg1"/>
                  </a:solidFill>
                </a:rPr>
                <a:t>-setNome(string n)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t-BR" altLang="pt-BR" sz="1200">
                  <a:solidFill>
                    <a:schemeClr val="bg1"/>
                  </a:solidFill>
                </a:rPr>
                <a:t>...</a:t>
              </a:r>
            </a:p>
          </p:txBody>
        </p:sp>
        <p:sp>
          <p:nvSpPr>
            <p:cNvPr id="9" name="Line 1030">
              <a:extLst>
                <a:ext uri="{FF2B5EF4-FFF2-40B4-BE49-F238E27FC236}">
                  <a16:creationId xmlns:a16="http://schemas.microsoft.com/office/drawing/2014/main" id="{901E0F28-7BC4-E799-A775-1AEAA3A5C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2460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0" name="Line 1031">
              <a:extLst>
                <a:ext uri="{FF2B5EF4-FFF2-40B4-BE49-F238E27FC236}">
                  <a16:creationId xmlns:a16="http://schemas.microsoft.com/office/drawing/2014/main" id="{EEF7E447-5DC5-DB17-34CD-EBBAF99C2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1752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up 1032">
            <a:extLst>
              <a:ext uri="{FF2B5EF4-FFF2-40B4-BE49-F238E27FC236}">
                <a16:creationId xmlns:a16="http://schemas.microsoft.com/office/drawing/2014/main" id="{F53C6F1B-9CC8-9024-5DCE-D2162304048F}"/>
              </a:ext>
            </a:extLst>
          </p:cNvPr>
          <p:cNvGrpSpPr>
            <a:grpSpLocks/>
          </p:cNvGrpSpPr>
          <p:nvPr/>
        </p:nvGrpSpPr>
        <p:grpSpPr bwMode="auto">
          <a:xfrm>
            <a:off x="2436788" y="5280171"/>
            <a:ext cx="2592387" cy="1474787"/>
            <a:chOff x="2063" y="2931"/>
            <a:chExt cx="1633" cy="929"/>
          </a:xfrm>
        </p:grpSpPr>
        <p:sp>
          <p:nvSpPr>
            <p:cNvPr id="12" name="Text Box 1033">
              <a:extLst>
                <a:ext uri="{FF2B5EF4-FFF2-40B4-BE49-F238E27FC236}">
                  <a16:creationId xmlns:a16="http://schemas.microsoft.com/office/drawing/2014/main" id="{43B86128-5962-0DDF-9AEB-C29D6BF29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3" y="2931"/>
              <a:ext cx="1633" cy="929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pt-BR" altLang="pt-BR" u="sng">
                  <a:solidFill>
                    <a:schemeClr val="bg1"/>
                  </a:solidFill>
                </a:rPr>
                <a:t>Aluno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t-BR" altLang="pt-BR" sz="1200">
                  <a:solidFill>
                    <a:schemeClr val="bg1"/>
                  </a:solidFill>
                </a:rPr>
                <a:t>+ra: int (6)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t-BR" altLang="pt-BR" sz="1200">
                  <a:solidFill>
                    <a:schemeClr val="bg1"/>
                  </a:solidFill>
                </a:rPr>
                <a:t>-Aluno (int ra)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t-BR" altLang="pt-BR" sz="1200">
                  <a:solidFill>
                    <a:schemeClr val="bg1"/>
                  </a:solidFill>
                </a:rPr>
                <a:t>-setCurso(string n)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pt-BR" altLang="pt-BR" sz="1200">
                  <a:solidFill>
                    <a:schemeClr val="bg1"/>
                  </a:solidFill>
                </a:rPr>
                <a:t>...</a:t>
              </a:r>
            </a:p>
          </p:txBody>
        </p:sp>
        <p:sp>
          <p:nvSpPr>
            <p:cNvPr id="13" name="Line 1034">
              <a:extLst>
                <a:ext uri="{FF2B5EF4-FFF2-40B4-BE49-F238E27FC236}">
                  <a16:creationId xmlns:a16="http://schemas.microsoft.com/office/drawing/2014/main" id="{EA15236C-C07C-8847-FC25-4E9DD35F9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3339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  <p:sp>
          <p:nvSpPr>
            <p:cNvPr id="14" name="Line 1035">
              <a:extLst>
                <a:ext uri="{FF2B5EF4-FFF2-40B4-BE49-F238E27FC236}">
                  <a16:creationId xmlns:a16="http://schemas.microsoft.com/office/drawing/2014/main" id="{DAFEB7FB-C9F3-5D7F-88D8-7E4CC881D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3" y="3158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solidFill>
                  <a:schemeClr val="bg1"/>
                </a:solidFill>
              </a:endParaRPr>
            </a:p>
          </p:txBody>
        </p:sp>
      </p:grpSp>
      <p:cxnSp>
        <p:nvCxnSpPr>
          <p:cNvPr id="15" name="AutoShape 1036">
            <a:extLst>
              <a:ext uri="{FF2B5EF4-FFF2-40B4-BE49-F238E27FC236}">
                <a16:creationId xmlns:a16="http://schemas.microsoft.com/office/drawing/2014/main" id="{7BCF84DF-9FF8-C7D5-7865-FC7ED5E02CD3}"/>
              </a:ext>
            </a:extLst>
          </p:cNvPr>
          <p:cNvCxnSpPr>
            <a:cxnSpLocks noChangeShapeType="1"/>
            <a:stCxn id="12" idx="0"/>
            <a:endCxn id="8" idx="2"/>
          </p:cNvCxnSpPr>
          <p:nvPr/>
        </p:nvCxnSpPr>
        <p:spPr bwMode="auto">
          <a:xfrm flipV="1">
            <a:off x="3733774" y="4667396"/>
            <a:ext cx="0" cy="6127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diamond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1037">
            <a:extLst>
              <a:ext uri="{FF2B5EF4-FFF2-40B4-BE49-F238E27FC236}">
                <a16:creationId xmlns:a16="http://schemas.microsoft.com/office/drawing/2014/main" id="{6307E68D-40E4-1F8B-D75B-3B17ED1B4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6237" y="3005283"/>
            <a:ext cx="170815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2000"/>
              <a:t>Superclasse</a:t>
            </a:r>
          </a:p>
          <a:p>
            <a:pPr algn="ctr" eaLnBrk="1" hangingPunct="1"/>
            <a:r>
              <a:rPr lang="pt-BR" altLang="pt-BR"/>
              <a:t>(classe básica)</a:t>
            </a:r>
          </a:p>
        </p:txBody>
      </p:sp>
      <p:sp>
        <p:nvSpPr>
          <p:cNvPr id="17" name="Text Box 1038">
            <a:extLst>
              <a:ext uri="{FF2B5EF4-FFF2-40B4-BE49-F238E27FC236}">
                <a16:creationId xmlns:a16="http://schemas.microsoft.com/office/drawing/2014/main" id="{F13BB225-1019-7214-FFBE-57F204547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0974" y="5746895"/>
            <a:ext cx="192405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2000"/>
              <a:t>Subclasse</a:t>
            </a:r>
          </a:p>
          <a:p>
            <a:pPr algn="ctr" eaLnBrk="1" hangingPunct="1"/>
            <a:r>
              <a:rPr lang="pt-BR" altLang="pt-BR"/>
              <a:t>(classe derivada)</a:t>
            </a:r>
          </a:p>
        </p:txBody>
      </p:sp>
    </p:spTree>
    <p:extLst>
      <p:ext uri="{BB962C8B-B14F-4D97-AF65-F5344CB8AC3E}">
        <p14:creationId xmlns:p14="http://schemas.microsoft.com/office/powerpoint/2010/main" val="377528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63A2E-CF32-A5D4-91E4-5900BD6D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6B77843-F453-6E0D-2C4C-DBB7E8D16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1026">
            <a:extLst>
              <a:ext uri="{FF2B5EF4-FFF2-40B4-BE49-F238E27FC236}">
                <a16:creationId xmlns:a16="http://schemas.microsoft.com/office/drawing/2014/main" id="{4E00A79D-8854-9FDE-6374-04747E0A6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1" y="1352551"/>
            <a:ext cx="1055528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400" dirty="0">
                <a:solidFill>
                  <a:srgbClr val="FFFF00"/>
                </a:solidFill>
              </a:rPr>
              <a:t>“É um”</a:t>
            </a:r>
            <a:r>
              <a:rPr lang="pt-BR" altLang="pt-BR" sz="2400" dirty="0"/>
              <a:t> – representa a herança. Em um relacionamento </a:t>
            </a:r>
            <a:r>
              <a:rPr lang="pt-BR" altLang="pt-BR" sz="2400" dirty="0">
                <a:solidFill>
                  <a:srgbClr val="FFFF00"/>
                </a:solidFill>
              </a:rPr>
              <a:t>“é um”</a:t>
            </a:r>
            <a:r>
              <a:rPr lang="pt-BR" altLang="pt-BR" sz="2400" dirty="0"/>
              <a:t>, um objeto de uma subclasse também pode ser tratado como um objetos de sua superclasse.</a:t>
            </a:r>
          </a:p>
        </p:txBody>
      </p:sp>
      <p:sp>
        <p:nvSpPr>
          <p:cNvPr id="5" name="Text Box 1028">
            <a:extLst>
              <a:ext uri="{FF2B5EF4-FFF2-40B4-BE49-F238E27FC236}">
                <a16:creationId xmlns:a16="http://schemas.microsoft.com/office/drawing/2014/main" id="{2DC740B8-99DB-2348-AF0E-E9C0FBD1F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2628758"/>
            <a:ext cx="170815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2000"/>
              <a:t>Superclasse</a:t>
            </a:r>
          </a:p>
          <a:p>
            <a:pPr algn="ctr" eaLnBrk="1" hangingPunct="1"/>
            <a:r>
              <a:rPr lang="pt-BR" altLang="pt-BR"/>
              <a:t>(classe básica)</a:t>
            </a:r>
          </a:p>
        </p:txBody>
      </p:sp>
      <p:sp>
        <p:nvSpPr>
          <p:cNvPr id="6" name="Text Box 1029">
            <a:extLst>
              <a:ext uri="{FF2B5EF4-FFF2-40B4-BE49-F238E27FC236}">
                <a16:creationId xmlns:a16="http://schemas.microsoft.com/office/drawing/2014/main" id="{561DE146-C129-A768-1D5E-7D2C3063D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1788" y="5149708"/>
            <a:ext cx="192405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2000"/>
              <a:t>Subclasse</a:t>
            </a:r>
          </a:p>
          <a:p>
            <a:pPr algn="ctr" eaLnBrk="1" hangingPunct="1"/>
            <a:r>
              <a:rPr lang="pt-BR" altLang="pt-BR"/>
              <a:t>(classe derivada)</a:t>
            </a:r>
          </a:p>
        </p:txBody>
      </p:sp>
      <p:pic>
        <p:nvPicPr>
          <p:cNvPr id="8" name="Picture 1030" descr="TN00217_">
            <a:extLst>
              <a:ext uri="{FF2B5EF4-FFF2-40B4-BE49-F238E27FC236}">
                <a16:creationId xmlns:a16="http://schemas.microsoft.com/office/drawing/2014/main" id="{9BAC0A69-5271-335E-E1B1-8BDEF20BC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9" y="4579796"/>
            <a:ext cx="839787" cy="22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031" descr="TN00218_">
            <a:extLst>
              <a:ext uri="{FF2B5EF4-FFF2-40B4-BE49-F238E27FC236}">
                <a16:creationId xmlns:a16="http://schemas.microsoft.com/office/drawing/2014/main" id="{EB27DBEA-63CE-AF8C-F3D8-84F88CBE2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738" y="6099034"/>
            <a:ext cx="161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32" descr="TN00255_">
            <a:extLst>
              <a:ext uri="{FF2B5EF4-FFF2-40B4-BE49-F238E27FC236}">
                <a16:creationId xmlns:a16="http://schemas.microsoft.com/office/drawing/2014/main" id="{CAC3A605-748C-255A-FE2F-13880D872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650" y="5014771"/>
            <a:ext cx="14351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33" descr="TR00095_">
            <a:extLst>
              <a:ext uri="{FF2B5EF4-FFF2-40B4-BE49-F238E27FC236}">
                <a16:creationId xmlns:a16="http://schemas.microsoft.com/office/drawing/2014/main" id="{9FD225AB-D34B-A0BE-6EB5-AC551BF7C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6476" y="5797408"/>
            <a:ext cx="614363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34" descr="TN00234_">
            <a:extLst>
              <a:ext uri="{FF2B5EF4-FFF2-40B4-BE49-F238E27FC236}">
                <a16:creationId xmlns:a16="http://schemas.microsoft.com/office/drawing/2014/main" id="{DB3560EF-FAA6-69A2-79E1-56A0439A7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1" y="5165583"/>
            <a:ext cx="1044575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035" descr="TN00241_">
            <a:extLst>
              <a:ext uri="{FF2B5EF4-FFF2-40B4-BE49-F238E27FC236}">
                <a16:creationId xmlns:a16="http://schemas.microsoft.com/office/drawing/2014/main" id="{26ECA9D8-D62A-862D-8FC2-6BB6CC66A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688" y="5897421"/>
            <a:ext cx="633412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036" descr="SO00736_">
            <a:extLst>
              <a:ext uri="{FF2B5EF4-FFF2-40B4-BE49-F238E27FC236}">
                <a16:creationId xmlns:a16="http://schemas.microsoft.com/office/drawing/2014/main" id="{33B7EC93-DAB6-73E6-9332-52EF9724D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114" y="4394058"/>
            <a:ext cx="90328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037" descr="PE03466_">
            <a:extLst>
              <a:ext uri="{FF2B5EF4-FFF2-40B4-BE49-F238E27FC236}">
                <a16:creationId xmlns:a16="http://schemas.microsoft.com/office/drawing/2014/main" id="{A23C5F1E-0178-0CC6-8ED5-9BB00EDBF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613" y="4149583"/>
            <a:ext cx="100965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038" descr="PE02369_">
            <a:extLst>
              <a:ext uri="{FF2B5EF4-FFF2-40B4-BE49-F238E27FC236}">
                <a16:creationId xmlns:a16="http://schemas.microsoft.com/office/drawing/2014/main" id="{98F648DD-3BB4-900D-2445-E6202B51B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438" y="5249721"/>
            <a:ext cx="67945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1039">
            <a:extLst>
              <a:ext uri="{FF2B5EF4-FFF2-40B4-BE49-F238E27FC236}">
                <a16:creationId xmlns:a16="http://schemas.microsoft.com/office/drawing/2014/main" id="{0D2FC571-8BB3-C57A-F9B7-50D353364A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539" y="2773220"/>
            <a:ext cx="2663825" cy="406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 u="sng">
                <a:solidFill>
                  <a:schemeClr val="bg1"/>
                </a:solidFill>
              </a:rPr>
              <a:t>Veículo</a:t>
            </a:r>
          </a:p>
        </p:txBody>
      </p:sp>
      <p:sp>
        <p:nvSpPr>
          <p:cNvPr id="18" name="Line 1040">
            <a:extLst>
              <a:ext uri="{FF2B5EF4-FFF2-40B4-BE49-F238E27FC236}">
                <a16:creationId xmlns:a16="http://schemas.microsoft.com/office/drawing/2014/main" id="{639029CD-9508-6F72-8EA0-51BBF666F0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16375" y="3189145"/>
            <a:ext cx="0" cy="1009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diamond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9" name="Text Box 1041">
            <a:extLst>
              <a:ext uri="{FF2B5EF4-FFF2-40B4-BE49-F238E27FC236}">
                <a16:creationId xmlns:a16="http://schemas.microsoft.com/office/drawing/2014/main" id="{89F861A7-6645-5786-E393-7AE9E5F9B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465371"/>
            <a:ext cx="5472112" cy="396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 b="1" dirty="0">
                <a:solidFill>
                  <a:schemeClr val="bg1"/>
                </a:solidFill>
              </a:rPr>
              <a:t>Por exemplo, um carro </a:t>
            </a:r>
            <a:r>
              <a:rPr lang="pt-BR" altLang="pt-BR" sz="2000" b="1" i="1" dirty="0">
                <a:solidFill>
                  <a:srgbClr val="FF0000"/>
                </a:solidFill>
              </a:rPr>
              <a:t>é um</a:t>
            </a:r>
            <a:r>
              <a:rPr lang="pt-BR" altLang="pt-BR" sz="2000" b="1" dirty="0">
                <a:solidFill>
                  <a:srgbClr val="FF0000"/>
                </a:solidFill>
              </a:rPr>
              <a:t> </a:t>
            </a:r>
            <a:r>
              <a:rPr lang="pt-BR" altLang="pt-BR" sz="2000" b="1" dirty="0">
                <a:solidFill>
                  <a:schemeClr val="bg1"/>
                </a:solidFill>
              </a:rPr>
              <a:t>veículo.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DC66526-12CB-BC84-5A16-72776EDA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pt-BR" b="1" dirty="0"/>
              <a:t>Conceito de Herança</a:t>
            </a:r>
          </a:p>
        </p:txBody>
      </p:sp>
    </p:spTree>
    <p:extLst>
      <p:ext uri="{BB962C8B-B14F-4D97-AF65-F5344CB8AC3E}">
        <p14:creationId xmlns:p14="http://schemas.microsoft.com/office/powerpoint/2010/main" val="240759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7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0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7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10C8C-27E7-928D-35C1-C6A0BAF24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746B20C-04F6-9CD2-1EFC-AB9552362A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23" name="Título 1">
            <a:extLst>
              <a:ext uri="{FF2B5EF4-FFF2-40B4-BE49-F238E27FC236}">
                <a16:creationId xmlns:a16="http://schemas.microsoft.com/office/drawing/2014/main" id="{4D3937B6-4808-A372-CDD9-93D8ED80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pt-BR" b="1" dirty="0"/>
              <a:t>Conceito de Herança</a:t>
            </a:r>
          </a:p>
        </p:txBody>
      </p:sp>
      <p:sp>
        <p:nvSpPr>
          <p:cNvPr id="2" name="Text Box 1026">
            <a:extLst>
              <a:ext uri="{FF2B5EF4-FFF2-40B4-BE49-F238E27FC236}">
                <a16:creationId xmlns:a16="http://schemas.microsoft.com/office/drawing/2014/main" id="{E57FF0F2-C4CB-4308-436F-99E6D08F49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69" y="1338264"/>
            <a:ext cx="1021960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400" dirty="0">
                <a:solidFill>
                  <a:srgbClr val="FFFF00"/>
                </a:solidFill>
              </a:rPr>
              <a:t>“Tem um”</a:t>
            </a:r>
            <a:r>
              <a:rPr lang="pt-BR" altLang="pt-BR" sz="2400" dirty="0"/>
              <a:t> – representa a composição. Em um relacionamento </a:t>
            </a:r>
            <a:r>
              <a:rPr lang="pt-BR" altLang="pt-BR" sz="2400" dirty="0">
                <a:solidFill>
                  <a:srgbClr val="FFFF00"/>
                </a:solidFill>
              </a:rPr>
              <a:t>“tem um”</a:t>
            </a:r>
            <a:r>
              <a:rPr lang="pt-BR" altLang="pt-BR" sz="2400" dirty="0"/>
              <a:t>, um objeto contém uma ou mais referencias de objeto como membros.</a:t>
            </a:r>
          </a:p>
        </p:txBody>
      </p:sp>
      <p:pic>
        <p:nvPicPr>
          <p:cNvPr id="4" name="Picture 1028" descr="TN00217_">
            <a:extLst>
              <a:ext uri="{FF2B5EF4-FFF2-40B4-BE49-F238E27FC236}">
                <a16:creationId xmlns:a16="http://schemas.microsoft.com/office/drawing/2014/main" id="{CF9A9906-E947-3B3D-CB44-36D4B5678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5651" y="5373688"/>
            <a:ext cx="3313113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1029">
            <a:extLst>
              <a:ext uri="{FF2B5EF4-FFF2-40B4-BE49-F238E27FC236}">
                <a16:creationId xmlns:a16="http://schemas.microsoft.com/office/drawing/2014/main" id="{872004AE-32FA-C022-8117-5E6163E6B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76" y="2508250"/>
            <a:ext cx="1871663" cy="406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 u="sng">
                <a:solidFill>
                  <a:schemeClr val="bg1"/>
                </a:solidFill>
              </a:rPr>
              <a:t>Direção</a:t>
            </a:r>
          </a:p>
        </p:txBody>
      </p:sp>
      <p:sp>
        <p:nvSpPr>
          <p:cNvPr id="21" name="Freeform 1030">
            <a:extLst>
              <a:ext uri="{FF2B5EF4-FFF2-40B4-BE49-F238E27FC236}">
                <a16:creationId xmlns:a16="http://schemas.microsoft.com/office/drawing/2014/main" id="{E2F7A81C-D0BD-0FB3-0334-36E3D7CFA6E1}"/>
              </a:ext>
            </a:extLst>
          </p:cNvPr>
          <p:cNvSpPr>
            <a:spLocks/>
          </p:cNvSpPr>
          <p:nvPr/>
        </p:nvSpPr>
        <p:spPr bwMode="auto">
          <a:xfrm>
            <a:off x="3879850" y="2924175"/>
            <a:ext cx="915988" cy="2376488"/>
          </a:xfrm>
          <a:custGeom>
            <a:avLst/>
            <a:gdLst>
              <a:gd name="T0" fmla="*/ 2147483647 w 577"/>
              <a:gd name="T1" fmla="*/ 2147483647 h 1497"/>
              <a:gd name="T2" fmla="*/ 2147483647 w 577"/>
              <a:gd name="T3" fmla="*/ 2147483647 h 1497"/>
              <a:gd name="T4" fmla="*/ 2147483647 w 577"/>
              <a:gd name="T5" fmla="*/ 2147483647 h 1497"/>
              <a:gd name="T6" fmla="*/ 0 w 577"/>
              <a:gd name="T7" fmla="*/ 0 h 1497"/>
              <a:gd name="T8" fmla="*/ 0 60000 65536"/>
              <a:gd name="T9" fmla="*/ 0 60000 65536"/>
              <a:gd name="T10" fmla="*/ 0 60000 65536"/>
              <a:gd name="T11" fmla="*/ 0 60000 65536"/>
              <a:gd name="T12" fmla="*/ 0 w 577"/>
              <a:gd name="T13" fmla="*/ 0 h 1497"/>
              <a:gd name="T14" fmla="*/ 577 w 577"/>
              <a:gd name="T15" fmla="*/ 1497 h 149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7" h="1497">
                <a:moveTo>
                  <a:pt x="577" y="1497"/>
                </a:moveTo>
                <a:lnTo>
                  <a:pt x="577" y="300"/>
                </a:lnTo>
                <a:lnTo>
                  <a:pt x="1" y="30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diamond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>
              <a:solidFill>
                <a:schemeClr val="bg1"/>
              </a:solidFill>
            </a:endParaRPr>
          </a:p>
        </p:txBody>
      </p:sp>
      <p:sp>
        <p:nvSpPr>
          <p:cNvPr id="22" name="Text Box 1031">
            <a:extLst>
              <a:ext uri="{FF2B5EF4-FFF2-40B4-BE49-F238E27FC236}">
                <a16:creationId xmlns:a16="http://schemas.microsoft.com/office/drawing/2014/main" id="{86EC5208-5A3A-796A-F299-E5E3A94A0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7463" y="2508250"/>
            <a:ext cx="1871662" cy="406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 u="sng">
                <a:solidFill>
                  <a:schemeClr val="bg1"/>
                </a:solidFill>
              </a:rPr>
              <a:t>Eixos</a:t>
            </a:r>
          </a:p>
        </p:txBody>
      </p:sp>
      <p:sp>
        <p:nvSpPr>
          <p:cNvPr id="24" name="Freeform 1032">
            <a:extLst>
              <a:ext uri="{FF2B5EF4-FFF2-40B4-BE49-F238E27FC236}">
                <a16:creationId xmlns:a16="http://schemas.microsoft.com/office/drawing/2014/main" id="{8AB0EDD6-3B49-BCC2-92F8-99A9D5F06374}"/>
              </a:ext>
            </a:extLst>
          </p:cNvPr>
          <p:cNvSpPr>
            <a:spLocks/>
          </p:cNvSpPr>
          <p:nvPr/>
        </p:nvSpPr>
        <p:spPr bwMode="auto">
          <a:xfrm>
            <a:off x="5067300" y="2914651"/>
            <a:ext cx="985838" cy="2386013"/>
          </a:xfrm>
          <a:custGeom>
            <a:avLst/>
            <a:gdLst>
              <a:gd name="T0" fmla="*/ 0 w 621"/>
              <a:gd name="T1" fmla="*/ 2147483647 h 1503"/>
              <a:gd name="T2" fmla="*/ 0 w 621"/>
              <a:gd name="T3" fmla="*/ 2147483647 h 1503"/>
              <a:gd name="T4" fmla="*/ 2147483647 w 621"/>
              <a:gd name="T5" fmla="*/ 2147483647 h 1503"/>
              <a:gd name="T6" fmla="*/ 2147483647 w 621"/>
              <a:gd name="T7" fmla="*/ 0 h 1503"/>
              <a:gd name="T8" fmla="*/ 0 60000 65536"/>
              <a:gd name="T9" fmla="*/ 0 60000 65536"/>
              <a:gd name="T10" fmla="*/ 0 60000 65536"/>
              <a:gd name="T11" fmla="*/ 0 60000 65536"/>
              <a:gd name="T12" fmla="*/ 0 w 621"/>
              <a:gd name="T13" fmla="*/ 0 h 1503"/>
              <a:gd name="T14" fmla="*/ 621 w 621"/>
              <a:gd name="T15" fmla="*/ 1503 h 150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1" h="1503">
                <a:moveTo>
                  <a:pt x="0" y="1503"/>
                </a:moveTo>
                <a:lnTo>
                  <a:pt x="0" y="297"/>
                </a:lnTo>
                <a:lnTo>
                  <a:pt x="621" y="297"/>
                </a:lnTo>
                <a:lnTo>
                  <a:pt x="621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diamond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>
              <a:solidFill>
                <a:schemeClr val="bg1"/>
              </a:solidFill>
            </a:endParaRPr>
          </a:p>
        </p:txBody>
      </p:sp>
      <p:sp>
        <p:nvSpPr>
          <p:cNvPr id="25" name="Text Box 1033">
            <a:extLst>
              <a:ext uri="{FF2B5EF4-FFF2-40B4-BE49-F238E27FC236}">
                <a16:creationId xmlns:a16="http://schemas.microsoft.com/office/drawing/2014/main" id="{23CC9E0D-7C80-AA9F-C173-54FD48B77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7738" y="3644901"/>
            <a:ext cx="5472112" cy="13112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pt-BR" altLang="pt-BR" sz="2000" b="1" dirty="0">
                <a:solidFill>
                  <a:schemeClr val="bg1"/>
                </a:solidFill>
              </a:rPr>
              <a:t>Por exemplo, um carro </a:t>
            </a:r>
            <a:r>
              <a:rPr lang="pt-BR" altLang="pt-BR" sz="2000" b="1" i="1" dirty="0">
                <a:solidFill>
                  <a:schemeClr val="bg1"/>
                </a:solidFill>
              </a:rPr>
              <a:t>tem uma</a:t>
            </a:r>
            <a:r>
              <a:rPr lang="pt-BR" altLang="pt-BR" sz="2000" b="1" dirty="0">
                <a:solidFill>
                  <a:schemeClr val="bg1"/>
                </a:solidFill>
              </a:rPr>
              <a:t> direção.</a:t>
            </a:r>
          </a:p>
          <a:p>
            <a:pPr algn="ctr" eaLnBrk="1" hangingPunct="1">
              <a:spcBef>
                <a:spcPct val="50000"/>
              </a:spcBef>
            </a:pPr>
            <a:r>
              <a:rPr lang="pt-BR" altLang="pt-BR" sz="2000" b="1" dirty="0">
                <a:solidFill>
                  <a:schemeClr val="bg1"/>
                </a:solidFill>
              </a:rPr>
              <a:t>Um carro </a:t>
            </a:r>
            <a:r>
              <a:rPr lang="pt-BR" altLang="pt-BR" sz="2000" b="1" i="1" dirty="0">
                <a:solidFill>
                  <a:srgbClr val="FF0000"/>
                </a:solidFill>
              </a:rPr>
              <a:t>tem um</a:t>
            </a:r>
            <a:r>
              <a:rPr lang="pt-BR" altLang="pt-BR" sz="2000" b="1" dirty="0">
                <a:solidFill>
                  <a:srgbClr val="FF0000"/>
                </a:solidFill>
              </a:rPr>
              <a:t> </a:t>
            </a:r>
            <a:r>
              <a:rPr lang="pt-BR" altLang="pt-BR" sz="2000" b="1" dirty="0">
                <a:solidFill>
                  <a:schemeClr val="bg1"/>
                </a:solidFill>
              </a:rPr>
              <a:t>eixo dianteiro.</a:t>
            </a:r>
          </a:p>
          <a:p>
            <a:pPr algn="ctr" eaLnBrk="1" hangingPunct="1">
              <a:spcBef>
                <a:spcPct val="50000"/>
              </a:spcBef>
            </a:pPr>
            <a:r>
              <a:rPr lang="pt-BR" altLang="pt-BR" sz="2000" b="1" dirty="0">
                <a:solidFill>
                  <a:schemeClr val="bg1"/>
                </a:solidFill>
              </a:rPr>
              <a:t>Um carro </a:t>
            </a:r>
            <a:r>
              <a:rPr lang="pt-BR" altLang="pt-BR" sz="2000" b="1" i="1" dirty="0">
                <a:solidFill>
                  <a:srgbClr val="FF0000"/>
                </a:solidFill>
              </a:rPr>
              <a:t>tem um </a:t>
            </a:r>
            <a:r>
              <a:rPr lang="pt-BR" altLang="pt-BR" sz="2000" b="1" dirty="0">
                <a:solidFill>
                  <a:schemeClr val="bg1"/>
                </a:solidFill>
              </a:rPr>
              <a:t>eixo traseiro.</a:t>
            </a:r>
          </a:p>
        </p:txBody>
      </p:sp>
    </p:spTree>
    <p:extLst>
      <p:ext uri="{BB962C8B-B14F-4D97-AF65-F5344CB8AC3E}">
        <p14:creationId xmlns:p14="http://schemas.microsoft.com/office/powerpoint/2010/main" val="240763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B517C-BEE4-1899-95BD-88F083EC9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6F7FBFE-22D8-59AE-9B93-A283A3F1D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23" name="Título 1">
            <a:extLst>
              <a:ext uri="{FF2B5EF4-FFF2-40B4-BE49-F238E27FC236}">
                <a16:creationId xmlns:a16="http://schemas.microsoft.com/office/drawing/2014/main" id="{F23D9EA4-F417-0EB5-AF61-D94465421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pt-BR" b="1" dirty="0"/>
              <a:t>Como ocorre a Herança</a:t>
            </a:r>
          </a:p>
        </p:txBody>
      </p:sp>
      <p:sp>
        <p:nvSpPr>
          <p:cNvPr id="3" name="Text Box 1026">
            <a:extLst>
              <a:ext uri="{FF2B5EF4-FFF2-40B4-BE49-F238E27FC236}">
                <a16:creationId xmlns:a16="http://schemas.microsoft.com/office/drawing/2014/main" id="{26EC1786-D78D-29DF-7A5A-C901E0BA6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942" y="1395414"/>
            <a:ext cx="1071716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800" dirty="0"/>
              <a:t>Em Java indicamos que uma classe é derivada de uma outra classe utilizando a palavra reservada </a:t>
            </a:r>
            <a:r>
              <a:rPr lang="pt-BR" altLang="pt-BR" sz="2800" i="1" dirty="0" err="1">
                <a:solidFill>
                  <a:srgbClr val="FFFF00"/>
                </a:solidFill>
                <a:latin typeface="Courier New" panose="02070309020205020404" pitchFamily="49" charset="0"/>
              </a:rPr>
              <a:t>extends</a:t>
            </a:r>
            <a:r>
              <a:rPr lang="pt-BR" altLang="pt-BR" sz="2800" dirty="0"/>
              <a:t> conforme o trecho simplificado de código dado a seguir:</a:t>
            </a:r>
          </a:p>
        </p:txBody>
      </p:sp>
      <p:pic>
        <p:nvPicPr>
          <p:cNvPr id="5" name="Picture 1028">
            <a:extLst>
              <a:ext uri="{FF2B5EF4-FFF2-40B4-BE49-F238E27FC236}">
                <a16:creationId xmlns:a16="http://schemas.microsoft.com/office/drawing/2014/main" id="{724C2BFF-1462-1488-D44B-909940410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0" t="17722" r="42599" b="55112"/>
          <a:stretch>
            <a:fillRect/>
          </a:stretch>
        </p:blipFill>
        <p:spPr bwMode="auto">
          <a:xfrm>
            <a:off x="3152776" y="3461930"/>
            <a:ext cx="5616575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1029">
            <a:extLst>
              <a:ext uri="{FF2B5EF4-FFF2-40B4-BE49-F238E27FC236}">
                <a16:creationId xmlns:a16="http://schemas.microsoft.com/office/drawing/2014/main" id="{2CA219B7-6355-AD16-9390-422B322B1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3820705"/>
            <a:ext cx="2160588" cy="936625"/>
          </a:xfrm>
          <a:prstGeom prst="wedgeRectCallout">
            <a:avLst>
              <a:gd name="adj1" fmla="val 60579"/>
              <a:gd name="adj2" fmla="val -67458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dirty="0"/>
              <a:t>A superclasse não recebe qualquer indicação especial.</a:t>
            </a:r>
          </a:p>
        </p:txBody>
      </p:sp>
      <p:sp>
        <p:nvSpPr>
          <p:cNvPr id="8" name="AutoShape 1030">
            <a:extLst>
              <a:ext uri="{FF2B5EF4-FFF2-40B4-BE49-F238E27FC236}">
                <a16:creationId xmlns:a16="http://schemas.microsoft.com/office/drawing/2014/main" id="{F0794646-1BC5-FA9D-8E90-1D2A6743B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8764" y="2812642"/>
            <a:ext cx="2663825" cy="2087563"/>
          </a:xfrm>
          <a:prstGeom prst="wedgeRectCallout">
            <a:avLst>
              <a:gd name="adj1" fmla="val -51968"/>
              <a:gd name="adj2" fmla="val 74639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/>
              <a:t>A subclasse em sua definição possui a palavra reservada </a:t>
            </a:r>
            <a:r>
              <a:rPr lang="pt-BR" altLang="pt-BR" i="1">
                <a:latin typeface="Century" panose="02040604050505020304" pitchFamily="18" charset="0"/>
              </a:rPr>
              <a:t>extends</a:t>
            </a:r>
            <a:r>
              <a:rPr lang="pt-BR" altLang="pt-BR"/>
              <a:t> que demonstra a extensão (especialização) de uma outra classe.</a:t>
            </a:r>
          </a:p>
        </p:txBody>
      </p:sp>
    </p:spTree>
    <p:extLst>
      <p:ext uri="{BB962C8B-B14F-4D97-AF65-F5344CB8AC3E}">
        <p14:creationId xmlns:p14="http://schemas.microsoft.com/office/powerpoint/2010/main" val="324926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176</TotalTime>
  <Words>391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Aptos</vt:lpstr>
      <vt:lpstr>Century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Herança</vt:lpstr>
      <vt:lpstr>Herança</vt:lpstr>
      <vt:lpstr>Apresentação do PowerPoint</vt:lpstr>
      <vt:lpstr>Conceito de Herança</vt:lpstr>
      <vt:lpstr>Conceito de Herança</vt:lpstr>
      <vt:lpstr>Conceito de Herança</vt:lpstr>
      <vt:lpstr>Como ocorre a Herança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23</cp:revision>
  <dcterms:created xsi:type="dcterms:W3CDTF">2026-05-09T23:28:48Z</dcterms:created>
  <dcterms:modified xsi:type="dcterms:W3CDTF">2026-06-29T23:24:58Z</dcterms:modified>
</cp:coreProperties>
</file>