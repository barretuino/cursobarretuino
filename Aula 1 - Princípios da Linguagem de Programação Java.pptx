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6" r:id="rId2"/>
    <p:sldId id="25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58" r:id="rId15"/>
    <p:sldId id="279" r:id="rId16"/>
    <p:sldId id="259" r:id="rId17"/>
    <p:sldId id="260" r:id="rId18"/>
    <p:sldId id="261" r:id="rId19"/>
    <p:sldId id="262" r:id="rId20"/>
    <p:sldId id="264" r:id="rId21"/>
    <p:sldId id="265" r:id="rId22"/>
    <p:sldId id="266" r:id="rId23"/>
    <p:sldId id="267" r:id="rId24"/>
    <p:sldId id="280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9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76FF45-114E-4A4F-AAE2-FB0CB5039C2B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1CEE62-5799-4A2A-81F1-165BD8D372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1899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08CB6-D8CB-4F7C-4632-BC69F7041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B24DBA8-D5CC-179E-0F75-A79D3D5A04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B770C48-B11D-6691-3BDB-ED1A6DD365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0C201FD-7BE7-0CF8-4D89-C176F9FADF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1CEE62-5799-4A2A-81F1-165BD8D3721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83515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F88DE-D1A2-F8BA-7116-487BD9F70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B13B711-4027-1B16-BF84-1E4BB92162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15C3E40-92EA-3019-D31D-2F724F9753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3E94498-2363-DD6D-7BC0-F2F4EAD02A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1CEE62-5799-4A2A-81F1-165BD8D3721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9633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5CF55-30B8-9F41-72F0-CA124F483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10A516D-22C8-6755-804E-7F2A9FD6F5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75692DB-6DAD-E428-1FFB-0307498E95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8565944-7D22-C6A1-F42F-BBA09D01A5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1CEE62-5799-4A2A-81F1-165BD8D3721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47880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DA158-A94B-0B7A-E854-CDEF6CBE2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E164AF5-E80A-72A8-6D95-03FE4CF4E4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1596BBF-A3B5-FA81-20AD-E35D3EA499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C517428-B961-E301-898B-135D5F92C2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1CEE62-5799-4A2A-81F1-165BD8D3721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11143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15FE8-32BA-4CAC-2418-D76079828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61F7349-7704-905A-796A-DD8A5812BB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7DA700B-4126-BBE8-6941-2347E426F8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BB84589-D019-DC9D-C103-81B778F829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1CEE62-5799-4A2A-81F1-165BD8D3721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2298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604D9-B581-F724-45B8-0DC0F64F3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D06D7B5-0633-ECF5-7FAB-0FFF9CEC0B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1F2E2D5-7BE9-1BA6-04DB-035FBA23AB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05CF2F4-C9C1-C2D2-2FF9-C6896EEF49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1CEE62-5799-4A2A-81F1-165BD8D37219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79913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E5348-16B9-DB4C-502A-9EF7B08E7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709FE35-C3F2-E595-F929-3DEF32B313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46E3D04-1374-3EEC-AD7D-786F9584D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912E083-6A6F-1351-2C4F-24B2FB754D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1CEE62-5799-4A2A-81F1-165BD8D3721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98833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BCFF9-DA63-3B13-A2FE-033F2326C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B6B5612-208C-4DF1-8CC2-7FBC478B70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E89679C-066B-4A18-F10B-E605C84E9A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9880784-7A78-C19F-3B20-525237FDA2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1CEE62-5799-4A2A-81F1-165BD8D37219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30603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5D94D-5667-41FD-BD75-EA6A98F51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7909CB9-4256-7A3D-A4C6-23821F1594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69B426E-4CC1-41DA-E707-898EB956A3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C09D337-9EFB-7CA7-6C0A-624653A994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1CEE62-5799-4A2A-81F1-165BD8D37219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84124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E939A-E5D0-94B7-243C-330DAB1A2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ECFEC74-988E-5F43-B95E-C96FE05344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AC15582-0494-F8DF-1592-0FF77114EC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347D778-EA4F-47DC-2E91-3EC8BD66AA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1CEE62-5799-4A2A-81F1-165BD8D37219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28257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E8E6C-7376-15F7-8421-B4E9F4243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6D57C20-995A-1946-497F-6BE5B24BE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CC6201C-D16B-AF4A-3A9F-DCC6348547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6226FC6-68A3-FCFA-EF7E-431A1F914E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1CEE62-5799-4A2A-81F1-165BD8D37219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25755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1CEE62-5799-4A2A-81F1-165BD8D37219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04509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0855-FB46-1CD0-64FD-C307D7578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B301B60-03E0-A9D3-DD25-C99ABDC0B5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09F2EEC-DA5B-FEC3-19CE-E9C54BCB6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3800FFC-0085-23EC-1E81-E7C0084A2A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1CEE62-5799-4A2A-81F1-165BD8D37219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74111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5C9CF-2323-0B9C-532B-407B30CF5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8615C54-4212-6048-84AE-504F101E51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6FC344F-CECF-26DC-85BE-C2FCF81453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F4C08CA-3573-8FEC-8F3B-110416947A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1CEE62-5799-4A2A-81F1-165BD8D37219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62209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07474-3869-7235-2D7E-19E622E7C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EC91658-6C6D-0381-7AA5-CD63CFBDCB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0DF2374-91A7-E6D7-46F4-82E1E273E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5D61B01-56A7-4A94-B639-B1DCB2C67C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1CEE62-5799-4A2A-81F1-165BD8D37219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99495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FF3F8-D91B-A570-E755-87C4FC135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96D812E-3A38-F394-C9D6-DC44FCDC7A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039122A-A411-543E-CD22-C5C383ADA7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0CDA985-DE3C-9ED0-1383-AD9BBE838B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1CEE62-5799-4A2A-81F1-165BD8D37219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04093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379E1-A363-7A87-9950-28BFBD4EF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CD6A9A8-6701-B796-F4DF-F5AF914727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F964E6C-E2BA-AFA8-0F1D-CAB17619C5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60268AA-B5F1-F8FC-C4BB-6DA4BE669C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1CEE62-5799-4A2A-81F1-165BD8D37219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52245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32C5B-CD85-B350-E712-AECB66A4D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6A819BF-84A6-4A32-C8F2-5476D0D6AD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E8A8820-F835-2E53-02B0-4FFA71B26E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E6431-9C4A-9540-9A3E-A27D0202A9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1CEE62-5799-4A2A-81F1-165BD8D37219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1681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5FC37-5644-D5B7-D7FC-CF93C3BE8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01D0ABC-1B1A-E208-E61C-ADAF3C05BE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28FC5D9-579F-22BC-0F59-1F3DB3BF57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AFBAEBB-52C5-F66D-D258-C55B93F771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1CEE62-5799-4A2A-81F1-165BD8D37219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64327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7B4D0-1442-0060-0E74-0D05CC94F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FA83E30-F55F-28CF-F7D3-92EA2D25C2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979493E-7FBD-67CB-B764-189E85664E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6C7E140-BB85-5A32-8842-5F680BA8E0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1CEE62-5799-4A2A-81F1-165BD8D37219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9771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ED10B-604B-BE79-674A-E443007D4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94AE7F7-0E90-F810-3AD3-5AF29EF26D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7E00A94-7C15-7F35-8D81-B99B44133B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1C5B3D6-C9C0-8D5F-3247-13A7E5830A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1CEE62-5799-4A2A-81F1-165BD8D37219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2142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8767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3860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3244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2506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3188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7712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2852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3304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7023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4004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7930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27908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487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50763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9356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910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022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9E3A743-186D-4F77-9612-BE4CFC269A5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97158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9B53827-0705-E714-6193-8D30E1528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0" y="0"/>
            <a:ext cx="12573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127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6A222EB-A81E-4238-B08D-AAB1828C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14676C-074B-475A-8346-9C901C86C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79C4C8E-197B-4679-AE96-B5147F971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2">
                <a:alpha val="7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A2F8BC53-1D92-2AFC-631B-5986D255097B}"/>
              </a:ext>
            </a:extLst>
          </p:cNvPr>
          <p:cNvSpPr txBox="1"/>
          <p:nvPr/>
        </p:nvSpPr>
        <p:spPr>
          <a:xfrm>
            <a:off x="4654295" y="1266958"/>
            <a:ext cx="6808362" cy="4528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pt-BR" sz="7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Princípios da Linguagem de Programação Java</a:t>
            </a:r>
          </a:p>
        </p:txBody>
      </p:sp>
      <p:pic>
        <p:nvPicPr>
          <p:cNvPr id="2" name="Imagem 1" descr="Java - ícones de logotipo grátis">
            <a:extLst>
              <a:ext uri="{FF2B5EF4-FFF2-40B4-BE49-F238E27FC236}">
                <a16:creationId xmlns:a16="http://schemas.microsoft.com/office/drawing/2014/main" id="{73B0CD15-B44E-4315-4DF4-F7B46587D1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004" y="1691120"/>
            <a:ext cx="3566680" cy="356668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CE62C90-F960-52A5-4225-9D5977F813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910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88635-DA1D-8C8C-1A37-E2F4D2B8F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2ED6DF-1148-32D7-5A7E-6BC07A930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Um pouco de História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C12259-1086-3207-C261-C3B858731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446" y="1479669"/>
            <a:ext cx="11183145" cy="46925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3200" dirty="0"/>
              <a:t>A história da criação do Java é um dos relatos mais interessantes da computação, pois a linguagem não foi criada para o que acabou se tornando. Ela nasceu de um projeto de hardware que "fracassou" comercialmente, mas cujas ideias revolucionaram a internet.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0D3641A-9D94-A836-0E0A-085971CABD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BC244F33-C97C-28B6-99D0-8C0B8DFB3B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6480" y="4261616"/>
            <a:ext cx="2886697" cy="259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731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DD2F5-0E0E-8AD5-1EF7-01A771FBA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47F68D-4EB1-A2D3-A147-BB6DE5309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O "Green Team" (1991)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C7E777-4905-FBB8-6615-16AAF11AC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446" y="1479669"/>
            <a:ext cx="11183145" cy="46925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3200" dirty="0"/>
              <a:t>Tudo começou em 1991, na </a:t>
            </a:r>
            <a:r>
              <a:rPr lang="pt-BR" sz="3200" b="1" dirty="0"/>
              <a:t>Sun Microsystems</a:t>
            </a:r>
            <a:r>
              <a:rPr lang="pt-BR" sz="3200" dirty="0"/>
              <a:t>. Um grupo de engenheiros de elite, liderado por </a:t>
            </a:r>
            <a:r>
              <a:rPr lang="pt-BR" sz="3200" b="1" dirty="0"/>
              <a:t>James Gosling</a:t>
            </a:r>
            <a:r>
              <a:rPr lang="pt-BR" sz="3200" dirty="0"/>
              <a:t> (conhecido como o pai do Java), Patrick </a:t>
            </a:r>
            <a:r>
              <a:rPr lang="pt-BR" sz="3200" dirty="0" err="1"/>
              <a:t>Naughton</a:t>
            </a:r>
            <a:r>
              <a:rPr lang="pt-BR" sz="3200" dirty="0"/>
              <a:t> e Mike Sheridan, formou o chamado </a:t>
            </a:r>
            <a:r>
              <a:rPr lang="pt-BR" sz="3200" i="1" dirty="0"/>
              <a:t>Green Team</a:t>
            </a:r>
            <a:r>
              <a:rPr lang="pt-BR" sz="3200" dirty="0"/>
              <a:t>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E22B746-BB2C-C33B-48D8-35F03C1AAB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pic>
        <p:nvPicPr>
          <p:cNvPr id="4" name="Imagem 3" descr="representation of James Gosling and the Green Project team at Sun Microsystems working on the Star7 PDA. Shant khayalian — Balian’s IT">
            <a:extLst>
              <a:ext uri="{FF2B5EF4-FFF2-40B4-BE49-F238E27FC236}">
                <a16:creationId xmlns:a16="http://schemas.microsoft.com/office/drawing/2014/main" id="{094DFD7C-7358-F6C9-4846-17100F4A9A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0701" y="3710634"/>
            <a:ext cx="5094003" cy="291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524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A47B5-8D29-562B-8E1D-173F33CCD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1E0863-90C7-7A64-2C61-7C4C974D7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Objetivo da Linguagem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22FF2A-3FF1-9756-71B3-BC15A311C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446" y="1479669"/>
            <a:ext cx="11183145" cy="46925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3200" dirty="0"/>
              <a:t>Eles queriam antecipar a próxima grande onda da computação. A aposta deles não era o PC, mas sim a convergência entre computadores e aparelhos domésticos (o que hoje chamamos de </a:t>
            </a:r>
            <a:r>
              <a:rPr lang="pt-BR" sz="3200" b="1" dirty="0"/>
              <a:t>Internet das Coisas</a:t>
            </a:r>
            <a:r>
              <a:rPr lang="pt-BR" sz="3200" dirty="0"/>
              <a:t> ou IoT).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BCB5A87-019C-EB8E-DD28-BF096E27E5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147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CBCB3-FF10-8D6E-51DC-F375474EB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2BEB8A-12FA-AA7D-14A2-126CF0A2F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Desafio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4340F3-96DE-8F16-E177-8255723B9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446" y="1479669"/>
            <a:ext cx="11183145" cy="46925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3200" dirty="0"/>
              <a:t>Criar um sistema para dispositivos eletrônicos de consumo (como televisores e set-top boxes) que fosse extremamente leve e pudesse rodar em diferentes tipos de processadores.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883586B-DE01-7B40-3561-BFE2685205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861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12CCC-CC2B-07BC-4B66-E95D76E96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37FFA3-A50E-283A-D97A-60184B8FD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Nascimento Linguagem Oak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086510-FCE4-5FDF-34E8-8E2BFD045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446" y="1479669"/>
            <a:ext cx="11183145" cy="46925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3200" dirty="0"/>
              <a:t>James Gosling começou a trabalhar em uma nova linguagem para o projeto, que ele chamou inicialmente de </a:t>
            </a:r>
            <a:r>
              <a:rPr lang="pt-BR" sz="3200" b="1" dirty="0"/>
              <a:t>Oak</a:t>
            </a:r>
            <a:r>
              <a:rPr lang="pt-BR" sz="3200" dirty="0"/>
              <a:t> (em homenagem a uma árvore de carvalho que ficava do lado de fora de sua janela na Sun).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BF080AB-0A80-19C2-4090-EEF45FEED4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FBF5F9D-D4C1-6FEF-359A-A38E99C4E0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3763" y="3530491"/>
            <a:ext cx="4322872" cy="345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555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AD287-138E-2249-E575-F409BA4FB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F7F8-31AE-4169-B686-F25EF47DC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Inovação na Linguagem Oak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B95B54-50B6-159C-8920-AE219BD43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446" y="1479669"/>
            <a:ext cx="11183145" cy="46925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3200" dirty="0"/>
              <a:t>Para que o código rodasse em qualquer chip, Gosling resgatou a ideia de uma "Máquina Virtual". O código não seria compilado para o hardware, mas para um intermediário (o </a:t>
            </a:r>
            <a:r>
              <a:rPr lang="pt-BR" sz="3200" dirty="0" err="1"/>
              <a:t>Bytecode</a:t>
            </a:r>
            <a:r>
              <a:rPr lang="pt-BR" sz="3200" dirty="0"/>
              <a:t>), que a máquina virtual traduziria em tempo real.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4C4D5C8-94F7-A33A-6FBC-0B8D700202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804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702C3-FE99-0770-C542-7E69F57ED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2FFB75-91FE-8B53-588D-85975CDB1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Limitações de Mercado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FE790C-C169-9503-CB75-F9EE6E2F1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446" y="1479669"/>
            <a:ext cx="11183145" cy="46925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3200" dirty="0"/>
              <a:t>O Green Team tentou vender essa tecnologia para empresas de TV a cabo, mas a indústria ainda era muito conservadora e não estava pronta para aparelhos interativos. O projeto quase foi cancelado.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470DE69-4B23-7125-5227-241C5A7074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47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BB09C-ED50-E96D-3A8E-168BE0996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720CDE-F66F-AB19-F032-07E6BBD9A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A </a:t>
            </a:r>
            <a:r>
              <a:rPr lang="pt-BR" b="1" dirty="0" err="1"/>
              <a:t>Pivotagem</a:t>
            </a:r>
            <a:r>
              <a:rPr lang="pt-BR" b="1" dirty="0"/>
              <a:t> para a Web (1994)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454851-0D10-DCFE-13B5-A3DD80E94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446" y="1479669"/>
            <a:ext cx="11183145" cy="46925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3200" dirty="0"/>
              <a:t>Em 1994, enquanto o </a:t>
            </a:r>
            <a:r>
              <a:rPr lang="pt-BR" sz="3200" i="1" dirty="0"/>
              <a:t>Green Team</a:t>
            </a:r>
            <a:r>
              <a:rPr lang="pt-BR" sz="3200" dirty="0"/>
              <a:t> buscava um novo propósito, a </a:t>
            </a:r>
            <a:r>
              <a:rPr lang="pt-BR" sz="3200" b="1" dirty="0"/>
              <a:t>World </a:t>
            </a:r>
            <a:r>
              <a:rPr lang="pt-BR" sz="3200" b="1" dirty="0" err="1"/>
              <a:t>Wide</a:t>
            </a:r>
            <a:r>
              <a:rPr lang="pt-BR" sz="3200" b="1" dirty="0"/>
              <a:t> Web</a:t>
            </a:r>
            <a:r>
              <a:rPr lang="pt-BR" sz="3200" dirty="0"/>
              <a:t> começou a explodir com o navegador Mosaic. A equipe percebeu que a mesma linguagem projetada para TVs seria perfeita para a internet: segura, leve e independente de plataforma.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456F514-9EB0-0D3A-781A-34874FE2BB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pic>
        <p:nvPicPr>
          <p:cNvPr id="4" name="Imagem 3" descr="Mosaic | A história do navegador que revolucionou a internet - Canaltech">
            <a:extLst>
              <a:ext uri="{FF2B5EF4-FFF2-40B4-BE49-F238E27FC236}">
                <a16:creationId xmlns:a16="http://schemas.microsoft.com/office/drawing/2014/main" id="{3EBCA1E8-2E8C-CE98-152C-FC1C16DF15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3668" y="4115340"/>
            <a:ext cx="3421117" cy="256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337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45B0C-9266-CA17-C2E7-457BFE255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05E7F9-EF2A-21C1-149C-93605970E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Um Banho de Água Fria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C7D809-3732-A23F-92FB-1B9E82B6C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446" y="1479669"/>
            <a:ext cx="11183145" cy="46925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3200" dirty="0"/>
              <a:t>Descobriram que "Oak" já era uma marca registrada. Reza a lenda que, após uma tarde de brainstorm em uma cafeteria, o nome </a:t>
            </a:r>
            <a:r>
              <a:rPr lang="pt-BR" sz="3200" b="1" dirty="0"/>
              <a:t>Java</a:t>
            </a:r>
            <a:r>
              <a:rPr lang="pt-BR" sz="3200" dirty="0"/>
              <a:t> foi escolhido em homenagem ao café vindo da ilha de Java, na Indonésia, que a equipe consumia em grandes quantidades.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C617628-7EC9-39F3-2D7F-8E8979FF5A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998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B8F92-D4AF-C153-D3F6-F72FAA66E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19D2E0-493F-18B8-739B-A489A4706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Lançamento em 1995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659854-54EC-E35B-074F-65052D300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446" y="1479669"/>
            <a:ext cx="11183145" cy="46925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3200" dirty="0"/>
              <a:t>O Java foi apresentado oficialmente na conferência </a:t>
            </a:r>
            <a:r>
              <a:rPr lang="pt-BR" sz="3200" i="1" dirty="0" err="1"/>
              <a:t>SunWorld</a:t>
            </a:r>
            <a:r>
              <a:rPr lang="pt-BR" sz="3200" dirty="0"/>
              <a:t> em </a:t>
            </a:r>
            <a:r>
              <a:rPr lang="pt-BR" sz="3200" b="1" dirty="0"/>
              <a:t>maio de 1995</a:t>
            </a:r>
            <a:r>
              <a:rPr lang="pt-BR" sz="3200" dirty="0"/>
              <a:t>. O impacto foi imediato por causa dos </a:t>
            </a:r>
            <a:r>
              <a:rPr lang="pt-BR" sz="3200" b="1" dirty="0"/>
              <a:t>Java </a:t>
            </a:r>
            <a:r>
              <a:rPr lang="pt-BR" sz="3200" b="1" dirty="0" err="1"/>
              <a:t>Applets</a:t>
            </a:r>
            <a:r>
              <a:rPr lang="pt-BR" sz="3200" dirty="0"/>
              <a:t> — pequenos programas que rodavam dentro do navegador, permitindo animações e interatividade que o HTML da época não conseguia oferecer.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F0F7979-C4AD-5C27-27BB-7DACE126D1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594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01FBF-0D5F-903C-D564-778A7992C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649B5B-72C2-F5A3-E614-7D42CEF1B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err="1"/>
              <a:t>Applet</a:t>
            </a: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3238F96-C4DF-19DE-19B4-5E57B74BE4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pic>
        <p:nvPicPr>
          <p:cNvPr id="5" name="Imagem 4" descr="In 1995, a Netscape employee wrote a hack in 10 days that now runs the  Internet - Ars Technica">
            <a:extLst>
              <a:ext uri="{FF2B5EF4-FFF2-40B4-BE49-F238E27FC236}">
                <a16:creationId xmlns:a16="http://schemas.microsoft.com/office/drawing/2014/main" id="{76DD99D1-CA5A-402E-8E57-560B913C9E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781" y="2835620"/>
            <a:ext cx="4558915" cy="3234873"/>
          </a:xfrm>
          <a:prstGeom prst="rect">
            <a:avLst/>
          </a:prstGeom>
        </p:spPr>
      </p:pic>
      <p:pic>
        <p:nvPicPr>
          <p:cNvPr id="8" name="Imagem 7" descr="29 anos de JavaScript! | iMasters">
            <a:extLst>
              <a:ext uri="{FF2B5EF4-FFF2-40B4-BE49-F238E27FC236}">
                <a16:creationId xmlns:a16="http://schemas.microsoft.com/office/drawing/2014/main" id="{7A8C94B5-90FD-899A-F014-C5EE131237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032" y="2835620"/>
            <a:ext cx="4368617" cy="3223383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479C404-F242-8AF3-D08D-827C619D63E3}"/>
              </a:ext>
            </a:extLst>
          </p:cNvPr>
          <p:cNvSpPr txBox="1"/>
          <p:nvPr/>
        </p:nvSpPr>
        <p:spPr>
          <a:xfrm>
            <a:off x="556539" y="1292177"/>
            <a:ext cx="1098935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dirty="0"/>
              <a:t>A Parceria com a Netscape:</a:t>
            </a:r>
            <a:r>
              <a:rPr lang="pt-BR" sz="2800" dirty="0"/>
              <a:t> O apoio do navegador Netscape </a:t>
            </a:r>
            <a:r>
              <a:rPr lang="pt-BR" sz="2800" dirty="0" err="1"/>
              <a:t>Navigator</a:t>
            </a:r>
            <a:r>
              <a:rPr lang="pt-BR" sz="2800" dirty="0"/>
              <a:t> foi o combustível necessário para que o Java se tornasse o padrão global quase da noite para o dia.</a:t>
            </a:r>
          </a:p>
        </p:txBody>
      </p:sp>
    </p:spTree>
    <p:extLst>
      <p:ext uri="{BB962C8B-B14F-4D97-AF65-F5344CB8AC3E}">
        <p14:creationId xmlns:p14="http://schemas.microsoft.com/office/powerpoint/2010/main" val="3374760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5C9D36-B223-C723-7EF4-4AACF4509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Linguagem de Programação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022BB6-648D-5469-3C18-56834DC87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583575"/>
            <a:ext cx="8946541" cy="419548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3200" dirty="0"/>
              <a:t>O Java é uma das linguagens de programação mais influentes e utilizadas no mundo desde o seu lançamento pela Sun Microsystems em 1995 (hoje mantida pela Oracle). Ela foi projetada com a filosofia de ser simples, robusta e, acima de tudo, portátil.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E0B5E257-C0F9-A473-8668-93471C934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9076" y="1766454"/>
            <a:ext cx="1526514" cy="283931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4643DB0-AD1A-D13C-875B-0A06B844E3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112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D9827-A360-8BF0-0B00-99FBBB61A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6017CF-D64C-C643-C471-E5D44AE87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Evolução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57A6FC-1B19-0535-5A9A-5232272DF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396537"/>
            <a:ext cx="10804671" cy="419548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3200" dirty="0"/>
              <a:t>O Java evoluiu de uma linguagem para "aparelhos domésticos" para a espinha dorsal do desenvolvimento corporativo e móvel: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2528B9B-4B7E-76B2-A21F-C2C92EE0A7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55078BE-47C6-1294-5F99-E17E2B7100C3}"/>
              </a:ext>
            </a:extLst>
          </p:cNvPr>
          <p:cNvSpPr txBox="1"/>
          <p:nvPr/>
        </p:nvSpPr>
        <p:spPr>
          <a:xfrm>
            <a:off x="781912" y="3106248"/>
            <a:ext cx="1092863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b="1" dirty="0"/>
              <a:t>J2EE (1999):</a:t>
            </a:r>
            <a:r>
              <a:rPr lang="pt-BR" sz="2400" dirty="0"/>
              <a:t> O Java se consolidou no lado do servidor, dominando o mercado de grandes bancos e sistemas complexos.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b="1" dirty="0"/>
              <a:t>Android (2008):</a:t>
            </a:r>
            <a:r>
              <a:rPr lang="pt-BR" sz="2400" dirty="0"/>
              <a:t> O Google escolheu o Java como base para o desenvolvimento de aplicativos Android, levando a linguagem para bilhões de bolsos.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b="1" dirty="0"/>
              <a:t>A Aquisição (2010):</a:t>
            </a:r>
            <a:r>
              <a:rPr lang="pt-BR" sz="2400" dirty="0"/>
              <a:t> A </a:t>
            </a:r>
            <a:r>
              <a:rPr lang="pt-BR" sz="2400" b="1" dirty="0"/>
              <a:t>Oracle Corporation</a:t>
            </a:r>
            <a:r>
              <a:rPr lang="pt-BR" sz="2400" dirty="0"/>
              <a:t> adquiriu a Sun Microsystems, assumindo o controle do desenvolvimento da linguagem, que hoje segue um ciclo de lançamentos semestrais.</a:t>
            </a:r>
          </a:p>
        </p:txBody>
      </p:sp>
    </p:spTree>
    <p:extLst>
      <p:ext uri="{BB962C8B-B14F-4D97-AF65-F5344CB8AC3E}">
        <p14:creationId xmlns:p14="http://schemas.microsoft.com/office/powerpoint/2010/main" val="42022193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0B27F-AEB8-F7D1-79C3-11B568BC0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8D2010-8B26-8731-D960-9426834A5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Filosofia "</a:t>
            </a:r>
            <a:r>
              <a:rPr lang="en-US" b="1" i="1" dirty="0"/>
              <a:t>Write Once, Run Anywhere</a:t>
            </a:r>
            <a:r>
              <a:rPr lang="en-US" b="1" dirty="0"/>
              <a:t>" (WORA)</a:t>
            </a:r>
            <a:endParaRPr lang="pt-BR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007489-F570-2823-A68B-1E99E9A2E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2051166"/>
            <a:ext cx="10763107" cy="419548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3200" dirty="0"/>
              <a:t>O maior diferencial do Java é a sua independência de plataforma. Em linguagens como C++, o código é compilado diretamente para o hardware específico. No Java, o código é compilado para um formato intermediário chamado </a:t>
            </a:r>
            <a:r>
              <a:rPr lang="pt-BR" sz="3200" b="1" dirty="0" err="1"/>
              <a:t>Bytecode</a:t>
            </a:r>
            <a:r>
              <a:rPr lang="pt-BR" sz="3200" dirty="0"/>
              <a:t>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BD4144C-BD64-9837-2BB0-1C986C133D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457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8288F-DCB7-D87F-7CB0-482DF4B34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D29484-9A5E-5666-4F8A-AED83D981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Filosofia "</a:t>
            </a:r>
            <a:r>
              <a:rPr lang="en-US" b="1" i="1" dirty="0"/>
              <a:t>Write Once, Run Anywhere</a:t>
            </a:r>
            <a:r>
              <a:rPr lang="en-US" b="1" dirty="0"/>
              <a:t>" (WORA)</a:t>
            </a:r>
            <a:endParaRPr lang="pt-BR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6E8E19-AF0B-8C88-0E14-981F8D582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2051166"/>
            <a:ext cx="10763107" cy="4195481"/>
          </a:xfrm>
        </p:spPr>
        <p:txBody>
          <a:bodyPr>
            <a:normAutofit/>
          </a:bodyPr>
          <a:lstStyle/>
          <a:p>
            <a:pPr algn="just"/>
            <a:r>
              <a:rPr lang="pt-BR" sz="3200" b="1" dirty="0"/>
              <a:t>JVM (Java Virtual Machine):</a:t>
            </a:r>
            <a:r>
              <a:rPr lang="pt-BR" sz="3200" dirty="0"/>
              <a:t> É o coração do Java. Cada sistema operacional (Windows, Linux, </a:t>
            </a:r>
            <a:r>
              <a:rPr lang="pt-BR" sz="3200" dirty="0" err="1"/>
              <a:t>macOS</a:t>
            </a:r>
            <a:r>
              <a:rPr lang="pt-BR" sz="3200" dirty="0"/>
              <a:t>) tem sua própria JVM que interpreta o </a:t>
            </a:r>
            <a:r>
              <a:rPr lang="pt-BR" sz="3200" dirty="0" err="1"/>
              <a:t>Bytecode</a:t>
            </a:r>
            <a:r>
              <a:rPr lang="pt-BR" sz="3200" dirty="0"/>
              <a:t> e o transforma em instruções que o processador entende.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438D951-E95A-3EE7-6917-15229F759A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pic>
        <p:nvPicPr>
          <p:cNvPr id="5" name="Imagem 4" descr="Material Didático - IMD">
            <a:extLst>
              <a:ext uri="{FF2B5EF4-FFF2-40B4-BE49-F238E27FC236}">
                <a16:creationId xmlns:a16="http://schemas.microsoft.com/office/drawing/2014/main" id="{99CAFF36-6E86-2D8B-A10A-F2C859135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784" y="4687612"/>
            <a:ext cx="7689094" cy="1988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3208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30039-4C34-1520-7CAA-AE66E8E77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8AC12F-0CE3-2D13-84AD-0B90F956B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Orientação a Objetos (POO)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0C3C8D-305B-E3AF-4A25-72C5D6DAA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687481"/>
            <a:ext cx="10763107" cy="419548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3200" dirty="0"/>
              <a:t>Java foi construída para organizar o software em "objetos", que representam entidades do mundo real. Isso facilita a manutenção de sistemas gigantescos. 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1F0C142-46BD-B7BE-02D8-996091C576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3289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AC58C-A791-3F6D-A993-02068D169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CA050E-D283-33CD-9D40-1A1838281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Pilares da Programação OO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B59473-5565-0006-75DC-4519B401A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749830"/>
            <a:ext cx="10763107" cy="4195481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3200" b="1" dirty="0"/>
              <a:t>Abstração:</a:t>
            </a:r>
            <a:r>
              <a:rPr lang="pt-BR" sz="3200" dirty="0"/>
              <a:t> Focar no que um objeto faz, não em como ele faz.</a:t>
            </a:r>
          </a:p>
          <a:p>
            <a:pPr algn="just"/>
            <a:r>
              <a:rPr lang="pt-BR" sz="3200" b="1" dirty="0"/>
              <a:t>Encapsulamento:</a:t>
            </a:r>
            <a:r>
              <a:rPr lang="pt-BR" sz="3200" dirty="0"/>
              <a:t> Esconder os detalhes internos de um objeto para proteger os dados.</a:t>
            </a:r>
          </a:p>
          <a:p>
            <a:pPr algn="just"/>
            <a:r>
              <a:rPr lang="pt-BR" sz="3200" b="1" dirty="0"/>
              <a:t>Herança:</a:t>
            </a:r>
            <a:r>
              <a:rPr lang="pt-BR" sz="3200" dirty="0"/>
              <a:t> Permitir que uma classe herde características de outra.</a:t>
            </a:r>
          </a:p>
          <a:p>
            <a:pPr algn="just"/>
            <a:r>
              <a:rPr lang="pt-BR" sz="3200" b="1" dirty="0"/>
              <a:t>Polimorfismo:</a:t>
            </a:r>
            <a:r>
              <a:rPr lang="pt-BR" sz="3200" dirty="0"/>
              <a:t> Permitir que uma mesma ação seja executada de diferentes maneiras.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82D882E-5585-85AE-2F27-2F7BC57F3D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4062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936CB-32F2-D522-7F10-60340921C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F86184-D7AE-9F6B-32C5-DF18AFCB9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Gerenciamento de Memória (Garbage </a:t>
            </a:r>
            <a:r>
              <a:rPr lang="pt-BR" b="1" dirty="0" err="1"/>
              <a:t>Collector</a:t>
            </a:r>
            <a:r>
              <a:rPr lang="pt-BR" b="1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BA34ED-EC9B-EE00-8A65-789FF6568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2071951"/>
            <a:ext cx="10763107" cy="419548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3200" dirty="0"/>
              <a:t>Uma das tarefas mais difíceis em linguagens antigas era decidir quando liberar a memória do computador. No Java, existe o </a:t>
            </a:r>
            <a:r>
              <a:rPr lang="pt-BR" sz="3200" b="1" dirty="0"/>
              <a:t>Garbage </a:t>
            </a:r>
            <a:r>
              <a:rPr lang="pt-BR" sz="3200" b="1" dirty="0" err="1"/>
              <a:t>Collector</a:t>
            </a:r>
            <a:r>
              <a:rPr lang="pt-BR" sz="3200" dirty="0"/>
              <a:t>, um processo automático que identifica objetos que não estão mais sendo usados e os "limpa", evitando travamentos e vazamentos de memória (</a:t>
            </a:r>
            <a:r>
              <a:rPr lang="pt-BR" sz="3200" i="1" dirty="0" err="1"/>
              <a:t>memory</a:t>
            </a:r>
            <a:r>
              <a:rPr lang="pt-BR" sz="3200" i="1" dirty="0"/>
              <a:t> </a:t>
            </a:r>
            <a:r>
              <a:rPr lang="pt-BR" sz="3200" i="1" dirty="0" err="1"/>
              <a:t>leaks</a:t>
            </a:r>
            <a:r>
              <a:rPr lang="pt-BR" sz="3200" dirty="0"/>
              <a:t>).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C65C6FF-D4BD-4A6E-32F3-AE896188F5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8201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7EE1C-F0FF-1F71-04F2-EB3643F71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0D1226-CC3E-113E-9ADA-1360109FB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Gerenciamento de Memória (Garbage </a:t>
            </a:r>
            <a:r>
              <a:rPr lang="pt-BR" b="1" dirty="0" err="1"/>
              <a:t>Collector</a:t>
            </a:r>
            <a:r>
              <a:rPr lang="pt-BR" b="1" dirty="0"/>
              <a:t>)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42997F3-15BB-56A3-0FFD-E09A1C7740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pic>
        <p:nvPicPr>
          <p:cNvPr id="6" name="Imagem 5" descr="What is Memory Leak? How can We Avoid? | by Emma Delaney | Medium">
            <a:extLst>
              <a:ext uri="{FF2B5EF4-FFF2-40B4-BE49-F238E27FC236}">
                <a16:creationId xmlns:a16="http://schemas.microsoft.com/office/drawing/2014/main" id="{7A655400-DA5E-375E-9466-BF68AFA36A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31" y="2280291"/>
            <a:ext cx="6159078" cy="3790202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12B581D3-95BF-50D7-0C48-74EE9EEC3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3549" y="2601907"/>
            <a:ext cx="4235669" cy="40707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800" dirty="0"/>
              <a:t>O Garbage </a:t>
            </a:r>
            <a:r>
              <a:rPr lang="pt-BR" sz="2800" dirty="0" err="1"/>
              <a:t>Collector</a:t>
            </a:r>
            <a:r>
              <a:rPr lang="pt-BR" sz="2800" dirty="0"/>
              <a:t> (GC) identifica e remove objetos que não são mais referenciados pelo programa </a:t>
            </a:r>
          </a:p>
        </p:txBody>
      </p:sp>
    </p:spTree>
    <p:extLst>
      <p:ext uri="{BB962C8B-B14F-4D97-AF65-F5344CB8AC3E}">
        <p14:creationId xmlns:p14="http://schemas.microsoft.com/office/powerpoint/2010/main" val="11583369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0D3F6-068E-2ECF-3D25-76D6A67A6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8BE084-F0A5-3E00-6764-48555915E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Onde o Java é usado hoje?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B94BF3-3E25-86FE-A97D-D6F71355A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446" y="1479669"/>
            <a:ext cx="11183145" cy="4692531"/>
          </a:xfrm>
        </p:spPr>
        <p:txBody>
          <a:bodyPr>
            <a:normAutofit fontScale="92500" lnSpcReduction="10000"/>
          </a:bodyPr>
          <a:lstStyle/>
          <a:p>
            <a:r>
              <a:rPr lang="pt-BR" sz="2800" dirty="0"/>
              <a:t>A versatilidade da linguagem permite que ela esteja em quase todos os lugares:</a:t>
            </a:r>
          </a:p>
          <a:p>
            <a:r>
              <a:rPr lang="pt-BR" sz="2800" b="1" dirty="0"/>
              <a:t>Sistemas Corporativos:</a:t>
            </a:r>
            <a:r>
              <a:rPr lang="pt-BR" sz="2800" dirty="0"/>
              <a:t> Grandes bancos e </a:t>
            </a:r>
            <a:r>
              <a:rPr lang="pt-BR" sz="2800" dirty="0" err="1"/>
              <a:t>e-commerces</a:t>
            </a:r>
            <a:r>
              <a:rPr lang="pt-BR" sz="2800" dirty="0"/>
              <a:t> utilizam Java (Spring Framework) pela sua estabilidade e segurança.</a:t>
            </a:r>
          </a:p>
          <a:p>
            <a:r>
              <a:rPr lang="pt-BR" sz="2800" b="1" dirty="0"/>
              <a:t>Android:</a:t>
            </a:r>
            <a:r>
              <a:rPr lang="pt-BR" sz="2800" dirty="0"/>
              <a:t> Até pouco tempo, era a linguagem principal para aplicativos Android, e ainda compõe a base de quase todo o ecossistema.</a:t>
            </a:r>
          </a:p>
          <a:p>
            <a:r>
              <a:rPr lang="pt-BR" sz="2800" b="1" dirty="0"/>
              <a:t>Big Data:</a:t>
            </a:r>
            <a:r>
              <a:rPr lang="pt-BR" sz="2800" dirty="0"/>
              <a:t> Ferramentas como Apache </a:t>
            </a:r>
            <a:r>
              <a:rPr lang="pt-BR" sz="2800" dirty="0" err="1"/>
              <a:t>Hadoop</a:t>
            </a:r>
            <a:r>
              <a:rPr lang="pt-BR" sz="2800" dirty="0"/>
              <a:t> e Spark são escritas ou rodam sobre a infraestrutura Java.</a:t>
            </a:r>
          </a:p>
          <a:p>
            <a:r>
              <a:rPr lang="pt-BR" sz="2800" b="1" dirty="0"/>
              <a:t>Internet das Coisas (IoT):</a:t>
            </a:r>
            <a:r>
              <a:rPr lang="pt-BR" sz="2800" dirty="0"/>
              <a:t> Por rodar em dispositivos com poucos recursos de hardware, é comum em sistemas embarcados.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F8F53BC-11BA-FDF5-04AD-3D12435525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0865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16E3D-0327-8F9F-9633-B3FEAD307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7CD950-B0EE-75D1-6F32-9E093DD92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Ecossistema e Comunidade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97B95A-7375-768C-5990-6090189E5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446" y="1479669"/>
            <a:ext cx="11183145" cy="46925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3200" dirty="0"/>
              <a:t>O Java possui um dos maiores ecossistemas do planeta. Se você tiver um problema, alguém já o resolveu e provavelmente criou uma biblioteca gratuita (open-</a:t>
            </a:r>
            <a:r>
              <a:rPr lang="pt-BR" sz="3200" dirty="0" err="1"/>
              <a:t>source</a:t>
            </a:r>
            <a:r>
              <a:rPr lang="pt-BR" sz="3200" dirty="0"/>
              <a:t>) para isso. Além disso, a linguagem é </a:t>
            </a:r>
            <a:r>
              <a:rPr lang="pt-BR" sz="3200" b="1" dirty="0"/>
              <a:t>fortemente </a:t>
            </a:r>
            <a:r>
              <a:rPr lang="pt-BR" sz="3200" b="1" dirty="0" err="1"/>
              <a:t>tipada</a:t>
            </a:r>
            <a:r>
              <a:rPr lang="pt-BR" sz="3200" dirty="0"/>
              <a:t>, o que significa que o compilador ajuda a encontrar erros antes mesmo de você rodar o programa.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1766203-3394-732B-9D9B-2562C31093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712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B657D-25CC-C5DB-3E71-BF7625586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2E08E82-805A-C8DD-E3ED-9222696490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0" y="0"/>
            <a:ext cx="12573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8222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79</TotalTime>
  <Words>1113</Words>
  <Application>Microsoft Office PowerPoint</Application>
  <PresentationFormat>Widescreen</PresentationFormat>
  <Paragraphs>74</Paragraphs>
  <Slides>24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9" baseType="lpstr">
      <vt:lpstr>Aptos</vt:lpstr>
      <vt:lpstr>Arial</vt:lpstr>
      <vt:lpstr>Century Gothic</vt:lpstr>
      <vt:lpstr>Wingdings 3</vt:lpstr>
      <vt:lpstr>Íon</vt:lpstr>
      <vt:lpstr>Apresentação do PowerPoint</vt:lpstr>
      <vt:lpstr>Apresentação do PowerPoint</vt:lpstr>
      <vt:lpstr>Um pouco de História</vt:lpstr>
      <vt:lpstr>O "Green Team" (1991)</vt:lpstr>
      <vt:lpstr>Objetivo da Linguagem</vt:lpstr>
      <vt:lpstr>Desafio</vt:lpstr>
      <vt:lpstr>Nascimento Linguagem Oak</vt:lpstr>
      <vt:lpstr>Inovação na Linguagem Oak</vt:lpstr>
      <vt:lpstr>Limitações de Mercado</vt:lpstr>
      <vt:lpstr>A Pivotagem para a Web (1994)</vt:lpstr>
      <vt:lpstr>Um Banho de Água Fria</vt:lpstr>
      <vt:lpstr>Lançamento em 1995</vt:lpstr>
      <vt:lpstr>Applet</vt:lpstr>
      <vt:lpstr>Linguagem de Programação</vt:lpstr>
      <vt:lpstr>Evolução</vt:lpstr>
      <vt:lpstr>Filosofia "Write Once, Run Anywhere" (WORA)</vt:lpstr>
      <vt:lpstr>Filosofia "Write Once, Run Anywhere" (WORA)</vt:lpstr>
      <vt:lpstr>Orientação a Objetos (POO)</vt:lpstr>
      <vt:lpstr>Pilares da Programação OO</vt:lpstr>
      <vt:lpstr>Gerenciamento de Memória (Garbage Collector)</vt:lpstr>
      <vt:lpstr>Gerenciamento de Memória (Garbage Collector)</vt:lpstr>
      <vt:lpstr>Onde o Java é usado hoje?</vt:lpstr>
      <vt:lpstr>Ecossistema e Comunidade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PAULO CESAR B. DA SILVA</dc:creator>
  <cp:lastModifiedBy>PAULO CESAR B. DA SILVA</cp:lastModifiedBy>
  <cp:revision>11</cp:revision>
  <dcterms:created xsi:type="dcterms:W3CDTF">2026-05-09T23:28:48Z</dcterms:created>
  <dcterms:modified xsi:type="dcterms:W3CDTF">2026-05-10T18:10:06Z</dcterms:modified>
</cp:coreProperties>
</file>