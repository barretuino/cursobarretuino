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59" r:id="rId4"/>
    <p:sldId id="671" r:id="rId5"/>
    <p:sldId id="672" r:id="rId6"/>
    <p:sldId id="673" r:id="rId7"/>
    <p:sldId id="674" r:id="rId8"/>
    <p:sldId id="675" r:id="rId9"/>
    <p:sldId id="676" r:id="rId10"/>
    <p:sldId id="677" r:id="rId11"/>
    <p:sldId id="678" r:id="rId12"/>
    <p:sldId id="679" r:id="rId13"/>
    <p:sldId id="680" r:id="rId14"/>
    <p:sldId id="681" r:id="rId15"/>
    <p:sldId id="670" r:id="rId16"/>
    <p:sldId id="668" r:id="rId17"/>
    <p:sldId id="682" r:id="rId18"/>
    <p:sldId id="683" r:id="rId19"/>
    <p:sldId id="669" r:id="rId20"/>
    <p:sldId id="684" r:id="rId21"/>
    <p:sldId id="305" r:id="rId22"/>
    <p:sldId id="309" r:id="rId23"/>
    <p:sldId id="312" r:id="rId24"/>
    <p:sldId id="316" r:id="rId25"/>
    <p:sldId id="685" r:id="rId26"/>
    <p:sldId id="687" r:id="rId27"/>
    <p:sldId id="686" r:id="rId28"/>
    <p:sldId id="688" r:id="rId29"/>
    <p:sldId id="689" r:id="rId30"/>
    <p:sldId id="690" r:id="rId31"/>
    <p:sldId id="691" r:id="rId32"/>
    <p:sldId id="692" r:id="rId33"/>
    <p:sldId id="693" r:id="rId34"/>
    <p:sldId id="694" r:id="rId35"/>
    <p:sldId id="695" r:id="rId36"/>
    <p:sldId id="696" r:id="rId37"/>
    <p:sldId id="66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DAC97C-5B33-4781-812F-662DF630EBCD}" type="datetimeFigureOut">
              <a:rPr lang="pt-BR" smtClean="0"/>
              <a:t>13/05/2026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3341F5-7495-47E1-9545-033FF0448FE6}" type="slidenum">
              <a:rPr lang="pt-BR" smtClean="0"/>
              <a:t>‹nº›</a:t>
            </a:fld>
            <a:endParaRPr lang="pt-BR"/>
          </a:p>
        </p:txBody>
      </p:sp>
    </p:spTree>
    <p:extLst>
      <p:ext uri="{BB962C8B-B14F-4D97-AF65-F5344CB8AC3E}">
        <p14:creationId xmlns:p14="http://schemas.microsoft.com/office/powerpoint/2010/main" val="227932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pt-BR"/>
              <a:t>Clique para editar o título Mestre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2438767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1233860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2143244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9E3A743-186D-4F77-9612-BE4CFC269A59}" type="datetimeFigureOut">
              <a:rPr lang="pt-BR" smtClean="0"/>
              <a:t>13/05/2026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622506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9E3A743-186D-4F77-9612-BE4CFC269A59}" type="datetimeFigureOut">
              <a:rPr lang="pt-BR" smtClean="0"/>
              <a:t>13/05/2026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3713188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3"/>
          <p:cNvSpPr>
            <a:spLocks noGrp="1"/>
          </p:cNvSpPr>
          <p:nvPr>
            <p:ph type="ftr" sz="quarter" idx="11"/>
          </p:nvPr>
        </p:nvSpPr>
        <p:spPr/>
        <p:txBody>
          <a:bodyPr/>
          <a:lstStyle/>
          <a:p>
            <a:endParaRPr lang="pt-BR"/>
          </a:p>
        </p:txBody>
      </p:sp>
      <p:sp>
        <p:nvSpPr>
          <p:cNvPr id="6" name="Slide Number Placeholder 4"/>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3857712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2"/>
          <p:cNvSpPr>
            <a:spLocks noGrp="1"/>
          </p:cNvSpPr>
          <p:nvPr>
            <p:ph type="ftr" sz="quarter" idx="11"/>
          </p:nvPr>
        </p:nvSpPr>
        <p:spPr/>
        <p:txBody>
          <a:bodyPr/>
          <a:lstStyle/>
          <a:p>
            <a:endParaRPr lang="pt-BR"/>
          </a:p>
        </p:txBody>
      </p:sp>
      <p:sp>
        <p:nvSpPr>
          <p:cNvPr id="6" name="Slide Number Placeholder 3"/>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3432852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pt-BR"/>
              <a:t>Clique para editar o título Mestre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5"/>
          <p:cNvSpPr>
            <a:spLocks noGrp="1"/>
          </p:cNvSpPr>
          <p:nvPr>
            <p:ph type="ftr" sz="quarter" idx="11"/>
          </p:nvPr>
        </p:nvSpPr>
        <p:spPr/>
        <p:txBody>
          <a:bodyPr/>
          <a:lstStyle/>
          <a:p>
            <a:endParaRPr lang="pt-BR"/>
          </a:p>
        </p:txBody>
      </p:sp>
      <p:sp>
        <p:nvSpPr>
          <p:cNvPr id="6" name="Slide Number Placeholder 6"/>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3213304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9E3A743-186D-4F77-9612-BE4CFC269A59}" type="datetimeFigureOut">
              <a:rPr lang="pt-BR" smtClean="0"/>
              <a:t>13/05/2026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294702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9E3A743-186D-4F77-9612-BE4CFC269A59}" type="datetimeFigureOut">
              <a:rPr lang="pt-BR" smtClean="0"/>
              <a:t>13/05/2026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170400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pt-BR"/>
              <a:t>Clique para editar o título Mestre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354793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pt-BR"/>
              <a:t>Clique para editar o título Mestre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2790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914873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2395076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1529356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331910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9E3A743-186D-4F77-9612-BE4CFC269A59}" type="datetimeFigureOut">
              <a:rPr lang="pt-BR" smtClean="0"/>
              <a:t>13/05/2026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4C23625-AA79-47DD-A761-5E1EF1FFB7B3}" type="slidenum">
              <a:rPr lang="pt-BR" smtClean="0"/>
              <a:t>‹nº›</a:t>
            </a:fld>
            <a:endParaRPr lang="pt-BR"/>
          </a:p>
        </p:txBody>
      </p:sp>
    </p:spTree>
    <p:extLst>
      <p:ext uri="{BB962C8B-B14F-4D97-AF65-F5344CB8AC3E}">
        <p14:creationId xmlns:p14="http://schemas.microsoft.com/office/powerpoint/2010/main" val="225022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9E3A743-186D-4F77-9612-BE4CFC269A59}" type="datetimeFigureOut">
              <a:rPr lang="pt-BR" smtClean="0"/>
              <a:t>13/05/2026</a:t>
            </a:fld>
            <a:endParaRPr lang="pt-B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pt-B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4C23625-AA79-47DD-A761-5E1EF1FFB7B3}" type="slidenum">
              <a:rPr lang="pt-BR" smtClean="0"/>
              <a:t>‹nº›</a:t>
            </a:fld>
            <a:endParaRPr lang="pt-BR"/>
          </a:p>
        </p:txBody>
      </p:sp>
    </p:spTree>
    <p:extLst>
      <p:ext uri="{BB962C8B-B14F-4D97-AF65-F5344CB8AC3E}">
        <p14:creationId xmlns:p14="http://schemas.microsoft.com/office/powerpoint/2010/main" val="26797158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9B53827-0705-E714-6193-8D30E15280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0"/>
            <a:ext cx="12573000" cy="6858000"/>
          </a:xfrm>
          <a:prstGeom prst="rect">
            <a:avLst/>
          </a:prstGeom>
        </p:spPr>
      </p:pic>
    </p:spTree>
    <p:extLst>
      <p:ext uri="{BB962C8B-B14F-4D97-AF65-F5344CB8AC3E}">
        <p14:creationId xmlns:p14="http://schemas.microsoft.com/office/powerpoint/2010/main" val="2134127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5" name="Picture 14">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21" name="Rectangle 20">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cxnSp>
        <p:nvCxnSpPr>
          <p:cNvPr id="25" name="Straight Connector 24">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4" name="CaixaDeTexto 3">
            <a:extLst>
              <a:ext uri="{FF2B5EF4-FFF2-40B4-BE49-F238E27FC236}">
                <a16:creationId xmlns:a16="http://schemas.microsoft.com/office/drawing/2014/main" id="{A2F8BC53-1D92-2AFC-631B-5986D255097B}"/>
              </a:ext>
            </a:extLst>
          </p:cNvPr>
          <p:cNvSpPr txBox="1"/>
          <p:nvPr/>
        </p:nvSpPr>
        <p:spPr>
          <a:xfrm>
            <a:off x="4751690" y="1266958"/>
            <a:ext cx="7458645" cy="4528457"/>
          </a:xfrm>
          <a:prstGeom prst="rect">
            <a:avLst/>
          </a:prstGeom>
        </p:spPr>
        <p:txBody>
          <a:bodyPr vert="horz" lIns="91440" tIns="45720" rIns="91440" bIns="45720" rtlCol="0" anchor="ctr">
            <a:normAutofit/>
          </a:bodyPr>
          <a:lstStyle/>
          <a:p>
            <a:pPr>
              <a:spcBef>
                <a:spcPct val="0"/>
              </a:spcBef>
              <a:spcAft>
                <a:spcPts val="600"/>
              </a:spcAft>
            </a:pPr>
            <a:r>
              <a:rPr lang="pt-BR" sz="7200" b="0" i="0" kern="1200" dirty="0">
                <a:solidFill>
                  <a:schemeClr val="tx2"/>
                </a:solidFill>
                <a:latin typeface="+mj-lt"/>
                <a:ea typeface="+mj-ea"/>
                <a:cs typeface="+mj-cs"/>
              </a:rPr>
              <a:t>Desenvolvendo Aplicações Desktop</a:t>
            </a:r>
            <a:endParaRPr lang="en-US" sz="7200" b="0" i="0" kern="1200" dirty="0">
              <a:solidFill>
                <a:schemeClr val="tx2"/>
              </a:solidFill>
              <a:latin typeface="+mj-lt"/>
              <a:ea typeface="+mj-ea"/>
              <a:cs typeface="+mj-cs"/>
            </a:endParaRPr>
          </a:p>
        </p:txBody>
      </p:sp>
      <p:pic>
        <p:nvPicPr>
          <p:cNvPr id="2" name="Imagem 1" descr="Java - ícones de logotipo grátis">
            <a:extLst>
              <a:ext uri="{FF2B5EF4-FFF2-40B4-BE49-F238E27FC236}">
                <a16:creationId xmlns:a16="http://schemas.microsoft.com/office/drawing/2014/main" id="{73B0CD15-B44E-4315-4DF4-F7B46587D192}"/>
              </a:ext>
            </a:extLst>
          </p:cNvPr>
          <p:cNvPicPr>
            <a:picLocks noChangeAspect="1"/>
          </p:cNvPicPr>
          <p:nvPr/>
        </p:nvPicPr>
        <p:blipFill>
          <a:blip r:embed="rId7"/>
          <a:stretch>
            <a:fillRect/>
          </a:stretch>
        </p:blipFill>
        <p:spPr>
          <a:xfrm>
            <a:off x="395004" y="1691120"/>
            <a:ext cx="3566680" cy="3566680"/>
          </a:xfrm>
          <a:prstGeom prst="rect">
            <a:avLst/>
          </a:prstGeom>
        </p:spPr>
      </p:pic>
      <p:pic>
        <p:nvPicPr>
          <p:cNvPr id="3" name="Imagem 2">
            <a:extLst>
              <a:ext uri="{FF2B5EF4-FFF2-40B4-BE49-F238E27FC236}">
                <a16:creationId xmlns:a16="http://schemas.microsoft.com/office/drawing/2014/main" id="{3CE62C90-F960-52A5-4225-9D5977F813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Tree>
    <p:extLst>
      <p:ext uri="{BB962C8B-B14F-4D97-AF65-F5344CB8AC3E}">
        <p14:creationId xmlns:p14="http://schemas.microsoft.com/office/powerpoint/2010/main" val="3321910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4B982-FC15-4D85-5175-36591210C2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5B1CD2-2C42-7171-FDE6-B3951563F958}"/>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FAF10BD0-99B4-052A-B6F3-61DACA77C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3" name="Text Box 2">
            <a:extLst>
              <a:ext uri="{FF2B5EF4-FFF2-40B4-BE49-F238E27FC236}">
                <a16:creationId xmlns:a16="http://schemas.microsoft.com/office/drawing/2014/main" id="{05D7F434-221C-1005-86D1-FBC9233D4262}"/>
              </a:ext>
            </a:extLst>
          </p:cNvPr>
          <p:cNvSpPr txBox="1">
            <a:spLocks noChangeArrowheads="1"/>
          </p:cNvSpPr>
          <p:nvPr/>
        </p:nvSpPr>
        <p:spPr bwMode="auto">
          <a:xfrm>
            <a:off x="646110" y="1427164"/>
            <a:ext cx="10542999" cy="224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Até agora utilizamos o método </a:t>
            </a:r>
            <a:r>
              <a:rPr lang="pt-BR" altLang="pt-BR" sz="2800" i="1" dirty="0" err="1">
                <a:solidFill>
                  <a:schemeClr val="tx1"/>
                </a:solidFill>
                <a:latin typeface="Courier New" panose="02070309020205020404" pitchFamily="49" charset="0"/>
              </a:rPr>
              <a:t>System.out.println</a:t>
            </a:r>
            <a:r>
              <a:rPr lang="pt-BR" altLang="pt-BR" sz="2800" dirty="0">
                <a:solidFill>
                  <a:schemeClr val="tx1"/>
                </a:solidFill>
              </a:rPr>
              <a:t> para escrever informações na tela. Porém, vimos que esta prática não é 100% portável, pois há sistemas que não dispõem de um console de texto. </a:t>
            </a:r>
          </a:p>
          <a:p>
            <a:pPr algn="just">
              <a:buClrTx/>
              <a:buFontTx/>
              <a:buNone/>
            </a:pPr>
            <a:endParaRPr lang="pt-BR" altLang="pt-BR" sz="2800" dirty="0">
              <a:solidFill>
                <a:schemeClr val="tx1"/>
              </a:solidFill>
            </a:endParaRPr>
          </a:p>
        </p:txBody>
      </p:sp>
      <p:sp>
        <p:nvSpPr>
          <p:cNvPr id="5" name="Rectangle 3">
            <a:extLst>
              <a:ext uri="{FF2B5EF4-FFF2-40B4-BE49-F238E27FC236}">
                <a16:creationId xmlns:a16="http://schemas.microsoft.com/office/drawing/2014/main" id="{B421FDF7-AC89-ADF6-4322-3088B7D67FC4}"/>
              </a:ext>
            </a:extLst>
          </p:cNvPr>
          <p:cNvSpPr>
            <a:spLocks noChangeArrowheads="1"/>
          </p:cNvSpPr>
          <p:nvPr/>
        </p:nvSpPr>
        <p:spPr bwMode="auto">
          <a:xfrm>
            <a:off x="1580833" y="3444191"/>
            <a:ext cx="9030334" cy="463846"/>
          </a:xfrm>
          <a:prstGeom prst="rect">
            <a:avLst/>
          </a:prstGeom>
          <a:noFill/>
          <a:ln w="9360" cap="sq">
            <a:solidFill>
              <a:srgbClr val="3333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2400">
                <a:solidFill>
                  <a:schemeClr val="tx1"/>
                </a:solidFill>
                <a:latin typeface="Courier New" panose="02070309020205020404" pitchFamily="49" charset="0"/>
              </a:rPr>
              <a:t>System.</a:t>
            </a:r>
            <a:r>
              <a:rPr lang="pt-BR" altLang="pt-BR" sz="2400" i="1">
                <a:solidFill>
                  <a:schemeClr val="tx1"/>
                </a:solidFill>
                <a:latin typeface="Courier New" panose="02070309020205020404" pitchFamily="49" charset="0"/>
              </a:rPr>
              <a:t>out</a:t>
            </a:r>
            <a:r>
              <a:rPr lang="pt-BR" altLang="pt-BR" sz="2400">
                <a:solidFill>
                  <a:schemeClr val="tx1"/>
                </a:solidFill>
                <a:latin typeface="Courier New" panose="02070309020205020404" pitchFamily="49" charset="0"/>
              </a:rPr>
              <a:t>.println(“Texto Impresso no Console”);</a:t>
            </a:r>
          </a:p>
        </p:txBody>
      </p:sp>
      <p:pic>
        <p:nvPicPr>
          <p:cNvPr id="6" name="Picture 4">
            <a:extLst>
              <a:ext uri="{FF2B5EF4-FFF2-40B4-BE49-F238E27FC236}">
                <a16:creationId xmlns:a16="http://schemas.microsoft.com/office/drawing/2014/main" id="{73754BAD-815A-4925-66F0-BA043DB66F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902" t="74397"/>
          <a:stretch>
            <a:fillRect/>
          </a:stretch>
        </p:blipFill>
        <p:spPr bwMode="auto">
          <a:xfrm>
            <a:off x="368199" y="4308279"/>
            <a:ext cx="8495110" cy="2104446"/>
          </a:xfrm>
          <a:prstGeom prst="rect">
            <a:avLst/>
          </a:prstGeom>
          <a:noFill/>
          <a:ln>
            <a:noFill/>
          </a:ln>
          <a:effectLst/>
          <a:extLst>
            <a:ext uri="{909E8E84-426E-40DD-AFC4-6F175D3DCCD1}">
              <a14:hiddenFill xmlns:a14="http://schemas.microsoft.com/office/drawing/2010/main">
                <a:blipFill dpi="0" rotWithShape="0">
                  <a:blip/>
                  <a:srcRect l="24902" t="74397"/>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3093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499"/>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1" presetClass="entr" fill="hold" nodeType="afterEffect">
                                  <p:stCondLst>
                                    <p:cond delay="0"/>
                                  </p:stCondLst>
                                  <p:childTnLst>
                                    <p:set>
                                      <p:cBhvr additive="repl">
                                        <p:cTn id="9"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6892D-0D13-E523-37B3-D11E807C5C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D3F2AF-6C92-F386-B4CE-F12AE9CCB90A}"/>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F2161EAA-5A12-53A1-6AB2-E7AB3446C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3" name="Text Box 2">
            <a:extLst>
              <a:ext uri="{FF2B5EF4-FFF2-40B4-BE49-F238E27FC236}">
                <a16:creationId xmlns:a16="http://schemas.microsoft.com/office/drawing/2014/main" id="{D2C50C30-6431-8858-7A78-28924AF6EC50}"/>
              </a:ext>
            </a:extLst>
          </p:cNvPr>
          <p:cNvSpPr txBox="1">
            <a:spLocks noChangeArrowheads="1"/>
          </p:cNvSpPr>
          <p:nvPr/>
        </p:nvSpPr>
        <p:spPr bwMode="auto">
          <a:xfrm>
            <a:off x="646110" y="1427164"/>
            <a:ext cx="10542999" cy="181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A linguagem Java oferece diversas formas de interação com o usuário, a grande maioria em janelas. Para evitar a criação de uma interface completa, pode-se utilizar as chamadas caixas de diálogo.</a:t>
            </a:r>
          </a:p>
        </p:txBody>
      </p:sp>
    </p:spTree>
    <p:extLst>
      <p:ext uri="{BB962C8B-B14F-4D97-AF65-F5344CB8AC3E}">
        <p14:creationId xmlns:p14="http://schemas.microsoft.com/office/powerpoint/2010/main" val="40849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85F4E-63D3-872E-7C01-7D84944F1A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D79870-4562-7135-2501-22644F552487}"/>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A9458786-127B-19AE-8ECD-B62F55B732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Text Box 2">
            <a:extLst>
              <a:ext uri="{FF2B5EF4-FFF2-40B4-BE49-F238E27FC236}">
                <a16:creationId xmlns:a16="http://schemas.microsoft.com/office/drawing/2014/main" id="{40208F5F-B199-E236-ACB1-A87091FB62F1}"/>
              </a:ext>
            </a:extLst>
          </p:cNvPr>
          <p:cNvSpPr txBox="1">
            <a:spLocks noChangeArrowheads="1"/>
          </p:cNvSpPr>
          <p:nvPr/>
        </p:nvSpPr>
        <p:spPr bwMode="auto">
          <a:xfrm>
            <a:off x="646110" y="1257095"/>
            <a:ext cx="10542999" cy="2679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Se olharmos com atenção na documentação da API, observaremos que as classes estão agrupadas em pacotes (</a:t>
            </a:r>
            <a:r>
              <a:rPr lang="pt-BR" altLang="pt-BR" sz="2800" i="1" dirty="0" err="1">
                <a:solidFill>
                  <a:schemeClr val="tx1"/>
                </a:solidFill>
                <a:latin typeface="Courier New" panose="02070309020205020404" pitchFamily="49" charset="0"/>
              </a:rPr>
              <a:t>packages</a:t>
            </a:r>
            <a:r>
              <a:rPr lang="pt-BR" altLang="pt-BR" sz="2800" dirty="0">
                <a:solidFill>
                  <a:schemeClr val="tx1"/>
                </a:solidFill>
              </a:rPr>
              <a:t>). Os pacotes servem para reunir um conjunto de classes com função semelhante. Então, se quisermos utilizar uma classe específica, devemos informar ao compilador Java onde (em qual pacote) essa classe deve ser encontrada.</a:t>
            </a:r>
          </a:p>
        </p:txBody>
      </p:sp>
    </p:spTree>
    <p:extLst>
      <p:ext uri="{BB962C8B-B14F-4D97-AF65-F5344CB8AC3E}">
        <p14:creationId xmlns:p14="http://schemas.microsoft.com/office/powerpoint/2010/main" val="716503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A8CA-4C1D-9511-9AA8-81AD2F3DAF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B5261F-A11B-79BC-210B-ED407E2F131E}"/>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8AE1662F-DDDF-A03B-CF00-390728279C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Text Box 2">
            <a:extLst>
              <a:ext uri="{FF2B5EF4-FFF2-40B4-BE49-F238E27FC236}">
                <a16:creationId xmlns:a16="http://schemas.microsoft.com/office/drawing/2014/main" id="{6828C0E0-C6FD-230F-8FE9-7C8FFC89ECBD}"/>
              </a:ext>
            </a:extLst>
          </p:cNvPr>
          <p:cNvSpPr txBox="1">
            <a:spLocks noChangeArrowheads="1"/>
          </p:cNvSpPr>
          <p:nvPr/>
        </p:nvSpPr>
        <p:spPr bwMode="auto">
          <a:xfrm>
            <a:off x="646110" y="1257095"/>
            <a:ext cx="10542999" cy="181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A classe que implementa as caixas de diálogo, </a:t>
            </a:r>
            <a:r>
              <a:rPr lang="pt-BR" altLang="pt-BR" sz="2800" b="1" dirty="0" err="1">
                <a:solidFill>
                  <a:schemeClr val="tx1"/>
                </a:solidFill>
              </a:rPr>
              <a:t>JOptionPane</a:t>
            </a:r>
            <a:r>
              <a:rPr lang="pt-BR" altLang="pt-BR" sz="2800" dirty="0">
                <a:solidFill>
                  <a:schemeClr val="tx1"/>
                </a:solidFill>
              </a:rPr>
              <a:t>, se encontra no pacote </a:t>
            </a:r>
            <a:r>
              <a:rPr lang="pt-BR" altLang="pt-BR" sz="2800" i="1" dirty="0" err="1">
                <a:solidFill>
                  <a:schemeClr val="tx1"/>
                </a:solidFill>
                <a:latin typeface="Courier New" panose="02070309020205020404" pitchFamily="49" charset="0"/>
              </a:rPr>
              <a:t>javax.swing</a:t>
            </a:r>
            <a:r>
              <a:rPr lang="pt-BR" altLang="pt-BR" sz="2800" dirty="0">
                <a:solidFill>
                  <a:schemeClr val="tx1"/>
                </a:solidFill>
              </a:rPr>
              <a:t>, que contém diversas outras classes para interface com o usuário. Para utilizar essa classe, utiliza-se o comando </a:t>
            </a:r>
            <a:r>
              <a:rPr lang="pt-BR" altLang="pt-BR" sz="2800" i="1" dirty="0" err="1">
                <a:solidFill>
                  <a:schemeClr val="tx1"/>
                </a:solidFill>
                <a:latin typeface="Courier New" panose="02070309020205020404" pitchFamily="49" charset="0"/>
              </a:rPr>
              <a:t>import</a:t>
            </a:r>
            <a:r>
              <a:rPr lang="pt-BR" altLang="pt-BR" sz="2800" dirty="0">
                <a:solidFill>
                  <a:schemeClr val="tx1"/>
                </a:solidFill>
              </a:rPr>
              <a:t>:</a:t>
            </a:r>
          </a:p>
        </p:txBody>
      </p:sp>
      <p:sp>
        <p:nvSpPr>
          <p:cNvPr id="5" name="Rectangle 3">
            <a:extLst>
              <a:ext uri="{FF2B5EF4-FFF2-40B4-BE49-F238E27FC236}">
                <a16:creationId xmlns:a16="http://schemas.microsoft.com/office/drawing/2014/main" id="{5606A42C-4438-59D7-128D-D3956420A17A}"/>
              </a:ext>
            </a:extLst>
          </p:cNvPr>
          <p:cNvSpPr>
            <a:spLocks noChangeArrowheads="1"/>
          </p:cNvSpPr>
          <p:nvPr/>
        </p:nvSpPr>
        <p:spPr bwMode="auto">
          <a:xfrm>
            <a:off x="2205701" y="3429000"/>
            <a:ext cx="7622088" cy="525401"/>
          </a:xfrm>
          <a:prstGeom prst="rect">
            <a:avLst/>
          </a:prstGeom>
          <a:noFill/>
          <a:ln w="9360" cap="sq">
            <a:solidFill>
              <a:srgbClr val="3333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2800" b="1">
                <a:solidFill>
                  <a:schemeClr val="tx1"/>
                </a:solidFill>
                <a:latin typeface="Courier New" panose="02070309020205020404" pitchFamily="49" charset="0"/>
              </a:rPr>
              <a:t>import javax.swing.JOptionPane;</a:t>
            </a:r>
          </a:p>
        </p:txBody>
      </p:sp>
      <p:sp>
        <p:nvSpPr>
          <p:cNvPr id="6" name="CaixaDeTexto 5">
            <a:extLst>
              <a:ext uri="{FF2B5EF4-FFF2-40B4-BE49-F238E27FC236}">
                <a16:creationId xmlns:a16="http://schemas.microsoft.com/office/drawing/2014/main" id="{256CF190-AFC2-8131-AC5F-5D0560BF22F6}"/>
              </a:ext>
            </a:extLst>
          </p:cNvPr>
          <p:cNvSpPr txBox="1"/>
          <p:nvPr/>
        </p:nvSpPr>
        <p:spPr>
          <a:xfrm>
            <a:off x="570269" y="4308243"/>
            <a:ext cx="8308260" cy="193899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buClrTx/>
              <a:buFontTx/>
              <a:buNone/>
            </a:pPr>
            <a:r>
              <a:rPr lang="pt-BR" altLang="pt-BR" sz="2400" b="1" dirty="0">
                <a:solidFill>
                  <a:srgbClr val="808080"/>
                </a:solidFill>
              </a:rPr>
              <a:t>Importante:</a:t>
            </a:r>
            <a:r>
              <a:rPr lang="pt-BR" altLang="pt-BR" sz="2400" dirty="0"/>
              <a:t> Algumas classes como </a:t>
            </a:r>
            <a:r>
              <a:rPr lang="pt-BR" altLang="pt-BR" sz="2400" dirty="0" err="1">
                <a:latin typeface="Courier New" panose="02070309020205020404" pitchFamily="49" charset="0"/>
              </a:rPr>
              <a:t>String</a:t>
            </a:r>
            <a:r>
              <a:rPr lang="pt-BR" altLang="pt-BR" sz="2400" dirty="0"/>
              <a:t>, </a:t>
            </a:r>
            <a:r>
              <a:rPr lang="pt-BR" altLang="pt-BR" sz="2400" dirty="0">
                <a:latin typeface="Courier New" panose="02070309020205020404" pitchFamily="49" charset="0"/>
              </a:rPr>
              <a:t>System</a:t>
            </a:r>
            <a:r>
              <a:rPr lang="pt-BR" altLang="pt-BR" sz="2400" dirty="0"/>
              <a:t>,</a:t>
            </a:r>
            <a:r>
              <a:rPr lang="pt-BR" altLang="pt-BR" sz="2400" dirty="0">
                <a:latin typeface="Courier New" panose="02070309020205020404" pitchFamily="49" charset="0"/>
              </a:rPr>
              <a:t> </a:t>
            </a:r>
            <a:r>
              <a:rPr lang="pt-BR" altLang="pt-BR" sz="2400" dirty="0" err="1">
                <a:latin typeface="Courier New" panose="02070309020205020404" pitchFamily="49" charset="0"/>
              </a:rPr>
              <a:t>Integer</a:t>
            </a:r>
            <a:r>
              <a:rPr lang="pt-BR" altLang="pt-BR" sz="2400" dirty="0"/>
              <a:t> e outras são parte de um pacote especial, denominado </a:t>
            </a:r>
            <a:r>
              <a:rPr lang="pt-BR" altLang="pt-BR" sz="2400" dirty="0" err="1">
                <a:latin typeface="Courier New" panose="02070309020205020404" pitchFamily="49" charset="0"/>
              </a:rPr>
              <a:t>java.lang</a:t>
            </a:r>
            <a:r>
              <a:rPr lang="pt-BR" altLang="pt-BR" sz="2400" dirty="0"/>
              <a:t>. Esse pacote nunca precisa ser importado, pois são as classes primitivas que compõem a linguagem Java.</a:t>
            </a:r>
          </a:p>
        </p:txBody>
      </p:sp>
    </p:spTree>
    <p:extLst>
      <p:ext uri="{BB962C8B-B14F-4D97-AF65-F5344CB8AC3E}">
        <p14:creationId xmlns:p14="http://schemas.microsoft.com/office/powerpoint/2010/main" val="60483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75F6B-496B-01EC-539A-7DA3EC24A4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7F79A7-6A43-F1CF-9D74-4FB363AB3AE8}"/>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9E26039F-B17D-B15B-0FDE-C56557007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Text Box 2">
            <a:extLst>
              <a:ext uri="{FF2B5EF4-FFF2-40B4-BE49-F238E27FC236}">
                <a16:creationId xmlns:a16="http://schemas.microsoft.com/office/drawing/2014/main" id="{5E856AFE-2A72-E06D-08ED-A8419FF5E7BF}"/>
              </a:ext>
            </a:extLst>
          </p:cNvPr>
          <p:cNvSpPr txBox="1">
            <a:spLocks noChangeArrowheads="1"/>
          </p:cNvSpPr>
          <p:nvPr/>
        </p:nvSpPr>
        <p:spPr bwMode="auto">
          <a:xfrm>
            <a:off x="646110" y="1257095"/>
            <a:ext cx="10542999" cy="181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A classe </a:t>
            </a:r>
            <a:r>
              <a:rPr lang="pt-BR" altLang="pt-BR" sz="2800" b="1" dirty="0" err="1">
                <a:solidFill>
                  <a:schemeClr val="tx1"/>
                </a:solidFill>
              </a:rPr>
              <a:t>JOptionPane</a:t>
            </a:r>
            <a:r>
              <a:rPr lang="pt-BR" altLang="pt-BR" sz="2800" dirty="0">
                <a:solidFill>
                  <a:schemeClr val="tx1"/>
                </a:solidFill>
              </a:rPr>
              <a:t> oferece diversos métodos, para criar diversos tipos de caixas de diálogo. Por exemplo, se quisermos exibir uma caixa de mensagem para informar o usuário, usamos o método </a:t>
            </a:r>
            <a:r>
              <a:rPr lang="pt-BR" altLang="pt-BR" sz="2800" dirty="0" err="1">
                <a:solidFill>
                  <a:schemeClr val="tx1"/>
                </a:solidFill>
                <a:latin typeface="Courier New" panose="02070309020205020404" pitchFamily="49" charset="0"/>
              </a:rPr>
              <a:t>showMessageDialog</a:t>
            </a:r>
            <a:r>
              <a:rPr lang="pt-BR" altLang="pt-BR" sz="2800" dirty="0">
                <a:solidFill>
                  <a:schemeClr val="tx1"/>
                </a:solidFill>
              </a:rPr>
              <a:t>(...):</a:t>
            </a:r>
          </a:p>
        </p:txBody>
      </p:sp>
      <p:pic>
        <p:nvPicPr>
          <p:cNvPr id="3" name="Picture 3">
            <a:extLst>
              <a:ext uri="{FF2B5EF4-FFF2-40B4-BE49-F238E27FC236}">
                <a16:creationId xmlns:a16="http://schemas.microsoft.com/office/drawing/2014/main" id="{7FBAFB5F-D587-CE28-83A8-13EEF9222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27" t="12411" r="39665" b="66267"/>
          <a:stretch>
            <a:fillRect/>
          </a:stretch>
        </p:blipFill>
        <p:spPr bwMode="auto">
          <a:xfrm>
            <a:off x="646110" y="3228749"/>
            <a:ext cx="10245410" cy="2704086"/>
          </a:xfrm>
          <a:prstGeom prst="rect">
            <a:avLst/>
          </a:prstGeom>
          <a:noFill/>
          <a:ln>
            <a:noFill/>
          </a:ln>
          <a:effectLst/>
          <a:extLst>
            <a:ext uri="{909E8E84-426E-40DD-AFC4-6F175D3DCCD1}">
              <a14:hiddenFill xmlns:a14="http://schemas.microsoft.com/office/drawing/2010/main">
                <a:blipFill dpi="0" rotWithShape="0">
                  <a:blip/>
                  <a:srcRect l="1627" t="12411" r="39665" b="66267"/>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490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B2077-8504-B400-0864-8852C9AF14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FBB2EF-6A3A-CD98-B719-1C0AC6CA3A7E}"/>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E91FF081-8485-A90A-C850-E97E04F79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Text Box 2">
            <a:extLst>
              <a:ext uri="{FF2B5EF4-FFF2-40B4-BE49-F238E27FC236}">
                <a16:creationId xmlns:a16="http://schemas.microsoft.com/office/drawing/2014/main" id="{2F963DFC-B77A-6D5B-4C0F-D8A4E0A68C0C}"/>
              </a:ext>
            </a:extLst>
          </p:cNvPr>
          <p:cNvSpPr txBox="1">
            <a:spLocks noChangeArrowheads="1"/>
          </p:cNvSpPr>
          <p:nvPr/>
        </p:nvSpPr>
        <p:spPr bwMode="auto">
          <a:xfrm>
            <a:off x="646110" y="1257095"/>
            <a:ext cx="10542999" cy="181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O primeiro parâmetro por enquanto deve ser </a:t>
            </a:r>
            <a:r>
              <a:rPr lang="pt-BR" altLang="pt-BR" sz="2800" b="1" dirty="0" err="1">
                <a:solidFill>
                  <a:schemeClr val="tx1"/>
                </a:solidFill>
              </a:rPr>
              <a:t>null</a:t>
            </a:r>
            <a:r>
              <a:rPr lang="pt-BR" altLang="pt-BR" sz="2800" dirty="0">
                <a:solidFill>
                  <a:schemeClr val="tx1"/>
                </a:solidFill>
              </a:rPr>
              <a:t>. Repare que o método </a:t>
            </a:r>
            <a:r>
              <a:rPr lang="pt-BR" altLang="pt-BR" sz="2800" i="1" dirty="0" err="1">
                <a:solidFill>
                  <a:schemeClr val="tx1"/>
                </a:solidFill>
              </a:rPr>
              <a:t>showMessageDialog</a:t>
            </a:r>
            <a:r>
              <a:rPr lang="pt-BR" altLang="pt-BR" sz="2800" i="1" dirty="0">
                <a:solidFill>
                  <a:schemeClr val="tx1"/>
                </a:solidFill>
              </a:rPr>
              <a:t>(...) </a:t>
            </a:r>
            <a:r>
              <a:rPr lang="pt-BR" altLang="pt-BR" sz="2800" dirty="0">
                <a:solidFill>
                  <a:schemeClr val="tx1"/>
                </a:solidFill>
              </a:rPr>
              <a:t>é um método estático (de classe) de </a:t>
            </a:r>
            <a:r>
              <a:rPr lang="pt-BR" altLang="pt-BR" sz="2800" b="1" dirty="0" err="1">
                <a:solidFill>
                  <a:schemeClr val="tx1"/>
                </a:solidFill>
              </a:rPr>
              <a:t>JOptionPane</a:t>
            </a:r>
            <a:r>
              <a:rPr lang="pt-BR" altLang="pt-BR" sz="2800" b="1" dirty="0">
                <a:solidFill>
                  <a:schemeClr val="tx1"/>
                </a:solidFill>
              </a:rPr>
              <a:t>! </a:t>
            </a:r>
            <a:r>
              <a:rPr lang="pt-BR" altLang="pt-BR" sz="2800" dirty="0">
                <a:solidFill>
                  <a:schemeClr val="tx1"/>
                </a:solidFill>
              </a:rPr>
              <a:t>Por esse motivo, não é necessário instanciar objetos a partir de </a:t>
            </a:r>
            <a:r>
              <a:rPr lang="pt-BR" altLang="pt-BR" sz="2800" dirty="0" err="1">
                <a:solidFill>
                  <a:schemeClr val="tx1"/>
                </a:solidFill>
              </a:rPr>
              <a:t>JOptionPane</a:t>
            </a:r>
            <a:r>
              <a:rPr lang="pt-BR" altLang="pt-BR" sz="2800" dirty="0">
                <a:solidFill>
                  <a:schemeClr val="tx1"/>
                </a:solidFill>
              </a:rPr>
              <a:t>. </a:t>
            </a:r>
          </a:p>
        </p:txBody>
      </p:sp>
    </p:spTree>
    <p:extLst>
      <p:ext uri="{BB962C8B-B14F-4D97-AF65-F5344CB8AC3E}">
        <p14:creationId xmlns:p14="http://schemas.microsoft.com/office/powerpoint/2010/main" val="3858973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D3B18-8CC2-48FB-7C12-3EDECBDDBB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62E358-E27D-199A-DF0D-7DA2419E822F}"/>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8D0A3E38-9FE5-7ABC-4738-54CC14AEA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Text Box 2">
            <a:extLst>
              <a:ext uri="{FF2B5EF4-FFF2-40B4-BE49-F238E27FC236}">
                <a16:creationId xmlns:a16="http://schemas.microsoft.com/office/drawing/2014/main" id="{41AFF1D5-341E-9E7D-CC51-EDB20327347B}"/>
              </a:ext>
            </a:extLst>
          </p:cNvPr>
          <p:cNvSpPr txBox="1">
            <a:spLocks noChangeArrowheads="1"/>
          </p:cNvSpPr>
          <p:nvPr/>
        </p:nvSpPr>
        <p:spPr bwMode="auto">
          <a:xfrm>
            <a:off x="646110" y="1257095"/>
            <a:ext cx="10542999" cy="1387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Observe também a chamada para o método </a:t>
            </a:r>
            <a:r>
              <a:rPr lang="pt-BR" altLang="pt-BR" sz="2800" b="1" dirty="0" err="1">
                <a:solidFill>
                  <a:schemeClr val="tx1"/>
                </a:solidFill>
              </a:rPr>
              <a:t>System.exit</a:t>
            </a:r>
            <a:r>
              <a:rPr lang="pt-BR" altLang="pt-BR" sz="2800" b="1" dirty="0">
                <a:solidFill>
                  <a:schemeClr val="tx1"/>
                </a:solidFill>
              </a:rPr>
              <a:t>(0)</a:t>
            </a:r>
            <a:r>
              <a:rPr lang="pt-BR" altLang="pt-BR" sz="2800" dirty="0">
                <a:solidFill>
                  <a:schemeClr val="tx1"/>
                </a:solidFill>
              </a:rPr>
              <a:t>: este método é geralmente utilizado para encerrar um programa que utilize interface gráfica. </a:t>
            </a:r>
          </a:p>
        </p:txBody>
      </p:sp>
      <p:pic>
        <p:nvPicPr>
          <p:cNvPr id="3" name="Picture 3">
            <a:extLst>
              <a:ext uri="{FF2B5EF4-FFF2-40B4-BE49-F238E27FC236}">
                <a16:creationId xmlns:a16="http://schemas.microsoft.com/office/drawing/2014/main" id="{955EBF17-8908-BC50-46DA-39656A6ED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3262" y="3059604"/>
            <a:ext cx="3976491" cy="170547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a:extLst>
              <a:ext uri="{FF2B5EF4-FFF2-40B4-BE49-F238E27FC236}">
                <a16:creationId xmlns:a16="http://schemas.microsoft.com/office/drawing/2014/main" id="{DE67D736-286F-55A4-DA6E-445E37C17D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3057832"/>
            <a:ext cx="3941033" cy="170724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5">
            <a:extLst>
              <a:ext uri="{FF2B5EF4-FFF2-40B4-BE49-F238E27FC236}">
                <a16:creationId xmlns:a16="http://schemas.microsoft.com/office/drawing/2014/main" id="{42898308-FBC6-A3BB-14B1-D5D7E9784721}"/>
              </a:ext>
            </a:extLst>
          </p:cNvPr>
          <p:cNvSpPr txBox="1">
            <a:spLocks noChangeArrowheads="1"/>
          </p:cNvSpPr>
          <p:nvPr/>
        </p:nvSpPr>
        <p:spPr bwMode="auto">
          <a:xfrm>
            <a:off x="2274632" y="4877795"/>
            <a:ext cx="2592387"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ctr">
              <a:spcBef>
                <a:spcPts val="1125"/>
              </a:spcBef>
            </a:pPr>
            <a:r>
              <a:rPr lang="pt-BR" altLang="pt-BR" dirty="0">
                <a:solidFill>
                  <a:schemeClr val="tx1"/>
                </a:solidFill>
              </a:rPr>
              <a:t>Windows XP SP2</a:t>
            </a:r>
          </a:p>
        </p:txBody>
      </p:sp>
      <p:sp>
        <p:nvSpPr>
          <p:cNvPr id="8" name="Text Box 6">
            <a:extLst>
              <a:ext uri="{FF2B5EF4-FFF2-40B4-BE49-F238E27FC236}">
                <a16:creationId xmlns:a16="http://schemas.microsoft.com/office/drawing/2014/main" id="{22E9D1D1-1DD6-61E0-9337-528C3EFF1BEF}"/>
              </a:ext>
            </a:extLst>
          </p:cNvPr>
          <p:cNvSpPr txBox="1">
            <a:spLocks noChangeArrowheads="1"/>
          </p:cNvSpPr>
          <p:nvPr/>
        </p:nvSpPr>
        <p:spPr bwMode="auto">
          <a:xfrm>
            <a:off x="6770321" y="4877795"/>
            <a:ext cx="2592388"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ctr">
              <a:spcBef>
                <a:spcPts val="1125"/>
              </a:spcBef>
            </a:pPr>
            <a:r>
              <a:rPr lang="pt-BR" altLang="pt-BR" dirty="0">
                <a:solidFill>
                  <a:schemeClr val="tx1"/>
                </a:solidFill>
              </a:rPr>
              <a:t>Windows 98 SE</a:t>
            </a:r>
          </a:p>
        </p:txBody>
      </p:sp>
    </p:spTree>
    <p:extLst>
      <p:ext uri="{BB962C8B-B14F-4D97-AF65-F5344CB8AC3E}">
        <p14:creationId xmlns:p14="http://schemas.microsoft.com/office/powerpoint/2010/main" val="350115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499"/>
                                          </p:stCondLst>
                                        </p:cTn>
                                        <p:tgtEl>
                                          <p:spTgt spid="3"/>
                                        </p:tgtEl>
                                        <p:attrNameLst>
                                          <p:attrName>style.visibility</p:attrName>
                                        </p:attrNameLst>
                                      </p:cBhvr>
                                      <p:to>
                                        <p:strVal val="visible"/>
                                      </p:to>
                                    </p:set>
                                  </p:childTnLst>
                                </p:cTn>
                              </p:par>
                            </p:childTnLst>
                          </p:cTn>
                        </p:par>
                        <p:par>
                          <p:cTn id="7" fill="hold">
                            <p:stCondLst>
                              <p:cond delay="500"/>
                            </p:stCondLst>
                            <p:childTnLst>
                              <p:par>
                                <p:cTn id="8" presetID="1" presetClass="entr" fill="hold" nodeType="afterEffect">
                                  <p:stCondLst>
                                    <p:cond delay="0"/>
                                  </p:stCondLst>
                                  <p:childTnLst>
                                    <p:set>
                                      <p:cBhvr additive="repl">
                                        <p:cTn id="9" dur="1" fill="hold">
                                          <p:stCondLst>
                                            <p:cond delay="499"/>
                                          </p:stCondLst>
                                        </p:cTn>
                                        <p:tgtEl>
                                          <p:spTgt spid="6"/>
                                        </p:tgtEl>
                                        <p:attrNameLst>
                                          <p:attrName>style.visibility</p:attrName>
                                        </p:attrNameLst>
                                      </p:cBhvr>
                                      <p:to>
                                        <p:strVal val="visible"/>
                                      </p:to>
                                    </p:set>
                                  </p:childTnLst>
                                </p:cTn>
                              </p:par>
                            </p:childTnLst>
                          </p:cTn>
                        </p:par>
                        <p:par>
                          <p:cTn id="10" fill="hold">
                            <p:stCondLst>
                              <p:cond delay="1000"/>
                            </p:stCondLst>
                            <p:childTnLst>
                              <p:par>
                                <p:cTn id="11" presetID="1" presetClass="entr" fill="hold" nodeType="afterEffect">
                                  <p:stCondLst>
                                    <p:cond delay="2000"/>
                                  </p:stCondLst>
                                  <p:childTnLst>
                                    <p:set>
                                      <p:cBhvr additive="repl">
                                        <p:cTn id="12" dur="1" fill="hold">
                                          <p:stCondLst>
                                            <p:cond delay="499"/>
                                          </p:stCondLst>
                                        </p:cTn>
                                        <p:tgtEl>
                                          <p:spTgt spid="5"/>
                                        </p:tgtEl>
                                        <p:attrNameLst>
                                          <p:attrName>style.visibility</p:attrName>
                                        </p:attrNameLst>
                                      </p:cBhvr>
                                      <p:to>
                                        <p:strVal val="visible"/>
                                      </p:to>
                                    </p:set>
                                  </p:childTnLst>
                                </p:cTn>
                              </p:par>
                            </p:childTnLst>
                          </p:cTn>
                        </p:par>
                        <p:par>
                          <p:cTn id="13" fill="hold">
                            <p:stCondLst>
                              <p:cond delay="3500"/>
                            </p:stCondLst>
                            <p:childTnLst>
                              <p:par>
                                <p:cTn id="14" presetID="1" presetClass="entr" fill="hold" nodeType="afterEffect">
                                  <p:stCondLst>
                                    <p:cond delay="0"/>
                                  </p:stCondLst>
                                  <p:childTnLst>
                                    <p:set>
                                      <p:cBhvr additive="repl">
                                        <p:cTn id="15"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BD170-AFB6-4864-DAE8-EC42F04BCA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79E148-4FFE-E03F-4442-18AC6344FE12}"/>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0BBE6421-EECB-1F17-E5D0-5A733D023C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9" name="Text Box 2">
            <a:extLst>
              <a:ext uri="{FF2B5EF4-FFF2-40B4-BE49-F238E27FC236}">
                <a16:creationId xmlns:a16="http://schemas.microsoft.com/office/drawing/2014/main" id="{F3CADD26-6AFD-9C09-3B93-849AE0FB9F07}"/>
              </a:ext>
            </a:extLst>
          </p:cNvPr>
          <p:cNvSpPr txBox="1">
            <a:spLocks noChangeArrowheads="1"/>
          </p:cNvSpPr>
          <p:nvPr/>
        </p:nvSpPr>
        <p:spPr bwMode="auto">
          <a:xfrm>
            <a:off x="646110" y="1284289"/>
            <a:ext cx="10395516" cy="1387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Há uma outra forma de chamada para o método </a:t>
            </a:r>
            <a:r>
              <a:rPr lang="pt-BR" altLang="pt-BR" sz="2800" i="1" dirty="0" err="1">
                <a:solidFill>
                  <a:schemeClr val="tx1"/>
                </a:solidFill>
              </a:rPr>
              <a:t>showMessageDialog</a:t>
            </a:r>
            <a:r>
              <a:rPr lang="pt-BR" altLang="pt-BR" sz="2800" dirty="0">
                <a:solidFill>
                  <a:schemeClr val="tx1"/>
                </a:solidFill>
              </a:rPr>
              <a:t>, a qual permite melhorarmos o visual da caixa de mensagem: </a:t>
            </a:r>
          </a:p>
        </p:txBody>
      </p:sp>
      <p:sp>
        <p:nvSpPr>
          <p:cNvPr id="10" name="Text Box 3">
            <a:extLst>
              <a:ext uri="{FF2B5EF4-FFF2-40B4-BE49-F238E27FC236}">
                <a16:creationId xmlns:a16="http://schemas.microsoft.com/office/drawing/2014/main" id="{0C3C2043-EAF6-0D47-0BB4-36366C34DA2B}"/>
              </a:ext>
            </a:extLst>
          </p:cNvPr>
          <p:cNvSpPr txBox="1">
            <a:spLocks noChangeArrowheads="1"/>
          </p:cNvSpPr>
          <p:nvPr/>
        </p:nvSpPr>
        <p:spPr bwMode="auto">
          <a:xfrm>
            <a:off x="678579" y="6443459"/>
            <a:ext cx="2592387"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ctr">
              <a:spcBef>
                <a:spcPts val="1125"/>
              </a:spcBef>
            </a:pPr>
            <a:r>
              <a:rPr lang="pt-BR" altLang="pt-BR" dirty="0">
                <a:solidFill>
                  <a:schemeClr val="tx1"/>
                </a:solidFill>
              </a:rPr>
              <a:t>Windows XP SP2</a:t>
            </a:r>
          </a:p>
        </p:txBody>
      </p:sp>
      <p:sp>
        <p:nvSpPr>
          <p:cNvPr id="11" name="Text Box 4">
            <a:extLst>
              <a:ext uri="{FF2B5EF4-FFF2-40B4-BE49-F238E27FC236}">
                <a16:creationId xmlns:a16="http://schemas.microsoft.com/office/drawing/2014/main" id="{8895DBA0-FE9C-4DDB-6368-D53DBDF132C4}"/>
              </a:ext>
            </a:extLst>
          </p:cNvPr>
          <p:cNvSpPr txBox="1">
            <a:spLocks noChangeArrowheads="1"/>
          </p:cNvSpPr>
          <p:nvPr/>
        </p:nvSpPr>
        <p:spPr bwMode="auto">
          <a:xfrm>
            <a:off x="4496515" y="6413296"/>
            <a:ext cx="2592388"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Microsoft YaHei" panose="020B0503020204020204" pitchFamily="34" charset="-122"/>
              </a:defRPr>
            </a:lvl9pPr>
          </a:lstStyle>
          <a:p>
            <a:pPr algn="ctr">
              <a:spcBef>
                <a:spcPts val="1125"/>
              </a:spcBef>
            </a:pPr>
            <a:r>
              <a:rPr lang="pt-BR" altLang="pt-BR" dirty="0">
                <a:solidFill>
                  <a:schemeClr val="tx1"/>
                </a:solidFill>
              </a:rPr>
              <a:t>Windows 98 SE</a:t>
            </a:r>
          </a:p>
        </p:txBody>
      </p:sp>
      <p:pic>
        <p:nvPicPr>
          <p:cNvPr id="12" name="Picture 5">
            <a:extLst>
              <a:ext uri="{FF2B5EF4-FFF2-40B4-BE49-F238E27FC236}">
                <a16:creationId xmlns:a16="http://schemas.microsoft.com/office/drawing/2014/main" id="{D1B21E64-5D03-D703-7BA8-2699D0922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028" y="4914696"/>
            <a:ext cx="3600450" cy="1544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 name="Picture 6">
            <a:extLst>
              <a:ext uri="{FF2B5EF4-FFF2-40B4-BE49-F238E27FC236}">
                <a16:creationId xmlns:a16="http://schemas.microsoft.com/office/drawing/2014/main" id="{424CBBA0-2553-0E9D-BF0D-23365D600E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840" y="4914697"/>
            <a:ext cx="3600450" cy="15605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7">
            <a:extLst>
              <a:ext uri="{FF2B5EF4-FFF2-40B4-BE49-F238E27FC236}">
                <a16:creationId xmlns:a16="http://schemas.microsoft.com/office/drawing/2014/main" id="{BF3A2F3E-A38E-DC6E-64D1-19785235B0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270" t="12411" r="41879" b="64230"/>
          <a:stretch>
            <a:fillRect/>
          </a:stretch>
        </p:blipFill>
        <p:spPr bwMode="auto">
          <a:xfrm>
            <a:off x="4248560" y="2434368"/>
            <a:ext cx="7489825" cy="2236787"/>
          </a:xfrm>
          <a:prstGeom prst="rect">
            <a:avLst/>
          </a:prstGeom>
          <a:noFill/>
          <a:ln>
            <a:noFill/>
          </a:ln>
          <a:effectLst/>
          <a:extLst>
            <a:ext uri="{909E8E84-426E-40DD-AFC4-6F175D3DCCD1}">
              <a14:hiddenFill xmlns:a14="http://schemas.microsoft.com/office/drawing/2010/main">
                <a:blipFill dpi="0" rotWithShape="0">
                  <a:blip/>
                  <a:srcRect l="1270" t="12411" r="41879" b="64230"/>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1785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499"/>
                                          </p:stCondLst>
                                        </p:cTn>
                                        <p:tgtEl>
                                          <p:spTgt spid="14"/>
                                        </p:tgtEl>
                                        <p:attrNameLst>
                                          <p:attrName>style.visibility</p:attrName>
                                        </p:attrNameLst>
                                      </p:cBhvr>
                                      <p:to>
                                        <p:strVal val="visible"/>
                                      </p:to>
                                    </p:set>
                                  </p:childTnLst>
                                </p:cTn>
                              </p:par>
                            </p:childTnLst>
                          </p:cTn>
                        </p:par>
                        <p:par>
                          <p:cTn id="7" fill="hold">
                            <p:stCondLst>
                              <p:cond delay="500"/>
                            </p:stCondLst>
                            <p:childTnLst>
                              <p:par>
                                <p:cTn id="8" presetID="1" presetClass="entr" fill="hold" nodeType="afterEffect">
                                  <p:stCondLst>
                                    <p:cond delay="1000"/>
                                  </p:stCondLst>
                                  <p:childTnLst>
                                    <p:set>
                                      <p:cBhvr additive="repl">
                                        <p:cTn id="9" dur="1" fill="hold">
                                          <p:stCondLst>
                                            <p:cond delay="499"/>
                                          </p:stCondLst>
                                        </p:cTn>
                                        <p:tgtEl>
                                          <p:spTgt spid="12"/>
                                        </p:tgtEl>
                                        <p:attrNameLst>
                                          <p:attrName>style.visibility</p:attrName>
                                        </p:attrNameLst>
                                      </p:cBhvr>
                                      <p:to>
                                        <p:strVal val="visible"/>
                                      </p:to>
                                    </p:set>
                                  </p:childTnLst>
                                </p:cTn>
                              </p:par>
                            </p:childTnLst>
                          </p:cTn>
                        </p:par>
                        <p:par>
                          <p:cTn id="10" fill="hold">
                            <p:stCondLst>
                              <p:cond delay="2000"/>
                            </p:stCondLst>
                            <p:childTnLst>
                              <p:par>
                                <p:cTn id="11" presetID="1" presetClass="entr" fill="hold" nodeType="afterEffect">
                                  <p:stCondLst>
                                    <p:cond delay="0"/>
                                  </p:stCondLst>
                                  <p:childTnLst>
                                    <p:set>
                                      <p:cBhvr additive="repl">
                                        <p:cTn id="12" dur="1" fill="hold">
                                          <p:stCondLst>
                                            <p:cond delay="499"/>
                                          </p:stCondLst>
                                        </p:cTn>
                                        <p:tgtEl>
                                          <p:spTgt spid="10"/>
                                        </p:tgtEl>
                                        <p:attrNameLst>
                                          <p:attrName>style.visibility</p:attrName>
                                        </p:attrNameLst>
                                      </p:cBhvr>
                                      <p:to>
                                        <p:strVal val="visible"/>
                                      </p:to>
                                    </p:set>
                                  </p:childTnLst>
                                </p:cTn>
                              </p:par>
                            </p:childTnLst>
                          </p:cTn>
                        </p:par>
                        <p:par>
                          <p:cTn id="13" fill="hold">
                            <p:stCondLst>
                              <p:cond delay="2500"/>
                            </p:stCondLst>
                            <p:childTnLst>
                              <p:par>
                                <p:cTn id="14" presetID="1" presetClass="entr" fill="hold" nodeType="afterEffect">
                                  <p:stCondLst>
                                    <p:cond delay="0"/>
                                  </p:stCondLst>
                                  <p:childTnLst>
                                    <p:set>
                                      <p:cBhvr additive="repl">
                                        <p:cTn id="15" dur="1" fill="hold">
                                          <p:stCondLst>
                                            <p:cond delay="499"/>
                                          </p:stCondLst>
                                        </p:cTn>
                                        <p:tgtEl>
                                          <p:spTgt spid="13"/>
                                        </p:tgtEl>
                                        <p:attrNameLst>
                                          <p:attrName>style.visibility</p:attrName>
                                        </p:attrNameLst>
                                      </p:cBhvr>
                                      <p:to>
                                        <p:strVal val="visible"/>
                                      </p:to>
                                    </p:set>
                                  </p:childTnLst>
                                </p:cTn>
                              </p:par>
                            </p:childTnLst>
                          </p:cTn>
                        </p:par>
                        <p:par>
                          <p:cTn id="16" fill="hold">
                            <p:stCondLst>
                              <p:cond delay="3000"/>
                            </p:stCondLst>
                            <p:childTnLst>
                              <p:par>
                                <p:cTn id="17" presetID="1" presetClass="entr" fill="hold" nodeType="afterEffect">
                                  <p:stCondLst>
                                    <p:cond delay="0"/>
                                  </p:stCondLst>
                                  <p:childTnLst>
                                    <p:set>
                                      <p:cBhvr additive="repl">
                                        <p:cTn id="18"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01C87-843D-8905-FF94-FC491AF111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B6252B-E778-FCBF-821F-361E67B515A3}"/>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FFB09EDD-AAA4-4BB6-FB9E-6C96364A6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16" name="CaixaDeTexto 15">
            <a:extLst>
              <a:ext uri="{FF2B5EF4-FFF2-40B4-BE49-F238E27FC236}">
                <a16:creationId xmlns:a16="http://schemas.microsoft.com/office/drawing/2014/main" id="{4C6515D3-987E-93C1-B377-9F0E0A9FEDDB}"/>
              </a:ext>
            </a:extLst>
          </p:cNvPr>
          <p:cNvSpPr txBox="1"/>
          <p:nvPr/>
        </p:nvSpPr>
        <p:spPr>
          <a:xfrm>
            <a:off x="646109" y="1392182"/>
            <a:ext cx="10542999" cy="1815882"/>
          </a:xfrm>
          <a:prstGeom prst="rect">
            <a:avLst/>
          </a:prstGeom>
          <a:noFill/>
        </p:spPr>
        <p:txBody>
          <a:bodyPr wrap="square">
            <a:spAutoFit/>
          </a:bodyPr>
          <a:lstStyle/>
          <a:p>
            <a:pPr algn="just">
              <a:buClrTx/>
              <a:buFontTx/>
              <a:buNone/>
            </a:pPr>
            <a:r>
              <a:rPr lang="pt-BR" altLang="pt-BR" sz="2800" dirty="0">
                <a:solidFill>
                  <a:schemeClr val="tx1"/>
                </a:solidFill>
              </a:rPr>
              <a:t>O terceiro parâmetro é o título que será exibido na janela (ao invés de "</a:t>
            </a:r>
            <a:r>
              <a:rPr lang="pt-BR" altLang="pt-BR" sz="2800" dirty="0" err="1">
                <a:solidFill>
                  <a:schemeClr val="tx1"/>
                </a:solidFill>
              </a:rPr>
              <a:t>Message</a:t>
            </a:r>
            <a:r>
              <a:rPr lang="pt-BR" altLang="pt-BR" sz="2800" dirty="0">
                <a:solidFill>
                  <a:schemeClr val="tx1"/>
                </a:solidFill>
              </a:rPr>
              <a:t>")</a:t>
            </a:r>
          </a:p>
          <a:p>
            <a:pPr algn="just">
              <a:buClrTx/>
              <a:buFontTx/>
              <a:buNone/>
            </a:pPr>
            <a:r>
              <a:rPr lang="pt-BR" altLang="pt-BR" sz="2800" dirty="0">
                <a:solidFill>
                  <a:schemeClr val="tx1"/>
                </a:solidFill>
              </a:rPr>
              <a:t>O quarto parâmetro controla o ícone apresentado à esquerda da janela:</a:t>
            </a:r>
          </a:p>
        </p:txBody>
      </p:sp>
      <p:pic>
        <p:nvPicPr>
          <p:cNvPr id="18" name="Imagem 17">
            <a:extLst>
              <a:ext uri="{FF2B5EF4-FFF2-40B4-BE49-F238E27FC236}">
                <a16:creationId xmlns:a16="http://schemas.microsoft.com/office/drawing/2014/main" id="{215F679A-6080-1BA2-40A0-3E8143D4B22A}"/>
              </a:ext>
            </a:extLst>
          </p:cNvPr>
          <p:cNvPicPr>
            <a:picLocks noChangeAspect="1"/>
          </p:cNvPicPr>
          <p:nvPr/>
        </p:nvPicPr>
        <p:blipFill>
          <a:blip r:embed="rId3"/>
          <a:srcRect t="45270"/>
          <a:stretch>
            <a:fillRect/>
          </a:stretch>
        </p:blipFill>
        <p:spPr>
          <a:xfrm>
            <a:off x="1169535" y="3291840"/>
            <a:ext cx="9782945" cy="2705934"/>
          </a:xfrm>
          <a:prstGeom prst="rect">
            <a:avLst/>
          </a:prstGeom>
        </p:spPr>
      </p:pic>
    </p:spTree>
    <p:extLst>
      <p:ext uri="{BB962C8B-B14F-4D97-AF65-F5344CB8AC3E}">
        <p14:creationId xmlns:p14="http://schemas.microsoft.com/office/powerpoint/2010/main" val="798735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4466-A442-4F74-CD95-1984B60680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1DD3AC-BD95-2C7B-F720-C6DB65106E2F}"/>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BC98B9FB-C67D-5C05-2A76-579C1B9A61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3" name="Text Box 2">
            <a:extLst>
              <a:ext uri="{FF2B5EF4-FFF2-40B4-BE49-F238E27FC236}">
                <a16:creationId xmlns:a16="http://schemas.microsoft.com/office/drawing/2014/main" id="{E2D8CC76-64D9-4134-402A-81ECE03A951E}"/>
              </a:ext>
            </a:extLst>
          </p:cNvPr>
          <p:cNvSpPr txBox="1">
            <a:spLocks noChangeArrowheads="1"/>
          </p:cNvSpPr>
          <p:nvPr/>
        </p:nvSpPr>
        <p:spPr bwMode="auto">
          <a:xfrm>
            <a:off x="701420" y="1341439"/>
            <a:ext cx="10635173" cy="1387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gn="just">
              <a:buClrTx/>
              <a:buFontTx/>
              <a:buNone/>
            </a:pPr>
            <a:r>
              <a:rPr lang="pt-BR" altLang="pt-BR" sz="2800" dirty="0">
                <a:solidFill>
                  <a:schemeClr val="tx1"/>
                </a:solidFill>
              </a:rPr>
              <a:t>Existe um método para exibir uma caixa de entrada: </a:t>
            </a:r>
            <a:r>
              <a:rPr lang="pt-BR" altLang="pt-BR" sz="2800" i="1" dirty="0" err="1">
                <a:solidFill>
                  <a:schemeClr val="tx1"/>
                </a:solidFill>
              </a:rPr>
              <a:t>showInputDialog</a:t>
            </a:r>
            <a:r>
              <a:rPr lang="pt-BR" altLang="pt-BR" sz="2800" dirty="0">
                <a:solidFill>
                  <a:schemeClr val="tx1"/>
                </a:solidFill>
              </a:rPr>
              <a:t>. Esse método retorna sempre a </a:t>
            </a:r>
            <a:r>
              <a:rPr lang="pt-BR" altLang="pt-BR" sz="2800" dirty="0" err="1">
                <a:solidFill>
                  <a:schemeClr val="tx1"/>
                </a:solidFill>
              </a:rPr>
              <a:t>String</a:t>
            </a:r>
            <a:r>
              <a:rPr lang="pt-BR" altLang="pt-BR" sz="2800" dirty="0">
                <a:solidFill>
                  <a:schemeClr val="tx1"/>
                </a:solidFill>
              </a:rPr>
              <a:t> que foi digitada pelo usuário. Exemplo: </a:t>
            </a:r>
          </a:p>
        </p:txBody>
      </p:sp>
      <p:pic>
        <p:nvPicPr>
          <p:cNvPr id="4" name="Picture 3">
            <a:extLst>
              <a:ext uri="{FF2B5EF4-FFF2-40B4-BE49-F238E27FC236}">
                <a16:creationId xmlns:a16="http://schemas.microsoft.com/office/drawing/2014/main" id="{1A08BE10-29D9-8CF7-3615-36472C84E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70" t="12411" r="46306" b="59145"/>
          <a:stretch>
            <a:fillRect/>
          </a:stretch>
        </p:blipFill>
        <p:spPr bwMode="auto">
          <a:xfrm>
            <a:off x="646110" y="3089942"/>
            <a:ext cx="7993063" cy="3151187"/>
          </a:xfrm>
          <a:prstGeom prst="rect">
            <a:avLst/>
          </a:prstGeom>
          <a:noFill/>
          <a:ln>
            <a:noFill/>
          </a:ln>
          <a:effectLst/>
          <a:extLst>
            <a:ext uri="{909E8E84-426E-40DD-AFC4-6F175D3DCCD1}">
              <a14:hiddenFill xmlns:a14="http://schemas.microsoft.com/office/drawing/2010/main">
                <a:blipFill dpi="0" rotWithShape="0">
                  <a:blip/>
                  <a:srcRect l="1270" t="12411" r="46306" b="59145"/>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18527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6B1A7-1079-63E6-AF43-50AD57658A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34C53A-6181-4D22-C3D5-183704384273}"/>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E94B95AE-56C9-07E9-31DF-FEA4238D4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ext Box 2">
            <a:extLst>
              <a:ext uri="{FF2B5EF4-FFF2-40B4-BE49-F238E27FC236}">
                <a16:creationId xmlns:a16="http://schemas.microsoft.com/office/drawing/2014/main" id="{B482DC25-6E7D-DCCC-9897-6C23837A2A0A}"/>
              </a:ext>
            </a:extLst>
          </p:cNvPr>
          <p:cNvSpPr txBox="1">
            <a:spLocks noChangeArrowheads="1"/>
          </p:cNvSpPr>
          <p:nvPr/>
        </p:nvSpPr>
        <p:spPr bwMode="auto">
          <a:xfrm>
            <a:off x="2809927" y="3308811"/>
            <a:ext cx="2592387"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gn="ctr">
              <a:spcBef>
                <a:spcPts val="1125"/>
              </a:spcBef>
            </a:pPr>
            <a:r>
              <a:rPr lang="pt-BR" altLang="pt-BR">
                <a:solidFill>
                  <a:schemeClr val="tx1"/>
                </a:solidFill>
              </a:rPr>
              <a:t>Windows XP SP2</a:t>
            </a:r>
          </a:p>
        </p:txBody>
      </p:sp>
      <p:sp>
        <p:nvSpPr>
          <p:cNvPr id="6" name="Text Box 3">
            <a:extLst>
              <a:ext uri="{FF2B5EF4-FFF2-40B4-BE49-F238E27FC236}">
                <a16:creationId xmlns:a16="http://schemas.microsoft.com/office/drawing/2014/main" id="{B211A7D2-59DD-1A3B-0C78-D5758977516C}"/>
              </a:ext>
            </a:extLst>
          </p:cNvPr>
          <p:cNvSpPr txBox="1">
            <a:spLocks noChangeArrowheads="1"/>
          </p:cNvSpPr>
          <p:nvPr/>
        </p:nvSpPr>
        <p:spPr bwMode="auto">
          <a:xfrm>
            <a:off x="6659613" y="3359611"/>
            <a:ext cx="2592388"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gn="ctr">
              <a:spcBef>
                <a:spcPts val="1125"/>
              </a:spcBef>
            </a:pPr>
            <a:r>
              <a:rPr lang="pt-BR" altLang="pt-BR">
                <a:solidFill>
                  <a:schemeClr val="tx1"/>
                </a:solidFill>
              </a:rPr>
              <a:t>Windows 98 SE</a:t>
            </a:r>
          </a:p>
        </p:txBody>
      </p:sp>
      <p:pic>
        <p:nvPicPr>
          <p:cNvPr id="8" name="Picture 4">
            <a:extLst>
              <a:ext uri="{FF2B5EF4-FFF2-40B4-BE49-F238E27FC236}">
                <a16:creationId xmlns:a16="http://schemas.microsoft.com/office/drawing/2014/main" id="{9BE1F697-A9D8-7214-06B4-E99AA543C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5914" y="1724486"/>
            <a:ext cx="3744913" cy="1600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5">
            <a:extLst>
              <a:ext uri="{FF2B5EF4-FFF2-40B4-BE49-F238E27FC236}">
                <a16:creationId xmlns:a16="http://schemas.microsoft.com/office/drawing/2014/main" id="{E13A1BB0-6E57-D70B-F83A-357FBD11EC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0788" y="1724487"/>
            <a:ext cx="3887788" cy="15843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6">
            <a:extLst>
              <a:ext uri="{FF2B5EF4-FFF2-40B4-BE49-F238E27FC236}">
                <a16:creationId xmlns:a16="http://schemas.microsoft.com/office/drawing/2014/main" id="{190A0454-FB8D-DB51-3DF6-CCE5E41F03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1389" y="4070811"/>
            <a:ext cx="3527425" cy="15128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6741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fill="hold" nodeType="afterEffect">
                                  <p:stCondLst>
                                    <p:cond delay="1500"/>
                                  </p:stCondLst>
                                  <p:childTnLst>
                                    <p:set>
                                      <p:cBhvr additive="repl">
                                        <p:cTn id="6"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06F91-E29E-6D89-6DE1-27A7EEFDD1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8D3736-08C2-D347-AF67-00CC2D1A9AB6}"/>
              </a:ext>
            </a:extLst>
          </p:cNvPr>
          <p:cNvSpPr>
            <a:spLocks noGrp="1"/>
          </p:cNvSpPr>
          <p:nvPr>
            <p:ph type="title"/>
          </p:nvPr>
        </p:nvSpPr>
        <p:spPr>
          <a:xfrm>
            <a:off x="646110" y="452718"/>
            <a:ext cx="10542999" cy="1400530"/>
          </a:xfrm>
        </p:spPr>
        <p:txBody>
          <a:bodyPr/>
          <a:lstStyle/>
          <a:p>
            <a:r>
              <a:rPr lang="pt-BR" b="1" dirty="0"/>
              <a:t>Diálogos: interagindo com usuário</a:t>
            </a:r>
          </a:p>
        </p:txBody>
      </p:sp>
      <p:pic>
        <p:nvPicPr>
          <p:cNvPr id="7" name="Imagem 6">
            <a:extLst>
              <a:ext uri="{FF2B5EF4-FFF2-40B4-BE49-F238E27FC236}">
                <a16:creationId xmlns:a16="http://schemas.microsoft.com/office/drawing/2014/main" id="{28191699-812F-7FD1-4165-05B5D79D4A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pic>
        <p:nvPicPr>
          <p:cNvPr id="3" name="Picture 2">
            <a:extLst>
              <a:ext uri="{FF2B5EF4-FFF2-40B4-BE49-F238E27FC236}">
                <a16:creationId xmlns:a16="http://schemas.microsoft.com/office/drawing/2014/main" id="{31A76FAF-6603-4929-E420-5D75166CA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1942" b="21661"/>
          <a:stretch>
            <a:fillRect/>
          </a:stretch>
        </p:blipFill>
        <p:spPr bwMode="auto">
          <a:xfrm>
            <a:off x="477427" y="1396206"/>
            <a:ext cx="6418599" cy="4831874"/>
          </a:xfrm>
          <a:prstGeom prst="rect">
            <a:avLst/>
          </a:prstGeom>
          <a:noFill/>
          <a:ln>
            <a:noFill/>
          </a:ln>
          <a:effectLst/>
          <a:extLst>
            <a:ext uri="{909E8E84-426E-40DD-AFC4-6F175D3DCCD1}">
              <a14:hiddenFill xmlns:a14="http://schemas.microsoft.com/office/drawing/2010/main">
                <a:blipFill dpi="0" rotWithShape="0">
                  <a:blip/>
                  <a:srcRect r="21942" b="21661"/>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3">
            <a:extLst>
              <a:ext uri="{FF2B5EF4-FFF2-40B4-BE49-F238E27FC236}">
                <a16:creationId xmlns:a16="http://schemas.microsoft.com/office/drawing/2014/main" id="{8F17A671-BE01-644A-70C0-D8909E1DDB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9290" y="1518813"/>
            <a:ext cx="4065588" cy="4065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8118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fill="hold" nodeType="afterEffect">
                                  <p:stCondLst>
                                    <p:cond delay="1000"/>
                                  </p:stCondLst>
                                  <p:childTnLst>
                                    <p:set>
                                      <p:cBhvr additive="repl">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5DC0-905F-EAA1-88F1-5791CF6083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D37D98-7C25-FC53-6700-3435056F14E0}"/>
              </a:ext>
            </a:extLst>
          </p:cNvPr>
          <p:cNvSpPr>
            <a:spLocks noGrp="1"/>
          </p:cNvSpPr>
          <p:nvPr>
            <p:ph type="title"/>
          </p:nvPr>
        </p:nvSpPr>
        <p:spPr>
          <a:xfrm>
            <a:off x="646110" y="452718"/>
            <a:ext cx="10542999" cy="1400530"/>
          </a:xfrm>
        </p:spPr>
        <p:txBody>
          <a:bodyPr/>
          <a:lstStyle/>
          <a:p>
            <a:r>
              <a:rPr lang="pt-BR" b="1" dirty="0"/>
              <a:t>AWT vs. Swing: </a:t>
            </a:r>
            <a:r>
              <a:rPr lang="pt-BR" sz="3600" b="1" dirty="0"/>
              <a:t>A Evolução da Interface</a:t>
            </a:r>
            <a:endParaRPr lang="pt-BR" b="1" dirty="0"/>
          </a:p>
        </p:txBody>
      </p:sp>
      <p:pic>
        <p:nvPicPr>
          <p:cNvPr id="7" name="Imagem 6">
            <a:extLst>
              <a:ext uri="{FF2B5EF4-FFF2-40B4-BE49-F238E27FC236}">
                <a16:creationId xmlns:a16="http://schemas.microsoft.com/office/drawing/2014/main" id="{F373D52C-573F-5910-6D2B-F17BD0611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CaixaDeTexto 3">
            <a:extLst>
              <a:ext uri="{FF2B5EF4-FFF2-40B4-BE49-F238E27FC236}">
                <a16:creationId xmlns:a16="http://schemas.microsoft.com/office/drawing/2014/main" id="{A44BF6D4-90E8-AEC3-E5BD-C1A91BD82B51}"/>
              </a:ext>
            </a:extLst>
          </p:cNvPr>
          <p:cNvSpPr txBox="1"/>
          <p:nvPr/>
        </p:nvSpPr>
        <p:spPr>
          <a:xfrm>
            <a:off x="646112" y="1460787"/>
            <a:ext cx="10845515" cy="2862322"/>
          </a:xfrm>
          <a:prstGeom prst="rect">
            <a:avLst/>
          </a:prstGeom>
          <a:noFill/>
        </p:spPr>
        <p:txBody>
          <a:bodyPr wrap="square">
            <a:spAutoFit/>
          </a:bodyPr>
          <a:lstStyle/>
          <a:p>
            <a:pPr>
              <a:spcBef>
                <a:spcPts val="1200"/>
              </a:spcBef>
            </a:pPr>
            <a:r>
              <a:rPr lang="pt-BR" sz="3200" b="1" dirty="0"/>
              <a:t>AWT (</a:t>
            </a:r>
            <a:r>
              <a:rPr lang="pt-BR" sz="3200" b="1" i="1" dirty="0"/>
              <a:t>Abstract </a:t>
            </a:r>
            <a:r>
              <a:rPr lang="pt-BR" sz="3200" b="1" i="1" dirty="0" err="1"/>
              <a:t>Window</a:t>
            </a:r>
            <a:r>
              <a:rPr lang="pt-BR" sz="3200" b="1" i="1" dirty="0"/>
              <a:t> Toolkit</a:t>
            </a:r>
            <a:r>
              <a:rPr lang="pt-BR" sz="3200" b="1" dirty="0"/>
              <a:t>):</a:t>
            </a:r>
            <a:endParaRPr lang="pt-BR" sz="3200" dirty="0"/>
          </a:p>
          <a:p>
            <a:pPr marL="914400" lvl="1" indent="-457200">
              <a:spcBef>
                <a:spcPts val="1200"/>
              </a:spcBef>
              <a:buFont typeface="Arial" panose="020B0604020202020204" pitchFamily="34" charset="0"/>
              <a:buChar char="•"/>
            </a:pPr>
            <a:r>
              <a:rPr lang="pt-BR" sz="3200" dirty="0"/>
              <a:t>Primeira geração; utiliza componentes nativos do sistema operacional.</a:t>
            </a:r>
          </a:p>
          <a:p>
            <a:pPr marL="914400" lvl="1" indent="-457200">
              <a:spcBef>
                <a:spcPts val="1200"/>
              </a:spcBef>
              <a:buFont typeface="Arial" panose="020B0604020202020204" pitchFamily="34" charset="0"/>
              <a:buChar char="•"/>
            </a:pPr>
            <a:r>
              <a:rPr lang="pt-BR" sz="3200" dirty="0"/>
              <a:t>Aparência inconsistente entre diferentes plataformas.</a:t>
            </a:r>
          </a:p>
        </p:txBody>
      </p:sp>
      <p:pic>
        <p:nvPicPr>
          <p:cNvPr id="8" name="Picture 1028">
            <a:extLst>
              <a:ext uri="{FF2B5EF4-FFF2-40B4-BE49-F238E27FC236}">
                <a16:creationId xmlns:a16="http://schemas.microsoft.com/office/drawing/2014/main" id="{CB3F6952-86C1-039C-B8BF-71DCFB035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968" y="4460239"/>
            <a:ext cx="3984338" cy="2071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4727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C47F7-AF3B-5EC5-6AE7-6DB0980E7F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3F4280-C4F5-247D-1890-32ACDB8A9087}"/>
              </a:ext>
            </a:extLst>
          </p:cNvPr>
          <p:cNvSpPr>
            <a:spLocks noGrp="1"/>
          </p:cNvSpPr>
          <p:nvPr>
            <p:ph type="title"/>
          </p:nvPr>
        </p:nvSpPr>
        <p:spPr>
          <a:xfrm>
            <a:off x="646110" y="452718"/>
            <a:ext cx="10542999" cy="1400530"/>
          </a:xfrm>
        </p:spPr>
        <p:txBody>
          <a:bodyPr/>
          <a:lstStyle/>
          <a:p>
            <a:r>
              <a:rPr lang="pt-BR" b="1" dirty="0"/>
              <a:t>AWT vs. Swing: </a:t>
            </a:r>
            <a:r>
              <a:rPr lang="pt-BR" sz="3600" b="1" dirty="0"/>
              <a:t>A Evolução da Interface</a:t>
            </a:r>
            <a:endParaRPr lang="pt-BR" b="1" dirty="0"/>
          </a:p>
        </p:txBody>
      </p:sp>
      <p:pic>
        <p:nvPicPr>
          <p:cNvPr id="7" name="Imagem 6">
            <a:extLst>
              <a:ext uri="{FF2B5EF4-FFF2-40B4-BE49-F238E27FC236}">
                <a16:creationId xmlns:a16="http://schemas.microsoft.com/office/drawing/2014/main" id="{14607676-68ED-14A9-3D2F-DD3BD203C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CaixaDeTexto 3">
            <a:extLst>
              <a:ext uri="{FF2B5EF4-FFF2-40B4-BE49-F238E27FC236}">
                <a16:creationId xmlns:a16="http://schemas.microsoft.com/office/drawing/2014/main" id="{5E82B070-7FC0-3F26-D1F5-ACC404F26602}"/>
              </a:ext>
            </a:extLst>
          </p:cNvPr>
          <p:cNvSpPr txBox="1"/>
          <p:nvPr/>
        </p:nvSpPr>
        <p:spPr>
          <a:xfrm>
            <a:off x="646112" y="1460787"/>
            <a:ext cx="10845515" cy="4647426"/>
          </a:xfrm>
          <a:prstGeom prst="rect">
            <a:avLst/>
          </a:prstGeom>
          <a:noFill/>
        </p:spPr>
        <p:txBody>
          <a:bodyPr wrap="square">
            <a:spAutoFit/>
          </a:bodyPr>
          <a:lstStyle/>
          <a:p>
            <a:pPr>
              <a:spcBef>
                <a:spcPts val="1200"/>
              </a:spcBef>
            </a:pPr>
            <a:r>
              <a:rPr lang="pt-BR" sz="3200" b="1" dirty="0"/>
              <a:t>Swing:</a:t>
            </a:r>
            <a:endParaRPr lang="pt-BR" sz="3200" dirty="0"/>
          </a:p>
          <a:p>
            <a:pPr marL="914400" lvl="1" indent="-457200">
              <a:spcBef>
                <a:spcPts val="1200"/>
              </a:spcBef>
              <a:buFont typeface="Arial" panose="020B0604020202020204" pitchFamily="34" charset="0"/>
              <a:buChar char="•"/>
            </a:pPr>
            <a:r>
              <a:rPr lang="pt-BR" sz="3200" dirty="0"/>
              <a:t>Construído sobre o AWT, mas 100% desenhado pelo Java.</a:t>
            </a:r>
          </a:p>
          <a:p>
            <a:pPr marL="914400" lvl="1" indent="-457200">
              <a:spcBef>
                <a:spcPts val="1200"/>
              </a:spcBef>
              <a:buFont typeface="Arial" panose="020B0604020202020204" pitchFamily="34" charset="0"/>
              <a:buChar char="•"/>
            </a:pPr>
            <a:r>
              <a:rPr lang="pt-BR" sz="3200" b="1" dirty="0" err="1"/>
              <a:t>Pluggable</a:t>
            </a:r>
            <a:r>
              <a:rPr lang="pt-BR" sz="3200" b="1" dirty="0"/>
              <a:t> Look </a:t>
            </a:r>
            <a:r>
              <a:rPr lang="pt-BR" sz="3200" b="1" dirty="0" err="1"/>
              <a:t>and</a:t>
            </a:r>
            <a:r>
              <a:rPr lang="pt-BR" sz="3200" b="1" dirty="0"/>
              <a:t> Feel:</a:t>
            </a:r>
            <a:r>
              <a:rPr lang="pt-BR" sz="3200" dirty="0"/>
              <a:t> Mesma aparência em Windows, Linux ou Mac.</a:t>
            </a:r>
          </a:p>
          <a:p>
            <a:pPr marL="914400" lvl="1" indent="-457200">
              <a:spcBef>
                <a:spcPts val="1200"/>
              </a:spcBef>
              <a:buFont typeface="Arial" panose="020B0604020202020204" pitchFamily="34" charset="0"/>
              <a:buChar char="•"/>
            </a:pPr>
            <a:r>
              <a:rPr lang="pt-BR" sz="3200" dirty="0"/>
              <a:t>Componentes mais ricos e flexíveis (prefixo "J", como </a:t>
            </a:r>
            <a:r>
              <a:rPr lang="pt-BR" sz="3200" dirty="0" err="1">
                <a:solidFill>
                  <a:srgbClr val="FFFF00"/>
                </a:solidFill>
              </a:rPr>
              <a:t>JButton</a:t>
            </a:r>
            <a:r>
              <a:rPr lang="pt-BR" sz="3200" dirty="0"/>
              <a:t>).</a:t>
            </a:r>
          </a:p>
          <a:p>
            <a:pPr>
              <a:spcBef>
                <a:spcPts val="1200"/>
              </a:spcBef>
            </a:pPr>
            <a:endParaRPr lang="pt-BR" sz="3200" dirty="0"/>
          </a:p>
        </p:txBody>
      </p:sp>
    </p:spTree>
    <p:extLst>
      <p:ext uri="{BB962C8B-B14F-4D97-AF65-F5344CB8AC3E}">
        <p14:creationId xmlns:p14="http://schemas.microsoft.com/office/powerpoint/2010/main" val="510818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231DF-CFA8-451E-F1A7-FBC626E790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3EB626-3B2B-01C1-F703-8AAF6465674F}"/>
              </a:ext>
            </a:extLst>
          </p:cNvPr>
          <p:cNvSpPr>
            <a:spLocks noGrp="1"/>
          </p:cNvSpPr>
          <p:nvPr>
            <p:ph type="title"/>
          </p:nvPr>
        </p:nvSpPr>
        <p:spPr>
          <a:xfrm>
            <a:off x="646110" y="452718"/>
            <a:ext cx="10542999" cy="1400530"/>
          </a:xfrm>
        </p:spPr>
        <p:txBody>
          <a:bodyPr/>
          <a:lstStyle/>
          <a:p>
            <a:r>
              <a:rPr lang="pt-BR" b="1" dirty="0"/>
              <a:t>AWT vs. Swing: </a:t>
            </a:r>
            <a:r>
              <a:rPr lang="pt-BR" sz="3600" b="1" dirty="0"/>
              <a:t>A Evolução da Interface</a:t>
            </a:r>
            <a:endParaRPr lang="pt-BR" b="1" dirty="0"/>
          </a:p>
        </p:txBody>
      </p:sp>
      <p:pic>
        <p:nvPicPr>
          <p:cNvPr id="7" name="Imagem 6">
            <a:extLst>
              <a:ext uri="{FF2B5EF4-FFF2-40B4-BE49-F238E27FC236}">
                <a16:creationId xmlns:a16="http://schemas.microsoft.com/office/drawing/2014/main" id="{3B6A80EB-7F2D-8316-05FA-1C5F9B8403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3" name="Text Box 1028">
            <a:extLst>
              <a:ext uri="{FF2B5EF4-FFF2-40B4-BE49-F238E27FC236}">
                <a16:creationId xmlns:a16="http://schemas.microsoft.com/office/drawing/2014/main" id="{4BEF35B5-1E36-6CA4-4798-127C6030EBE1}"/>
              </a:ext>
            </a:extLst>
          </p:cNvPr>
          <p:cNvSpPr txBox="1">
            <a:spLocks noChangeArrowheads="1"/>
          </p:cNvSpPr>
          <p:nvPr/>
        </p:nvSpPr>
        <p:spPr bwMode="auto">
          <a:xfrm>
            <a:off x="646110" y="1361769"/>
            <a:ext cx="9327832" cy="193899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square">
            <a:spAutoFit/>
          </a:bodyPr>
          <a:lstStyle/>
          <a:p>
            <a:pPr algn="just">
              <a:spcBef>
                <a:spcPct val="50000"/>
              </a:spcBef>
              <a:defRPr/>
            </a:pPr>
            <a:r>
              <a:rPr lang="pt-BR" sz="2400" dirty="0">
                <a:latin typeface="Arial" charset="0"/>
              </a:rPr>
              <a:t>AWT – </a:t>
            </a:r>
            <a:r>
              <a:rPr lang="pt-BR" sz="2400" i="1" dirty="0">
                <a:latin typeface="Arial" charset="0"/>
              </a:rPr>
              <a:t>Abstract </a:t>
            </a:r>
            <a:r>
              <a:rPr lang="pt-BR" sz="2400" i="1" dirty="0" err="1">
                <a:latin typeface="Arial" charset="0"/>
              </a:rPr>
              <a:t>Window</a:t>
            </a:r>
            <a:r>
              <a:rPr lang="pt-BR" sz="2400" i="1" dirty="0">
                <a:latin typeface="Arial" charset="0"/>
              </a:rPr>
              <a:t> Toolkit</a:t>
            </a:r>
          </a:p>
          <a:p>
            <a:pPr algn="just">
              <a:spcBef>
                <a:spcPct val="50000"/>
              </a:spcBef>
              <a:defRPr/>
            </a:pPr>
            <a:r>
              <a:rPr lang="pt-BR" sz="2400" dirty="0">
                <a:latin typeface="Arial" charset="0"/>
              </a:rPr>
              <a:t>Uma das mais conhecidas bibliotecas de componentes GUI do </a:t>
            </a:r>
            <a:r>
              <a:rPr lang="pt-BR" sz="2400" dirty="0" err="1">
                <a:latin typeface="Arial" charset="0"/>
              </a:rPr>
              <a:t>java</a:t>
            </a:r>
            <a:r>
              <a:rPr lang="pt-BR" sz="2400" dirty="0">
                <a:latin typeface="Arial" charset="0"/>
              </a:rPr>
              <a:t>. Utiliza o padrão gráfico do SO.</a:t>
            </a:r>
          </a:p>
          <a:p>
            <a:pPr algn="just">
              <a:spcBef>
                <a:spcPct val="50000"/>
              </a:spcBef>
              <a:defRPr/>
            </a:pPr>
            <a:r>
              <a:rPr lang="pt-BR" sz="2400" dirty="0" err="1">
                <a:latin typeface="Courier New" pitchFamily="49" charset="0"/>
              </a:rPr>
              <a:t>java</a:t>
            </a:r>
            <a:r>
              <a:rPr lang="pt-BR" sz="2400" dirty="0">
                <a:latin typeface="Courier New" pitchFamily="49" charset="0"/>
              </a:rPr>
              <a:t>.</a:t>
            </a:r>
            <a:r>
              <a:rPr lang="pt-BR" sz="2400" dirty="0" err="1">
                <a:latin typeface="Courier New" pitchFamily="49" charset="0"/>
              </a:rPr>
              <a:t>awt</a:t>
            </a:r>
            <a:endParaRPr lang="pt-BR" sz="2400" dirty="0">
              <a:latin typeface="Courier New" pitchFamily="49" charset="0"/>
            </a:endParaRPr>
          </a:p>
        </p:txBody>
      </p:sp>
      <p:sp>
        <p:nvSpPr>
          <p:cNvPr id="5" name="Text Box 1029">
            <a:extLst>
              <a:ext uri="{FF2B5EF4-FFF2-40B4-BE49-F238E27FC236}">
                <a16:creationId xmlns:a16="http://schemas.microsoft.com/office/drawing/2014/main" id="{33259EA4-B80A-C765-5AFA-6064A68ED523}"/>
              </a:ext>
            </a:extLst>
          </p:cNvPr>
          <p:cNvSpPr txBox="1">
            <a:spLocks noChangeArrowheads="1"/>
          </p:cNvSpPr>
          <p:nvPr/>
        </p:nvSpPr>
        <p:spPr bwMode="auto">
          <a:xfrm>
            <a:off x="1611210" y="3557240"/>
            <a:ext cx="9327832" cy="23083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spcBef>
                <a:spcPct val="50000"/>
              </a:spcBef>
              <a:defRPr/>
            </a:pPr>
            <a:r>
              <a:rPr lang="pt-BR" sz="2400" dirty="0">
                <a:solidFill>
                  <a:schemeClr val="tx1"/>
                </a:solidFill>
                <a:latin typeface="Arial" charset="0"/>
              </a:rPr>
              <a:t>Swing</a:t>
            </a:r>
          </a:p>
          <a:p>
            <a:pPr algn="just">
              <a:spcBef>
                <a:spcPct val="50000"/>
              </a:spcBef>
              <a:defRPr/>
            </a:pPr>
            <a:r>
              <a:rPr lang="pt-BR" sz="2400" dirty="0">
                <a:latin typeface="Arial" charset="0"/>
              </a:rPr>
              <a:t>Permite especificar uniformemente qual a aparência e o comportamento do aplicativo gráfico, independentemente da plataforma do SO.</a:t>
            </a:r>
          </a:p>
          <a:p>
            <a:pPr algn="just">
              <a:spcBef>
                <a:spcPct val="50000"/>
              </a:spcBef>
              <a:defRPr/>
            </a:pPr>
            <a:r>
              <a:rPr lang="pt-BR" sz="2400" dirty="0" err="1">
                <a:latin typeface="Courier New" pitchFamily="49" charset="0"/>
              </a:rPr>
              <a:t>javax</a:t>
            </a:r>
            <a:r>
              <a:rPr lang="pt-BR" sz="2400" dirty="0">
                <a:latin typeface="Courier New" pitchFamily="49" charset="0"/>
              </a:rPr>
              <a:t>.swing</a:t>
            </a:r>
          </a:p>
        </p:txBody>
      </p:sp>
    </p:spTree>
    <p:extLst>
      <p:ext uri="{BB962C8B-B14F-4D97-AF65-F5344CB8AC3E}">
        <p14:creationId xmlns:p14="http://schemas.microsoft.com/office/powerpoint/2010/main" val="18941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5A80-51D0-FA99-7C6B-2F75B570B4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2B02FC-DDFE-84E5-93A7-6244EADD4399}"/>
              </a:ext>
            </a:extLst>
          </p:cNvPr>
          <p:cNvSpPr>
            <a:spLocks noGrp="1"/>
          </p:cNvSpPr>
          <p:nvPr>
            <p:ph type="title"/>
          </p:nvPr>
        </p:nvSpPr>
        <p:spPr>
          <a:xfrm>
            <a:off x="646110" y="452718"/>
            <a:ext cx="10542999" cy="1400530"/>
          </a:xfrm>
        </p:spPr>
        <p:txBody>
          <a:bodyPr/>
          <a:lstStyle/>
          <a:p>
            <a:r>
              <a:rPr lang="pt-BR" b="1" dirty="0"/>
              <a:t>Swing</a:t>
            </a:r>
          </a:p>
        </p:txBody>
      </p:sp>
      <p:pic>
        <p:nvPicPr>
          <p:cNvPr id="7" name="Imagem 6">
            <a:extLst>
              <a:ext uri="{FF2B5EF4-FFF2-40B4-BE49-F238E27FC236}">
                <a16:creationId xmlns:a16="http://schemas.microsoft.com/office/drawing/2014/main" id="{A75E3249-0783-E23C-2B35-460974CE3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Text Box 1027">
            <a:extLst>
              <a:ext uri="{FF2B5EF4-FFF2-40B4-BE49-F238E27FC236}">
                <a16:creationId xmlns:a16="http://schemas.microsoft.com/office/drawing/2014/main" id="{497D4F2B-4A5B-CD69-14F3-861ED1E61FF9}"/>
              </a:ext>
            </a:extLst>
          </p:cNvPr>
          <p:cNvSpPr txBox="1">
            <a:spLocks noChangeArrowheads="1"/>
          </p:cNvSpPr>
          <p:nvPr/>
        </p:nvSpPr>
        <p:spPr bwMode="auto">
          <a:xfrm>
            <a:off x="646110" y="1326655"/>
            <a:ext cx="1072827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pt-BR" altLang="pt-BR" sz="2800" dirty="0"/>
              <a:t>Por meio da biblioteca </a:t>
            </a:r>
            <a:r>
              <a:rPr lang="pt-BR" altLang="pt-BR" sz="2800" dirty="0" err="1">
                <a:latin typeface="Courier New" panose="02070309020205020404" pitchFamily="49" charset="0"/>
              </a:rPr>
              <a:t>javax.swing.UIManager</a:t>
            </a:r>
            <a:r>
              <a:rPr lang="pt-BR" altLang="pt-BR" sz="2800" dirty="0">
                <a:latin typeface="Courier New" panose="02070309020205020404" pitchFamily="49" charset="0"/>
              </a:rPr>
              <a:t> </a:t>
            </a:r>
            <a:r>
              <a:rPr lang="pt-BR" altLang="pt-BR" sz="2800" dirty="0"/>
              <a:t>pode se modificar a aparência gráfica da aplicação.</a:t>
            </a:r>
          </a:p>
        </p:txBody>
      </p:sp>
      <p:pic>
        <p:nvPicPr>
          <p:cNvPr id="6" name="Picture 1028">
            <a:extLst>
              <a:ext uri="{FF2B5EF4-FFF2-40B4-BE49-F238E27FC236}">
                <a16:creationId xmlns:a16="http://schemas.microsoft.com/office/drawing/2014/main" id="{17E15141-A7C5-B928-C243-80DF5FAA1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958" y="2799417"/>
            <a:ext cx="3453620" cy="2302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29">
            <a:extLst>
              <a:ext uri="{FF2B5EF4-FFF2-40B4-BE49-F238E27FC236}">
                <a16:creationId xmlns:a16="http://schemas.microsoft.com/office/drawing/2014/main" id="{9FFAA22D-7836-2AC2-3A59-408AA8256A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718" y="2799417"/>
            <a:ext cx="3453621" cy="2302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30">
            <a:extLst>
              <a:ext uri="{FF2B5EF4-FFF2-40B4-BE49-F238E27FC236}">
                <a16:creationId xmlns:a16="http://schemas.microsoft.com/office/drawing/2014/main" id="{43DB5D49-5D4B-D45A-F144-FDA47358EB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0821" y="2798947"/>
            <a:ext cx="3453621" cy="230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131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DA960-973E-A754-AA5D-9FB3B22858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613980-5D2B-CE87-1879-499AD6440829}"/>
              </a:ext>
            </a:extLst>
          </p:cNvPr>
          <p:cNvSpPr>
            <a:spLocks noGrp="1"/>
          </p:cNvSpPr>
          <p:nvPr>
            <p:ph type="title"/>
          </p:nvPr>
        </p:nvSpPr>
        <p:spPr>
          <a:xfrm>
            <a:off x="646110" y="452718"/>
            <a:ext cx="10542999" cy="1400530"/>
          </a:xfrm>
        </p:spPr>
        <p:txBody>
          <a:bodyPr/>
          <a:lstStyle/>
          <a:p>
            <a:r>
              <a:rPr lang="pt-BR" b="1" dirty="0"/>
              <a:t>Componentes Elementares</a:t>
            </a:r>
          </a:p>
        </p:txBody>
      </p:sp>
      <p:pic>
        <p:nvPicPr>
          <p:cNvPr id="7" name="Imagem 6">
            <a:extLst>
              <a:ext uri="{FF2B5EF4-FFF2-40B4-BE49-F238E27FC236}">
                <a16:creationId xmlns:a16="http://schemas.microsoft.com/office/drawing/2014/main" id="{86142C0A-1D6B-0B2C-BC77-497E4AA55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4" name="CaixaDeTexto 3">
            <a:extLst>
              <a:ext uri="{FF2B5EF4-FFF2-40B4-BE49-F238E27FC236}">
                <a16:creationId xmlns:a16="http://schemas.microsoft.com/office/drawing/2014/main" id="{8DE907AC-05BA-CF0F-AA60-6E38D26D29F9}"/>
              </a:ext>
            </a:extLst>
          </p:cNvPr>
          <p:cNvSpPr txBox="1"/>
          <p:nvPr/>
        </p:nvSpPr>
        <p:spPr>
          <a:xfrm>
            <a:off x="646112" y="1460787"/>
            <a:ext cx="10845515" cy="4955203"/>
          </a:xfrm>
          <a:prstGeom prst="rect">
            <a:avLst/>
          </a:prstGeom>
          <a:noFill/>
        </p:spPr>
        <p:txBody>
          <a:bodyPr wrap="square">
            <a:spAutoFit/>
          </a:bodyPr>
          <a:lstStyle/>
          <a:p>
            <a:pPr>
              <a:spcBef>
                <a:spcPts val="1200"/>
              </a:spcBef>
            </a:pPr>
            <a:r>
              <a:rPr lang="pt-BR" sz="3200" dirty="0"/>
              <a:t>Para montar uma tela, combinamos elementos do pacote </a:t>
            </a:r>
            <a:r>
              <a:rPr lang="pt-BR" sz="3200" dirty="0" err="1">
                <a:solidFill>
                  <a:srgbClr val="FFFF00"/>
                </a:solidFill>
              </a:rPr>
              <a:t>javax.swing</a:t>
            </a:r>
            <a:r>
              <a:rPr lang="pt-BR" sz="3200" dirty="0"/>
              <a:t>:</a:t>
            </a:r>
          </a:p>
          <a:p>
            <a:pPr marL="914400" lvl="1" indent="-457200">
              <a:spcBef>
                <a:spcPts val="1200"/>
              </a:spcBef>
              <a:buFont typeface="Arial" panose="020B0604020202020204" pitchFamily="34" charset="0"/>
              <a:buChar char="•"/>
            </a:pPr>
            <a:r>
              <a:rPr lang="pt-BR" sz="3200" b="1" dirty="0" err="1"/>
              <a:t>JFrame</a:t>
            </a:r>
            <a:r>
              <a:rPr lang="pt-BR" sz="3200" b="1" dirty="0"/>
              <a:t>:</a:t>
            </a:r>
            <a:r>
              <a:rPr lang="pt-BR" sz="3200" dirty="0"/>
              <a:t> A janela principal (o container raiz).</a:t>
            </a:r>
          </a:p>
          <a:p>
            <a:pPr marL="914400" lvl="1" indent="-457200">
              <a:spcBef>
                <a:spcPts val="1200"/>
              </a:spcBef>
              <a:buFont typeface="Arial" panose="020B0604020202020204" pitchFamily="34" charset="0"/>
              <a:buChar char="•"/>
            </a:pPr>
            <a:r>
              <a:rPr lang="pt-BR" sz="3200" b="1" dirty="0" err="1"/>
              <a:t>JLabel</a:t>
            </a:r>
            <a:r>
              <a:rPr lang="pt-BR" sz="3200" b="1" dirty="0"/>
              <a:t>:</a:t>
            </a:r>
            <a:r>
              <a:rPr lang="pt-BR" sz="3200" dirty="0"/>
              <a:t> Exibição de textos fixos ou ícones.</a:t>
            </a:r>
          </a:p>
          <a:p>
            <a:pPr marL="914400" lvl="1" indent="-457200">
              <a:spcBef>
                <a:spcPts val="1200"/>
              </a:spcBef>
              <a:buFont typeface="Arial" panose="020B0604020202020204" pitchFamily="34" charset="0"/>
              <a:buChar char="•"/>
            </a:pPr>
            <a:r>
              <a:rPr lang="pt-BR" sz="3200" b="1" dirty="0" err="1"/>
              <a:t>JTextField</a:t>
            </a:r>
            <a:r>
              <a:rPr lang="pt-BR" sz="3200" b="1" dirty="0"/>
              <a:t>:</a:t>
            </a:r>
            <a:r>
              <a:rPr lang="pt-BR" sz="3200" dirty="0"/>
              <a:t> Entrada de dados em linha única.</a:t>
            </a:r>
          </a:p>
          <a:p>
            <a:pPr marL="914400" lvl="1" indent="-457200">
              <a:spcBef>
                <a:spcPts val="1200"/>
              </a:spcBef>
              <a:buFont typeface="Arial" panose="020B0604020202020204" pitchFamily="34" charset="0"/>
              <a:buChar char="•"/>
            </a:pPr>
            <a:r>
              <a:rPr lang="pt-BR" sz="3200" b="1" dirty="0" err="1"/>
              <a:t>JButton</a:t>
            </a:r>
            <a:r>
              <a:rPr lang="pt-BR" sz="3200" b="1" dirty="0"/>
              <a:t>:</a:t>
            </a:r>
            <a:r>
              <a:rPr lang="pt-BR" sz="3200" dirty="0"/>
              <a:t> O acionador de eventos do sistema.</a:t>
            </a:r>
          </a:p>
          <a:p>
            <a:pPr marL="914400" lvl="1" indent="-457200">
              <a:spcBef>
                <a:spcPts val="1200"/>
              </a:spcBef>
              <a:buFont typeface="Arial" panose="020B0604020202020204" pitchFamily="34" charset="0"/>
              <a:buChar char="•"/>
            </a:pPr>
            <a:r>
              <a:rPr lang="pt-BR" sz="3200" b="1" dirty="0" err="1"/>
              <a:t>JTextArea</a:t>
            </a:r>
            <a:r>
              <a:rPr lang="pt-BR" sz="3200" b="1" dirty="0"/>
              <a:t>:</a:t>
            </a:r>
            <a:r>
              <a:rPr lang="pt-BR" sz="3200" dirty="0"/>
              <a:t> Para múltiplas linhas de texto.</a:t>
            </a:r>
          </a:p>
          <a:p>
            <a:pPr>
              <a:spcBef>
                <a:spcPts val="1200"/>
              </a:spcBef>
            </a:pPr>
            <a:endParaRPr lang="pt-BR" sz="3200" dirty="0"/>
          </a:p>
        </p:txBody>
      </p:sp>
    </p:spTree>
    <p:extLst>
      <p:ext uri="{BB962C8B-B14F-4D97-AF65-F5344CB8AC3E}">
        <p14:creationId xmlns:p14="http://schemas.microsoft.com/office/powerpoint/2010/main" val="3556618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5EE0D-2873-B440-C231-DF7383D316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6931FD-B5E1-D746-69EA-9D367A139356}"/>
              </a:ext>
            </a:extLst>
          </p:cNvPr>
          <p:cNvSpPr>
            <a:spLocks noGrp="1"/>
          </p:cNvSpPr>
          <p:nvPr>
            <p:ph type="title"/>
          </p:nvPr>
        </p:nvSpPr>
        <p:spPr>
          <a:xfrm>
            <a:off x="646110" y="452718"/>
            <a:ext cx="10542999" cy="1400530"/>
          </a:xfrm>
        </p:spPr>
        <p:txBody>
          <a:bodyPr/>
          <a:lstStyle/>
          <a:p>
            <a:r>
              <a:rPr lang="pt-BR" b="1" dirty="0"/>
              <a:t>Layout - Gerenciamento</a:t>
            </a:r>
          </a:p>
        </p:txBody>
      </p:sp>
      <p:pic>
        <p:nvPicPr>
          <p:cNvPr id="7" name="Imagem 6">
            <a:extLst>
              <a:ext uri="{FF2B5EF4-FFF2-40B4-BE49-F238E27FC236}">
                <a16:creationId xmlns:a16="http://schemas.microsoft.com/office/drawing/2014/main" id="{85CB9F10-5E73-CE17-2F2B-16FF47F29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CaixaDeTexto 4">
            <a:extLst>
              <a:ext uri="{FF2B5EF4-FFF2-40B4-BE49-F238E27FC236}">
                <a16:creationId xmlns:a16="http://schemas.microsoft.com/office/drawing/2014/main" id="{FD437EAC-BC7C-A893-434C-2AC446776DFA}"/>
              </a:ext>
            </a:extLst>
          </p:cNvPr>
          <p:cNvSpPr txBox="1"/>
          <p:nvPr/>
        </p:nvSpPr>
        <p:spPr>
          <a:xfrm>
            <a:off x="646110" y="1485386"/>
            <a:ext cx="10641322" cy="4154984"/>
          </a:xfrm>
          <a:prstGeom prst="rect">
            <a:avLst/>
          </a:prstGeom>
          <a:noFill/>
        </p:spPr>
        <p:txBody>
          <a:bodyPr wrap="square">
            <a:spAutoFit/>
          </a:bodyPr>
          <a:lstStyle/>
          <a:p>
            <a:pPr algn="just">
              <a:spcBef>
                <a:spcPts val="1200"/>
              </a:spcBef>
              <a:buNone/>
            </a:pPr>
            <a:r>
              <a:rPr lang="pt-BR" sz="2800" b="1" dirty="0">
                <a:solidFill>
                  <a:srgbClr val="FFFF00"/>
                </a:solidFill>
              </a:rPr>
              <a:t>Java não recomenda o uso de posições fixas (X, Y) </a:t>
            </a:r>
            <a:r>
              <a:rPr lang="pt-BR" sz="2800" dirty="0"/>
              <a:t>para evitar que a tela quebre ao ser redimensionada.</a:t>
            </a:r>
          </a:p>
          <a:p>
            <a:pPr algn="just">
              <a:spcBef>
                <a:spcPts val="1200"/>
              </a:spcBef>
              <a:buFont typeface="Arial" panose="020B0604020202020204" pitchFamily="34" charset="0"/>
              <a:buChar char="•"/>
            </a:pPr>
            <a:r>
              <a:rPr lang="pt-BR" sz="2800" b="1" dirty="0"/>
              <a:t> </a:t>
            </a:r>
            <a:r>
              <a:rPr lang="pt-BR" sz="2800" b="1" dirty="0" err="1"/>
              <a:t>FlowLayout</a:t>
            </a:r>
            <a:r>
              <a:rPr lang="pt-BR" sz="2800" b="1" dirty="0"/>
              <a:t>:</a:t>
            </a:r>
            <a:r>
              <a:rPr lang="pt-BR" sz="2800" dirty="0"/>
              <a:t> Organiza em linha (padrão para </a:t>
            </a:r>
            <a:r>
              <a:rPr lang="pt-BR" sz="2800" dirty="0" err="1"/>
              <a:t>JPanels</a:t>
            </a:r>
            <a:r>
              <a:rPr lang="pt-BR" sz="2800" dirty="0"/>
              <a:t>).</a:t>
            </a:r>
          </a:p>
          <a:p>
            <a:pPr algn="just">
              <a:spcBef>
                <a:spcPts val="1200"/>
              </a:spcBef>
              <a:buFont typeface="Arial" panose="020B0604020202020204" pitchFamily="34" charset="0"/>
              <a:buChar char="•"/>
            </a:pPr>
            <a:r>
              <a:rPr lang="pt-BR" sz="2800" b="1" dirty="0"/>
              <a:t> </a:t>
            </a:r>
            <a:r>
              <a:rPr lang="pt-BR" sz="2800" b="1" dirty="0" err="1"/>
              <a:t>BorderLayout</a:t>
            </a:r>
            <a:r>
              <a:rPr lang="pt-BR" sz="2800" b="1" dirty="0"/>
              <a:t>:</a:t>
            </a:r>
            <a:r>
              <a:rPr lang="pt-BR" sz="2800" dirty="0"/>
              <a:t> Divide em 5 zonas: Norte, Sul, Leste, Oeste e Centro.</a:t>
            </a:r>
          </a:p>
          <a:p>
            <a:pPr algn="just">
              <a:spcBef>
                <a:spcPts val="1200"/>
              </a:spcBef>
              <a:buFont typeface="Arial" panose="020B0604020202020204" pitchFamily="34" charset="0"/>
              <a:buChar char="•"/>
            </a:pPr>
            <a:r>
              <a:rPr lang="pt-BR" sz="2800" b="1" dirty="0"/>
              <a:t> </a:t>
            </a:r>
            <a:r>
              <a:rPr lang="pt-BR" sz="2800" b="1" dirty="0" err="1"/>
              <a:t>GridLayout</a:t>
            </a:r>
            <a:r>
              <a:rPr lang="pt-BR" sz="2800" b="1" dirty="0"/>
              <a:t>:</a:t>
            </a:r>
            <a:r>
              <a:rPr lang="pt-BR" sz="2800" dirty="0"/>
              <a:t> Grade uniforme (</a:t>
            </a:r>
            <a:r>
              <a:rPr lang="pt-BR" sz="2800" dirty="0" err="1"/>
              <a:t>ex</a:t>
            </a:r>
            <a:r>
              <a:rPr lang="pt-BR" sz="2800" dirty="0"/>
              <a:t>: teclado de calculadora).</a:t>
            </a:r>
          </a:p>
          <a:p>
            <a:pPr algn="just">
              <a:spcBef>
                <a:spcPts val="1200"/>
              </a:spcBef>
              <a:buFont typeface="Arial" panose="020B0604020202020204" pitchFamily="34" charset="0"/>
              <a:buChar char="•"/>
            </a:pPr>
            <a:r>
              <a:rPr lang="pt-BR" sz="2800" b="1" dirty="0"/>
              <a:t> </a:t>
            </a:r>
            <a:r>
              <a:rPr lang="pt-BR" sz="2800" b="1" dirty="0" err="1"/>
              <a:t>GridBagLayout</a:t>
            </a:r>
            <a:r>
              <a:rPr lang="pt-BR" sz="2800" b="1" dirty="0"/>
              <a:t>:</a:t>
            </a:r>
            <a:r>
              <a:rPr lang="pt-BR" sz="2800" dirty="0"/>
              <a:t> O mais flexível, permitindo alinhar componentes em colunas e linhas dinâmicas.</a:t>
            </a:r>
          </a:p>
        </p:txBody>
      </p:sp>
    </p:spTree>
    <p:extLst>
      <p:ext uri="{BB962C8B-B14F-4D97-AF65-F5344CB8AC3E}">
        <p14:creationId xmlns:p14="http://schemas.microsoft.com/office/powerpoint/2010/main" val="3467037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a:extLst>
              <a:ext uri="{FF2B5EF4-FFF2-40B4-BE49-F238E27FC236}">
                <a16:creationId xmlns:a16="http://schemas.microsoft.com/office/drawing/2014/main" id="{0200911E-7369-8E45-445E-171CC2424AED}"/>
              </a:ext>
            </a:extLst>
          </p:cNvPr>
          <p:cNvSpPr txBox="1">
            <a:spLocks noChangeArrowheads="1"/>
          </p:cNvSpPr>
          <p:nvPr/>
        </p:nvSpPr>
        <p:spPr bwMode="auto">
          <a:xfrm>
            <a:off x="646110" y="1237228"/>
            <a:ext cx="10542999"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pt-BR" altLang="pt-BR" sz="2800" dirty="0"/>
              <a:t>O componente </a:t>
            </a:r>
            <a:r>
              <a:rPr lang="pt-BR" altLang="pt-BR" sz="2800" dirty="0" err="1"/>
              <a:t>java.awt.Panel</a:t>
            </a:r>
            <a:r>
              <a:rPr lang="pt-BR" altLang="pt-BR" sz="2800" dirty="0"/>
              <a:t> ou Painel é um componente tipo </a:t>
            </a:r>
            <a:r>
              <a:rPr lang="pt-BR" altLang="pt-BR" sz="2800" i="1" dirty="0"/>
              <a:t>container</a:t>
            </a:r>
            <a:r>
              <a:rPr lang="pt-BR" altLang="pt-BR" sz="2800" dirty="0"/>
              <a:t>, ou seja, é um componente que permite dispor outros componentes inclusive outro painéis, oferecendo grande versatilidade na disposição de elementos na interface da aplicação.</a:t>
            </a:r>
            <a:endParaRPr lang="pt-BR" altLang="pt-BR" sz="2800" i="1" dirty="0"/>
          </a:p>
        </p:txBody>
      </p:sp>
      <p:pic>
        <p:nvPicPr>
          <p:cNvPr id="10244" name="Picture 4">
            <a:extLst>
              <a:ext uri="{FF2B5EF4-FFF2-40B4-BE49-F238E27FC236}">
                <a16:creationId xmlns:a16="http://schemas.microsoft.com/office/drawing/2014/main" id="{E842675E-D60F-71BB-5011-48E1BFC56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151" y="3377639"/>
            <a:ext cx="5472113"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a:extLst>
              <a:ext uri="{FF2B5EF4-FFF2-40B4-BE49-F238E27FC236}">
                <a16:creationId xmlns:a16="http://schemas.microsoft.com/office/drawing/2014/main" id="{23E6A57B-1D5F-6F73-5292-BCB5D2DC1287}"/>
              </a:ext>
            </a:extLst>
          </p:cNvPr>
          <p:cNvGrpSpPr>
            <a:grpSpLocks/>
          </p:cNvGrpSpPr>
          <p:nvPr/>
        </p:nvGrpSpPr>
        <p:grpSpPr bwMode="auto">
          <a:xfrm>
            <a:off x="3144838" y="6112901"/>
            <a:ext cx="5330826" cy="369888"/>
            <a:chOff x="1021" y="3702"/>
            <a:chExt cx="3358" cy="233"/>
          </a:xfrm>
        </p:grpSpPr>
        <p:sp>
          <p:nvSpPr>
            <p:cNvPr id="10261" name="Oval 6">
              <a:extLst>
                <a:ext uri="{FF2B5EF4-FFF2-40B4-BE49-F238E27FC236}">
                  <a16:creationId xmlns:a16="http://schemas.microsoft.com/office/drawing/2014/main" id="{2C6635BB-BBA4-FB7B-F430-A27091A54ADE}"/>
                </a:ext>
              </a:extLst>
            </p:cNvPr>
            <p:cNvSpPr>
              <a:spLocks noChangeArrowheads="1"/>
            </p:cNvSpPr>
            <p:nvPr/>
          </p:nvSpPr>
          <p:spPr bwMode="auto">
            <a:xfrm>
              <a:off x="1021" y="3723"/>
              <a:ext cx="181" cy="182"/>
            </a:xfrm>
            <a:prstGeom prst="ellipse">
              <a:avLst/>
            </a:prstGeom>
            <a:solidFill>
              <a:srgbClr val="33CC33"/>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a:t>3</a:t>
              </a:r>
            </a:p>
          </p:txBody>
        </p:sp>
        <p:sp>
          <p:nvSpPr>
            <p:cNvPr id="10262" name="Rectangle 7">
              <a:extLst>
                <a:ext uri="{FF2B5EF4-FFF2-40B4-BE49-F238E27FC236}">
                  <a16:creationId xmlns:a16="http://schemas.microsoft.com/office/drawing/2014/main" id="{88DDC9D5-E8FB-B03F-A97F-C48C0C510F7E}"/>
                </a:ext>
              </a:extLst>
            </p:cNvPr>
            <p:cNvSpPr>
              <a:spLocks noChangeArrowheads="1"/>
            </p:cNvSpPr>
            <p:nvPr/>
          </p:nvSpPr>
          <p:spPr bwMode="auto">
            <a:xfrm>
              <a:off x="1282" y="3702"/>
              <a:ext cx="30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t-BR" altLang="pt-BR"/>
                <a:t>Panel com alinhamento BorderLayout.SOUTH</a:t>
              </a:r>
            </a:p>
          </p:txBody>
        </p:sp>
      </p:grpSp>
      <p:grpSp>
        <p:nvGrpSpPr>
          <p:cNvPr id="3" name="Group 8">
            <a:extLst>
              <a:ext uri="{FF2B5EF4-FFF2-40B4-BE49-F238E27FC236}">
                <a16:creationId xmlns:a16="http://schemas.microsoft.com/office/drawing/2014/main" id="{B1986CDA-4769-91A5-86FD-8A9F114B8BB6}"/>
              </a:ext>
            </a:extLst>
          </p:cNvPr>
          <p:cNvGrpSpPr>
            <a:grpSpLocks/>
          </p:cNvGrpSpPr>
          <p:nvPr/>
        </p:nvGrpSpPr>
        <p:grpSpPr bwMode="auto">
          <a:xfrm>
            <a:off x="3143251" y="5681101"/>
            <a:ext cx="5143501" cy="369888"/>
            <a:chOff x="1020" y="3430"/>
            <a:chExt cx="3240" cy="233"/>
          </a:xfrm>
        </p:grpSpPr>
        <p:sp>
          <p:nvSpPr>
            <p:cNvPr id="10259" name="Oval 9">
              <a:extLst>
                <a:ext uri="{FF2B5EF4-FFF2-40B4-BE49-F238E27FC236}">
                  <a16:creationId xmlns:a16="http://schemas.microsoft.com/office/drawing/2014/main" id="{1911BFCF-5DB1-DEB1-CD0A-299DBC5C1485}"/>
                </a:ext>
              </a:extLst>
            </p:cNvPr>
            <p:cNvSpPr>
              <a:spLocks noChangeArrowheads="1"/>
            </p:cNvSpPr>
            <p:nvPr/>
          </p:nvSpPr>
          <p:spPr bwMode="auto">
            <a:xfrm>
              <a:off x="1020" y="3451"/>
              <a:ext cx="181" cy="182"/>
            </a:xfrm>
            <a:prstGeom prst="ellipse">
              <a:avLst/>
            </a:prstGeom>
            <a:solidFill>
              <a:srgbClr val="009EDE"/>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a:t>2</a:t>
              </a:r>
            </a:p>
          </p:txBody>
        </p:sp>
        <p:sp>
          <p:nvSpPr>
            <p:cNvPr id="10260" name="Rectangle 10">
              <a:extLst>
                <a:ext uri="{FF2B5EF4-FFF2-40B4-BE49-F238E27FC236}">
                  <a16:creationId xmlns:a16="http://schemas.microsoft.com/office/drawing/2014/main" id="{28187F81-682A-8DF6-536A-3129704F6482}"/>
                </a:ext>
              </a:extLst>
            </p:cNvPr>
            <p:cNvSpPr>
              <a:spLocks noChangeArrowheads="1"/>
            </p:cNvSpPr>
            <p:nvPr/>
          </p:nvSpPr>
          <p:spPr bwMode="auto">
            <a:xfrm>
              <a:off x="1292" y="3430"/>
              <a:ext cx="29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t-BR" altLang="pt-BR"/>
                <a:t>Panel com alinhamento BorderLayout.EAST</a:t>
              </a:r>
            </a:p>
          </p:txBody>
        </p:sp>
      </p:grpSp>
      <p:grpSp>
        <p:nvGrpSpPr>
          <p:cNvPr id="4" name="Group 11">
            <a:extLst>
              <a:ext uri="{FF2B5EF4-FFF2-40B4-BE49-F238E27FC236}">
                <a16:creationId xmlns:a16="http://schemas.microsoft.com/office/drawing/2014/main" id="{BEB15502-7D76-EED5-987A-C29FBDD8AD0A}"/>
              </a:ext>
            </a:extLst>
          </p:cNvPr>
          <p:cNvGrpSpPr>
            <a:grpSpLocks/>
          </p:cNvGrpSpPr>
          <p:nvPr/>
        </p:nvGrpSpPr>
        <p:grpSpPr bwMode="auto">
          <a:xfrm>
            <a:off x="3143250" y="5249301"/>
            <a:ext cx="5489575" cy="369888"/>
            <a:chOff x="1020" y="3158"/>
            <a:chExt cx="3458" cy="233"/>
          </a:xfrm>
        </p:grpSpPr>
        <p:sp>
          <p:nvSpPr>
            <p:cNvPr id="10257" name="Oval 12">
              <a:extLst>
                <a:ext uri="{FF2B5EF4-FFF2-40B4-BE49-F238E27FC236}">
                  <a16:creationId xmlns:a16="http://schemas.microsoft.com/office/drawing/2014/main" id="{09F4040E-399F-3337-1F6D-EC6731173EB4}"/>
                </a:ext>
              </a:extLst>
            </p:cNvPr>
            <p:cNvSpPr>
              <a:spLocks noChangeArrowheads="1"/>
            </p:cNvSpPr>
            <p:nvPr/>
          </p:nvSpPr>
          <p:spPr bwMode="auto">
            <a:xfrm>
              <a:off x="1020" y="3179"/>
              <a:ext cx="181" cy="182"/>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a:t>1</a:t>
              </a:r>
            </a:p>
          </p:txBody>
        </p:sp>
        <p:sp>
          <p:nvSpPr>
            <p:cNvPr id="10258" name="Rectangle 13">
              <a:extLst>
                <a:ext uri="{FF2B5EF4-FFF2-40B4-BE49-F238E27FC236}">
                  <a16:creationId xmlns:a16="http://schemas.microsoft.com/office/drawing/2014/main" id="{6185E6C3-1520-A8E4-5DD2-C43C9317CA8A}"/>
                </a:ext>
              </a:extLst>
            </p:cNvPr>
            <p:cNvSpPr>
              <a:spLocks noChangeArrowheads="1"/>
            </p:cNvSpPr>
            <p:nvPr/>
          </p:nvSpPr>
          <p:spPr bwMode="auto">
            <a:xfrm>
              <a:off x="1292" y="3158"/>
              <a:ext cx="31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t-BR" altLang="pt-BR"/>
                <a:t>Panel com alinhamento BorderLayout.CENTER</a:t>
              </a:r>
            </a:p>
          </p:txBody>
        </p:sp>
      </p:grpSp>
      <p:grpSp>
        <p:nvGrpSpPr>
          <p:cNvPr id="5" name="Group 14">
            <a:extLst>
              <a:ext uri="{FF2B5EF4-FFF2-40B4-BE49-F238E27FC236}">
                <a16:creationId xmlns:a16="http://schemas.microsoft.com/office/drawing/2014/main" id="{B7634BE6-AE6C-9E08-F58F-A39C0D69944E}"/>
              </a:ext>
            </a:extLst>
          </p:cNvPr>
          <p:cNvGrpSpPr>
            <a:grpSpLocks/>
          </p:cNvGrpSpPr>
          <p:nvPr/>
        </p:nvGrpSpPr>
        <p:grpSpPr bwMode="auto">
          <a:xfrm>
            <a:off x="3435351" y="3690375"/>
            <a:ext cx="4570413" cy="936625"/>
            <a:chOff x="1204" y="2176"/>
            <a:chExt cx="2879" cy="590"/>
          </a:xfrm>
        </p:grpSpPr>
        <p:sp>
          <p:nvSpPr>
            <p:cNvPr id="10255" name="Rectangle 15">
              <a:extLst>
                <a:ext uri="{FF2B5EF4-FFF2-40B4-BE49-F238E27FC236}">
                  <a16:creationId xmlns:a16="http://schemas.microsoft.com/office/drawing/2014/main" id="{F39AE304-3B93-A20D-3998-C8A38618D802}"/>
                </a:ext>
              </a:extLst>
            </p:cNvPr>
            <p:cNvSpPr>
              <a:spLocks noChangeArrowheads="1"/>
            </p:cNvSpPr>
            <p:nvPr/>
          </p:nvSpPr>
          <p:spPr bwMode="auto">
            <a:xfrm>
              <a:off x="1204" y="2176"/>
              <a:ext cx="2879" cy="590"/>
            </a:xfrm>
            <a:prstGeom prst="rect">
              <a:avLst/>
            </a:prstGeom>
            <a:solidFill>
              <a:schemeClr val="accent1">
                <a:alpha val="23137"/>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pt-BR" altLang="pt-BR"/>
            </a:p>
          </p:txBody>
        </p:sp>
        <p:sp>
          <p:nvSpPr>
            <p:cNvPr id="10256" name="Oval 16">
              <a:extLst>
                <a:ext uri="{FF2B5EF4-FFF2-40B4-BE49-F238E27FC236}">
                  <a16:creationId xmlns:a16="http://schemas.microsoft.com/office/drawing/2014/main" id="{0E48E253-AD09-8437-654B-0608BC229010}"/>
                </a:ext>
              </a:extLst>
            </p:cNvPr>
            <p:cNvSpPr>
              <a:spLocks noChangeArrowheads="1"/>
            </p:cNvSpPr>
            <p:nvPr/>
          </p:nvSpPr>
          <p:spPr bwMode="auto">
            <a:xfrm>
              <a:off x="2608" y="2478"/>
              <a:ext cx="181" cy="182"/>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a:t>1</a:t>
              </a:r>
            </a:p>
          </p:txBody>
        </p:sp>
      </p:grpSp>
      <p:grpSp>
        <p:nvGrpSpPr>
          <p:cNvPr id="6" name="Group 17">
            <a:extLst>
              <a:ext uri="{FF2B5EF4-FFF2-40B4-BE49-F238E27FC236}">
                <a16:creationId xmlns:a16="http://schemas.microsoft.com/office/drawing/2014/main" id="{731C055E-78A3-33EF-15CE-E828CAB95EAC}"/>
              </a:ext>
            </a:extLst>
          </p:cNvPr>
          <p:cNvGrpSpPr>
            <a:grpSpLocks/>
          </p:cNvGrpSpPr>
          <p:nvPr/>
        </p:nvGrpSpPr>
        <p:grpSpPr bwMode="auto">
          <a:xfrm>
            <a:off x="7989888" y="3690375"/>
            <a:ext cx="792162" cy="936625"/>
            <a:chOff x="4073" y="2176"/>
            <a:chExt cx="499" cy="590"/>
          </a:xfrm>
        </p:grpSpPr>
        <p:sp>
          <p:nvSpPr>
            <p:cNvPr id="10253" name="Rectangle 18">
              <a:extLst>
                <a:ext uri="{FF2B5EF4-FFF2-40B4-BE49-F238E27FC236}">
                  <a16:creationId xmlns:a16="http://schemas.microsoft.com/office/drawing/2014/main" id="{C8C13B63-A3A0-79C9-1B19-6923DB23B7F1}"/>
                </a:ext>
              </a:extLst>
            </p:cNvPr>
            <p:cNvSpPr>
              <a:spLocks noChangeArrowheads="1"/>
            </p:cNvSpPr>
            <p:nvPr/>
          </p:nvSpPr>
          <p:spPr bwMode="auto">
            <a:xfrm>
              <a:off x="4073" y="2176"/>
              <a:ext cx="499" cy="590"/>
            </a:xfrm>
            <a:prstGeom prst="rect">
              <a:avLst/>
            </a:prstGeom>
            <a:solidFill>
              <a:srgbClr val="FFFF99">
                <a:alpha val="25098"/>
              </a:srgb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pt-BR" altLang="pt-BR"/>
            </a:p>
          </p:txBody>
        </p:sp>
        <p:sp>
          <p:nvSpPr>
            <p:cNvPr id="10254" name="Oval 19">
              <a:extLst>
                <a:ext uri="{FF2B5EF4-FFF2-40B4-BE49-F238E27FC236}">
                  <a16:creationId xmlns:a16="http://schemas.microsoft.com/office/drawing/2014/main" id="{6B738358-487A-AF65-6040-3FBEF0BD4EF8}"/>
                </a:ext>
              </a:extLst>
            </p:cNvPr>
            <p:cNvSpPr>
              <a:spLocks noChangeArrowheads="1"/>
            </p:cNvSpPr>
            <p:nvPr/>
          </p:nvSpPr>
          <p:spPr bwMode="auto">
            <a:xfrm>
              <a:off x="4241" y="2432"/>
              <a:ext cx="181" cy="182"/>
            </a:xfrm>
            <a:prstGeom prst="ellipse">
              <a:avLst/>
            </a:prstGeom>
            <a:solidFill>
              <a:srgbClr val="009EDE"/>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dirty="0"/>
                <a:t>2</a:t>
              </a:r>
            </a:p>
          </p:txBody>
        </p:sp>
      </p:grpSp>
      <p:grpSp>
        <p:nvGrpSpPr>
          <p:cNvPr id="7" name="Group 20">
            <a:extLst>
              <a:ext uri="{FF2B5EF4-FFF2-40B4-BE49-F238E27FC236}">
                <a16:creationId xmlns:a16="http://schemas.microsoft.com/office/drawing/2014/main" id="{9D77BE41-3BC6-4AAC-A32C-5AA450044CCE}"/>
              </a:ext>
            </a:extLst>
          </p:cNvPr>
          <p:cNvGrpSpPr>
            <a:grpSpLocks/>
          </p:cNvGrpSpPr>
          <p:nvPr/>
        </p:nvGrpSpPr>
        <p:grpSpPr bwMode="auto">
          <a:xfrm>
            <a:off x="3419475" y="4622238"/>
            <a:ext cx="5362575" cy="360362"/>
            <a:chOff x="1194" y="2763"/>
            <a:chExt cx="3378" cy="227"/>
          </a:xfrm>
        </p:grpSpPr>
        <p:sp>
          <p:nvSpPr>
            <p:cNvPr id="10251" name="Rectangle 21">
              <a:extLst>
                <a:ext uri="{FF2B5EF4-FFF2-40B4-BE49-F238E27FC236}">
                  <a16:creationId xmlns:a16="http://schemas.microsoft.com/office/drawing/2014/main" id="{73E0B709-1972-6DF3-7307-AF2615E3011A}"/>
                </a:ext>
              </a:extLst>
            </p:cNvPr>
            <p:cNvSpPr>
              <a:spLocks noChangeArrowheads="1"/>
            </p:cNvSpPr>
            <p:nvPr/>
          </p:nvSpPr>
          <p:spPr bwMode="auto">
            <a:xfrm>
              <a:off x="1194" y="2763"/>
              <a:ext cx="3378" cy="227"/>
            </a:xfrm>
            <a:prstGeom prst="rect">
              <a:avLst/>
            </a:prstGeom>
            <a:solidFill>
              <a:srgbClr val="33CC33">
                <a:alpha val="25098"/>
              </a:srgb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pt-BR" altLang="pt-BR"/>
            </a:p>
          </p:txBody>
        </p:sp>
        <p:sp>
          <p:nvSpPr>
            <p:cNvPr id="10252" name="Oval 22">
              <a:extLst>
                <a:ext uri="{FF2B5EF4-FFF2-40B4-BE49-F238E27FC236}">
                  <a16:creationId xmlns:a16="http://schemas.microsoft.com/office/drawing/2014/main" id="{EF882FF6-7E2D-2C89-75F0-B4E25D613F55}"/>
                </a:ext>
              </a:extLst>
            </p:cNvPr>
            <p:cNvSpPr>
              <a:spLocks noChangeArrowheads="1"/>
            </p:cNvSpPr>
            <p:nvPr/>
          </p:nvSpPr>
          <p:spPr bwMode="auto">
            <a:xfrm>
              <a:off x="2789" y="2795"/>
              <a:ext cx="181" cy="182"/>
            </a:xfrm>
            <a:prstGeom prst="ellipse">
              <a:avLst/>
            </a:prstGeom>
            <a:solidFill>
              <a:srgbClr val="33CC33"/>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a:t>3</a:t>
              </a:r>
            </a:p>
          </p:txBody>
        </p:sp>
      </p:grpSp>
      <p:sp>
        <p:nvSpPr>
          <p:cNvPr id="10" name="Título 1">
            <a:extLst>
              <a:ext uri="{FF2B5EF4-FFF2-40B4-BE49-F238E27FC236}">
                <a16:creationId xmlns:a16="http://schemas.microsoft.com/office/drawing/2014/main" id="{3496C4AB-1F89-4E39-0C48-77A1F5B2230F}"/>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Painel</a:t>
            </a:r>
          </a:p>
        </p:txBody>
      </p:sp>
      <p:pic>
        <p:nvPicPr>
          <p:cNvPr id="11" name="Imagem 10">
            <a:extLst>
              <a:ext uri="{FF2B5EF4-FFF2-40B4-BE49-F238E27FC236}">
                <a16:creationId xmlns:a16="http://schemas.microsoft.com/office/drawing/2014/main" id="{A5C64324-7360-3BD1-2CDF-30726DB46E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a:extLst>
              <a:ext uri="{FF2B5EF4-FFF2-40B4-BE49-F238E27FC236}">
                <a16:creationId xmlns:a16="http://schemas.microsoft.com/office/drawing/2014/main" id="{0DB67D5A-F85F-463E-8E55-128B3C3EB303}"/>
              </a:ext>
            </a:extLst>
          </p:cNvPr>
          <p:cNvSpPr txBox="1">
            <a:spLocks noChangeArrowheads="1"/>
          </p:cNvSpPr>
          <p:nvPr/>
        </p:nvSpPr>
        <p:spPr bwMode="auto">
          <a:xfrm>
            <a:off x="646110" y="1150228"/>
            <a:ext cx="1065181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pt-BR" altLang="pt-BR" sz="2400" dirty="0"/>
              <a:t>Padrão para </a:t>
            </a:r>
            <a:r>
              <a:rPr lang="pt-BR" altLang="pt-BR" sz="2400" dirty="0" err="1">
                <a:latin typeface="Courier New" panose="02070309020205020404" pitchFamily="49" charset="0"/>
              </a:rPr>
              <a:t>java.awt.Panel</a:t>
            </a:r>
            <a:r>
              <a:rPr lang="pt-BR" altLang="pt-BR" sz="2400" dirty="0"/>
              <a:t>. Coloca os componentes </a:t>
            </a:r>
            <a:r>
              <a:rPr lang="pt-BR" altLang="pt-BR" sz="2400" dirty="0" err="1"/>
              <a:t>seqüencialmente</a:t>
            </a:r>
            <a:r>
              <a:rPr lang="pt-BR" altLang="pt-BR" sz="2400" dirty="0"/>
              <a:t> (da esquerda para a direita) na ordem que foram adicionados. Também é possível especificar a ordem dos componentes utilizando o método </a:t>
            </a:r>
            <a:r>
              <a:rPr lang="pt-BR" altLang="pt-BR" sz="2400" dirty="0">
                <a:latin typeface="Courier New" panose="02070309020205020404" pitchFamily="49" charset="0"/>
              </a:rPr>
              <a:t>Container </a:t>
            </a:r>
            <a:r>
              <a:rPr lang="pt-BR" altLang="pt-BR" sz="2400" dirty="0" err="1">
                <a:latin typeface="Courier New" panose="02070309020205020404" pitchFamily="49" charset="0"/>
              </a:rPr>
              <a:t>add</a:t>
            </a:r>
            <a:r>
              <a:rPr lang="pt-BR" altLang="pt-BR" sz="2400" dirty="0"/>
              <a:t>, que aceita um </a:t>
            </a:r>
            <a:r>
              <a:rPr lang="pt-BR" altLang="pt-BR" sz="2400" dirty="0" err="1"/>
              <a:t>Component</a:t>
            </a:r>
            <a:r>
              <a:rPr lang="pt-BR" altLang="pt-BR" sz="2400" dirty="0"/>
              <a:t> e uma posição de índice do tipo inteiro como argumento.</a:t>
            </a:r>
          </a:p>
        </p:txBody>
      </p:sp>
      <p:pic>
        <p:nvPicPr>
          <p:cNvPr id="584708" name="Picture 4">
            <a:extLst>
              <a:ext uri="{FF2B5EF4-FFF2-40B4-BE49-F238E27FC236}">
                <a16:creationId xmlns:a16="http://schemas.microsoft.com/office/drawing/2014/main" id="{F28C4E5B-C183-8CD8-6519-7E8EFD60F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3490" y="3068638"/>
            <a:ext cx="43211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4709" name="Picture 5">
            <a:extLst>
              <a:ext uri="{FF2B5EF4-FFF2-40B4-BE49-F238E27FC236}">
                <a16:creationId xmlns:a16="http://schemas.microsoft.com/office/drawing/2014/main" id="{9C1BFA8A-2BC4-52C6-86CA-0E2546767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9468" y="4264025"/>
            <a:ext cx="43195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4710" name="Picture 6">
            <a:extLst>
              <a:ext uri="{FF2B5EF4-FFF2-40B4-BE49-F238E27FC236}">
                <a16:creationId xmlns:a16="http://schemas.microsoft.com/office/drawing/2014/main" id="{218BC96B-AF6D-24D3-354A-C964267996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3490" y="5445126"/>
            <a:ext cx="4321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m 3">
            <a:extLst>
              <a:ext uri="{FF2B5EF4-FFF2-40B4-BE49-F238E27FC236}">
                <a16:creationId xmlns:a16="http://schemas.microsoft.com/office/drawing/2014/main" id="{85898479-31CF-4F47-B8A4-B97AE935E5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761A94DB-5BC9-3952-0CEE-D01A91390574}"/>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err="1"/>
              <a:t>FlowLayout</a:t>
            </a:r>
            <a:endParaRPr lang="pt-BR"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584708"/>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4709"/>
                                        </p:tgtEl>
                                        <p:attrNameLst>
                                          <p:attrName>style.visibility</p:attrName>
                                        </p:attrNameLst>
                                      </p:cBhvr>
                                      <p:to>
                                        <p:strVal val="visible"/>
                                      </p:to>
                                    </p:set>
                                  </p:childTnLst>
                                </p:cTn>
                              </p:par>
                              <p:par>
                                <p:cTn id="11" presetID="63" presetClass="path" presetSubtype="0" accel="50000" decel="50000" fill="hold" nodeType="withEffect">
                                  <p:stCondLst>
                                    <p:cond delay="0"/>
                                  </p:stCondLst>
                                  <p:childTnLst>
                                    <p:animMotion origin="layout" path="M 0 0  L 0.25 0  E" pathEditMode="relative" ptsTypes="">
                                      <p:cBhvr>
                                        <p:cTn id="12" dur="2000" fill="hold"/>
                                        <p:tgtEl>
                                          <p:spTgt spid="584709"/>
                                        </p:tgtEl>
                                        <p:attrNameLst>
                                          <p:attrName>ppt_x</p:attrName>
                                          <p:attrName>ppt_y</p:attrName>
                                        </p:attrNameLst>
                                      </p:cBhvr>
                                    </p:animMotion>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84710"/>
                                        </p:tgtEl>
                                        <p:attrNameLst>
                                          <p:attrName>style.visibility</p:attrName>
                                        </p:attrNameLst>
                                      </p:cBhvr>
                                      <p:to>
                                        <p:strVal val="visible"/>
                                      </p:to>
                                    </p:set>
                                  </p:childTnLst>
                                </p:cTn>
                              </p:par>
                              <p:par>
                                <p:cTn id="17" presetID="63" presetClass="path" presetSubtype="0" accel="50000" decel="50000" fill="hold" nodeType="withEffect">
                                  <p:stCondLst>
                                    <p:cond delay="0"/>
                                  </p:stCondLst>
                                  <p:childTnLst>
                                    <p:animMotion origin="layout" path="M 0 0  L 0.25 0  E" pathEditMode="relative" ptsTypes="">
                                      <p:cBhvr>
                                        <p:cTn id="18" dur="2000" fill="hold"/>
                                        <p:tgtEl>
                                          <p:spTgt spid="5847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91BEA8A4-20EF-AE0F-4B95-7B72A25A6D0A}"/>
              </a:ext>
            </a:extLst>
          </p:cNvPr>
          <p:cNvSpPr txBox="1">
            <a:spLocks noChangeArrowheads="1"/>
          </p:cNvSpPr>
          <p:nvPr/>
        </p:nvSpPr>
        <p:spPr bwMode="auto">
          <a:xfrm>
            <a:off x="646111" y="1294888"/>
            <a:ext cx="1054299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pt-BR" altLang="pt-BR" sz="2400" dirty="0"/>
              <a:t>O gerenciador de layout </a:t>
            </a:r>
            <a:r>
              <a:rPr lang="pt-BR" altLang="pt-BR" sz="2400" b="1" i="1" dirty="0" err="1"/>
              <a:t>BorderLayout</a:t>
            </a:r>
            <a:r>
              <a:rPr lang="pt-BR" altLang="pt-BR" sz="2400" dirty="0"/>
              <a:t> (o gerenciador padrão de layout para o painel de conteúdo) organiza os componentes em cinco regiões: NORTH, SOUTH,EAST, WEST e CENTER (NORTH corresponde a parte superior do contêiner).</a:t>
            </a:r>
          </a:p>
        </p:txBody>
      </p:sp>
      <p:pic>
        <p:nvPicPr>
          <p:cNvPr id="12292" name="Picture 4">
            <a:extLst>
              <a:ext uri="{FF2B5EF4-FFF2-40B4-BE49-F238E27FC236}">
                <a16:creationId xmlns:a16="http://schemas.microsoft.com/office/drawing/2014/main" id="{4A37F99A-5919-6943-9093-7B114586E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7264" y="3166962"/>
            <a:ext cx="5195887"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m 3">
            <a:extLst>
              <a:ext uri="{FF2B5EF4-FFF2-40B4-BE49-F238E27FC236}">
                <a16:creationId xmlns:a16="http://schemas.microsoft.com/office/drawing/2014/main" id="{A24788F3-7071-C45E-F9A8-F1D93C9E1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E446A86F-2EAE-E71E-D239-0D99BCA0632F}"/>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err="1"/>
              <a:t>BorderLayout</a:t>
            </a:r>
            <a:endParaRPr lang="pt-BR"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a:extLst>
              <a:ext uri="{FF2B5EF4-FFF2-40B4-BE49-F238E27FC236}">
                <a16:creationId xmlns:a16="http://schemas.microsoft.com/office/drawing/2014/main" id="{3389C7D6-D6FD-5532-4E6F-6A6C9ED8001C}"/>
              </a:ext>
            </a:extLst>
          </p:cNvPr>
          <p:cNvSpPr txBox="1">
            <a:spLocks noChangeArrowheads="1"/>
          </p:cNvSpPr>
          <p:nvPr/>
        </p:nvSpPr>
        <p:spPr bwMode="auto">
          <a:xfrm>
            <a:off x="646110" y="1324386"/>
            <a:ext cx="10899779"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pt-BR" altLang="pt-BR" sz="2400" dirty="0"/>
              <a:t>O gerenciador de layout </a:t>
            </a:r>
            <a:r>
              <a:rPr lang="pt-BR" altLang="pt-BR" sz="2400" b="1" i="1" dirty="0" err="1"/>
              <a:t>GridLayout</a:t>
            </a:r>
            <a:r>
              <a:rPr lang="pt-BR" altLang="pt-BR" sz="2400" dirty="0"/>
              <a:t> divide o contêiner em uma grade de modo que os componentes podem ser colocados nas linhas e colunas. </a:t>
            </a:r>
          </a:p>
          <a:p>
            <a:pPr algn="just" eaLnBrk="1" hangingPunct="1">
              <a:spcBef>
                <a:spcPct val="50000"/>
              </a:spcBef>
            </a:pPr>
            <a:r>
              <a:rPr lang="pt-BR" altLang="pt-BR" sz="2400" dirty="0"/>
              <a:t>Os componentes são adicionados a um </a:t>
            </a:r>
            <a:r>
              <a:rPr lang="pt-BR" altLang="pt-BR" sz="2400" dirty="0" err="1"/>
              <a:t>GridLayout</a:t>
            </a:r>
            <a:r>
              <a:rPr lang="pt-BR" altLang="pt-BR" sz="2400" dirty="0"/>
              <a:t> iniciando a célula na parte superior esquerda da grade e prosseguindo da esquerda para a direita até a linha estar cheia. Então o processo continua da esquerda para direita na próxima linha e assim por diante.</a:t>
            </a:r>
          </a:p>
        </p:txBody>
      </p:sp>
      <p:pic>
        <p:nvPicPr>
          <p:cNvPr id="13316" name="Picture 4">
            <a:extLst>
              <a:ext uri="{FF2B5EF4-FFF2-40B4-BE49-F238E27FC236}">
                <a16:creationId xmlns:a16="http://schemas.microsoft.com/office/drawing/2014/main" id="{831ED20A-11C6-0C92-CEAA-BCF567234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3478" y="4021138"/>
            <a:ext cx="5148262"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m 3">
            <a:extLst>
              <a:ext uri="{FF2B5EF4-FFF2-40B4-BE49-F238E27FC236}">
                <a16:creationId xmlns:a16="http://schemas.microsoft.com/office/drawing/2014/main" id="{34FCD5CF-0740-4CBF-F468-92F2077AA0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665022E8-E109-700A-5473-C1C989365DC5}"/>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err="1"/>
              <a:t>GridLayout</a:t>
            </a:r>
            <a:endParaRPr lang="pt-BR"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223F1-65BB-BF27-EF2E-7B6522F4E214}"/>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0CD645B7-63AF-43DC-E1D9-79FD8ECBFA8B}"/>
              </a:ext>
            </a:extLst>
          </p:cNvPr>
          <p:cNvSpPr txBox="1">
            <a:spLocks noChangeArrowheads="1"/>
          </p:cNvSpPr>
          <p:nvPr/>
        </p:nvSpPr>
        <p:spPr bwMode="auto">
          <a:xfrm>
            <a:off x="646110" y="1324386"/>
            <a:ext cx="10899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pt-BR" altLang="pt-BR" sz="2400" dirty="0"/>
              <a:t>É muito comum que utilizemos mais de um gerenciador de layout</a:t>
            </a:r>
          </a:p>
        </p:txBody>
      </p:sp>
      <p:pic>
        <p:nvPicPr>
          <p:cNvPr id="4" name="Imagem 3">
            <a:extLst>
              <a:ext uri="{FF2B5EF4-FFF2-40B4-BE49-F238E27FC236}">
                <a16:creationId xmlns:a16="http://schemas.microsoft.com/office/drawing/2014/main" id="{6D45A651-44CD-7BC5-29C0-08EE860DA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4713553A-348B-B590-43B8-408F2AC9F725}"/>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err="1"/>
              <a:t>Multi</a:t>
            </a:r>
            <a:r>
              <a:rPr lang="pt-BR" b="1" dirty="0"/>
              <a:t> Gerenciadores de Layout</a:t>
            </a:r>
          </a:p>
        </p:txBody>
      </p:sp>
      <p:pic>
        <p:nvPicPr>
          <p:cNvPr id="2" name="Picture 3">
            <a:extLst>
              <a:ext uri="{FF2B5EF4-FFF2-40B4-BE49-F238E27FC236}">
                <a16:creationId xmlns:a16="http://schemas.microsoft.com/office/drawing/2014/main" id="{5AE73319-227C-5E4F-67AA-1B1EF12C8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759" y="2269013"/>
            <a:ext cx="4699537" cy="391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7813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D2FE-C089-4EBA-A62A-5C7BB6C2805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EEBDDA67-151B-AE09-C6AA-F926139F99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463AFD82-E14E-569F-B8AE-E19E560F414B}"/>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a:t>MVC – Model, View e Controller</a:t>
            </a:r>
            <a:endParaRPr lang="pt-BR" b="1" dirty="0"/>
          </a:p>
        </p:txBody>
      </p:sp>
      <p:pic>
        <p:nvPicPr>
          <p:cNvPr id="3" name="Imagem 2">
            <a:extLst>
              <a:ext uri="{FF2B5EF4-FFF2-40B4-BE49-F238E27FC236}">
                <a16:creationId xmlns:a16="http://schemas.microsoft.com/office/drawing/2014/main" id="{29396033-4EFE-F637-F4BE-D619BE9A4F76}"/>
              </a:ext>
            </a:extLst>
          </p:cNvPr>
          <p:cNvPicPr>
            <a:picLocks noChangeAspect="1"/>
          </p:cNvPicPr>
          <p:nvPr/>
        </p:nvPicPr>
        <p:blipFill>
          <a:blip r:embed="rId3"/>
          <a:stretch>
            <a:fillRect/>
          </a:stretch>
        </p:blipFill>
        <p:spPr>
          <a:xfrm>
            <a:off x="3301081" y="4034522"/>
            <a:ext cx="5233055" cy="2615873"/>
          </a:xfrm>
          <a:prstGeom prst="rect">
            <a:avLst/>
          </a:prstGeom>
        </p:spPr>
      </p:pic>
      <p:sp>
        <p:nvSpPr>
          <p:cNvPr id="7" name="CaixaDeTexto 6">
            <a:extLst>
              <a:ext uri="{FF2B5EF4-FFF2-40B4-BE49-F238E27FC236}">
                <a16:creationId xmlns:a16="http://schemas.microsoft.com/office/drawing/2014/main" id="{85EA7B1B-7499-4CFB-B00A-CFFF50B9E06D}"/>
              </a:ext>
            </a:extLst>
          </p:cNvPr>
          <p:cNvSpPr txBox="1"/>
          <p:nvPr/>
        </p:nvSpPr>
        <p:spPr>
          <a:xfrm>
            <a:off x="646110" y="1307706"/>
            <a:ext cx="10542998" cy="2677656"/>
          </a:xfrm>
          <a:prstGeom prst="rect">
            <a:avLst/>
          </a:prstGeom>
          <a:noFill/>
        </p:spPr>
        <p:txBody>
          <a:bodyPr wrap="square">
            <a:spAutoFit/>
          </a:bodyPr>
          <a:lstStyle/>
          <a:p>
            <a:pPr algn="just"/>
            <a:r>
              <a:rPr lang="pt-BR" sz="2800" b="0" u="none" strike="noStrike" dirty="0">
                <a:effectLst/>
                <a:latin typeface="Google Sans"/>
              </a:rPr>
              <a:t>O padrão </a:t>
            </a:r>
            <a:r>
              <a:rPr lang="pt-BR" sz="2800" b="1" u="none" strike="noStrike" dirty="0">
                <a:effectLst/>
                <a:latin typeface="Google Sans"/>
              </a:rPr>
              <a:t>MVC (Model-</a:t>
            </a:r>
            <a:r>
              <a:rPr lang="pt-BR" sz="2800" b="1" u="none" strike="noStrike" dirty="0" err="1">
                <a:effectLst/>
                <a:latin typeface="Google Sans"/>
              </a:rPr>
              <a:t>View</a:t>
            </a:r>
            <a:r>
              <a:rPr lang="pt-BR" sz="2800" b="1" u="none" strike="noStrike" dirty="0">
                <a:effectLst/>
                <a:latin typeface="Google Sans"/>
              </a:rPr>
              <a:t>-</a:t>
            </a:r>
            <a:r>
              <a:rPr lang="pt-BR" sz="2800" b="1" u="none" strike="noStrike" dirty="0" err="1">
                <a:effectLst/>
                <a:latin typeface="Google Sans"/>
              </a:rPr>
              <a:t>Controller</a:t>
            </a:r>
            <a:r>
              <a:rPr lang="pt-BR" sz="2800" b="1" u="none" strike="noStrike" dirty="0">
                <a:effectLst/>
                <a:latin typeface="Google Sans"/>
              </a:rPr>
              <a:t>)</a:t>
            </a:r>
            <a:r>
              <a:rPr lang="pt-BR" sz="2800" dirty="0"/>
              <a:t> é uma arquitetura de software que divide uma aplicação em três camadas distintas para separar a lógica de negócios da interface do usuário, facilitando a manutenção e a escalabilidade. O modelo organiza o código em: </a:t>
            </a:r>
            <a:r>
              <a:rPr lang="pt-BR" sz="2800" b="1" u="none" strike="noStrike" dirty="0">
                <a:effectLst/>
                <a:latin typeface="Google Sans"/>
              </a:rPr>
              <a:t>Model</a:t>
            </a:r>
            <a:r>
              <a:rPr lang="pt-BR" sz="2800" dirty="0"/>
              <a:t> (dados/regras), </a:t>
            </a:r>
            <a:r>
              <a:rPr lang="pt-BR" sz="2800" b="1" u="none" strike="noStrike" dirty="0" err="1">
                <a:effectLst/>
                <a:latin typeface="Google Sans"/>
              </a:rPr>
              <a:t>View</a:t>
            </a:r>
            <a:r>
              <a:rPr lang="pt-BR" sz="2800" dirty="0"/>
              <a:t> (interface) e </a:t>
            </a:r>
            <a:r>
              <a:rPr lang="pt-BR" sz="2800" b="1" u="none" strike="noStrike" dirty="0" err="1">
                <a:effectLst/>
                <a:latin typeface="Google Sans"/>
              </a:rPr>
              <a:t>Controller</a:t>
            </a:r>
            <a:r>
              <a:rPr lang="pt-BR" sz="2800" dirty="0"/>
              <a:t> (conexão).</a:t>
            </a:r>
          </a:p>
        </p:txBody>
      </p:sp>
    </p:spTree>
    <p:extLst>
      <p:ext uri="{BB962C8B-B14F-4D97-AF65-F5344CB8AC3E}">
        <p14:creationId xmlns:p14="http://schemas.microsoft.com/office/powerpoint/2010/main" val="3247735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903A-CBDA-4EC7-04AA-C2C4597F9F9D}"/>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D6A6B43E-B854-9E28-440C-B8374557EAC5}"/>
              </a:ext>
            </a:extLst>
          </p:cNvPr>
          <p:cNvSpPr txBox="1">
            <a:spLocks noChangeArrowheads="1"/>
          </p:cNvSpPr>
          <p:nvPr/>
        </p:nvSpPr>
        <p:spPr bwMode="auto">
          <a:xfrm>
            <a:off x="646110" y="1324386"/>
            <a:ext cx="10899779"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BR" sz="2800" dirty="0"/>
              <a:t>Separar a aparência da lógica de negócios é fundamental para manutenção.</a:t>
            </a:r>
          </a:p>
          <a:p>
            <a:pPr marL="1200150" lvl="1" indent="-457200">
              <a:spcBef>
                <a:spcPts val="1200"/>
              </a:spcBef>
              <a:buFont typeface="Arial" panose="020B0604020202020204" pitchFamily="34" charset="0"/>
              <a:buChar char="•"/>
            </a:pPr>
            <a:r>
              <a:rPr lang="pt-BR" sz="2800" b="1" dirty="0"/>
              <a:t>Model:</a:t>
            </a:r>
            <a:r>
              <a:rPr lang="pt-BR" sz="2800" dirty="0"/>
              <a:t> Representa os dados e regras de negócio (</a:t>
            </a:r>
            <a:r>
              <a:rPr lang="pt-BR" sz="2800" dirty="0" err="1"/>
              <a:t>ex</a:t>
            </a:r>
            <a:r>
              <a:rPr lang="pt-BR" sz="2800" dirty="0"/>
              <a:t>: Classe Cliente).</a:t>
            </a:r>
          </a:p>
          <a:p>
            <a:pPr marL="1200150" lvl="1" indent="-457200">
              <a:spcBef>
                <a:spcPts val="1200"/>
              </a:spcBef>
              <a:buFont typeface="Arial" panose="020B0604020202020204" pitchFamily="34" charset="0"/>
              <a:buChar char="•"/>
            </a:pPr>
            <a:r>
              <a:rPr lang="pt-BR" sz="2800" b="1" dirty="0" err="1"/>
              <a:t>View</a:t>
            </a:r>
            <a:r>
              <a:rPr lang="pt-BR" sz="2800" b="1" dirty="0"/>
              <a:t>:</a:t>
            </a:r>
            <a:r>
              <a:rPr lang="pt-BR" sz="2800" dirty="0"/>
              <a:t> Toda a interface gráfica (</a:t>
            </a:r>
            <a:r>
              <a:rPr lang="pt-BR" sz="2800" dirty="0" err="1"/>
              <a:t>JFrame</a:t>
            </a:r>
            <a:r>
              <a:rPr lang="pt-BR" sz="2800" dirty="0"/>
              <a:t>, </a:t>
            </a:r>
            <a:r>
              <a:rPr lang="pt-BR" sz="2800" dirty="0" err="1"/>
              <a:t>JPanels</a:t>
            </a:r>
            <a:r>
              <a:rPr lang="pt-BR" sz="2800" dirty="0"/>
              <a:t>).</a:t>
            </a:r>
          </a:p>
          <a:p>
            <a:pPr marL="1200150" lvl="1" indent="-457200">
              <a:spcBef>
                <a:spcPts val="1200"/>
              </a:spcBef>
              <a:buFont typeface="Arial" panose="020B0604020202020204" pitchFamily="34" charset="0"/>
              <a:buChar char="•"/>
            </a:pPr>
            <a:r>
              <a:rPr lang="pt-BR" sz="2800" b="1" dirty="0" err="1"/>
              <a:t>Controller</a:t>
            </a:r>
            <a:r>
              <a:rPr lang="pt-BR" sz="2800" b="1" dirty="0"/>
              <a:t>:</a:t>
            </a:r>
            <a:r>
              <a:rPr lang="pt-BR" sz="2800" dirty="0"/>
              <a:t> A "ponte" que lê a </a:t>
            </a:r>
            <a:r>
              <a:rPr lang="pt-BR" sz="2800" dirty="0" err="1"/>
              <a:t>View</a:t>
            </a:r>
            <a:r>
              <a:rPr lang="pt-BR" sz="2800" dirty="0"/>
              <a:t> e atualiza o Model (e vice-versa).</a:t>
            </a:r>
          </a:p>
        </p:txBody>
      </p:sp>
      <p:pic>
        <p:nvPicPr>
          <p:cNvPr id="4" name="Imagem 3">
            <a:extLst>
              <a:ext uri="{FF2B5EF4-FFF2-40B4-BE49-F238E27FC236}">
                <a16:creationId xmlns:a16="http://schemas.microsoft.com/office/drawing/2014/main" id="{7789E3D4-9E29-67A1-C53D-5479425BBE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93848EF8-B6FA-9A18-758A-D0AC3DC9176B}"/>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MVC – Model, </a:t>
            </a:r>
            <a:r>
              <a:rPr lang="pt-BR" b="1" dirty="0" err="1"/>
              <a:t>View</a:t>
            </a:r>
            <a:r>
              <a:rPr lang="pt-BR" b="1" dirty="0"/>
              <a:t> e </a:t>
            </a:r>
            <a:r>
              <a:rPr lang="pt-BR" b="1" dirty="0" err="1"/>
              <a:t>Controller</a:t>
            </a:r>
            <a:endParaRPr lang="pt-BR" b="1" dirty="0"/>
          </a:p>
        </p:txBody>
      </p:sp>
    </p:spTree>
    <p:extLst>
      <p:ext uri="{BB962C8B-B14F-4D97-AF65-F5344CB8AC3E}">
        <p14:creationId xmlns:p14="http://schemas.microsoft.com/office/powerpoint/2010/main" val="3910291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52A0-DFCD-0A09-8683-AF55F5D29250}"/>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31D3086E-56BE-28DB-BA3A-8DE20B60EE6E}"/>
              </a:ext>
            </a:extLst>
          </p:cNvPr>
          <p:cNvSpPr txBox="1">
            <a:spLocks noChangeArrowheads="1"/>
          </p:cNvSpPr>
          <p:nvPr/>
        </p:nvSpPr>
        <p:spPr bwMode="auto">
          <a:xfrm>
            <a:off x="646110" y="1324386"/>
            <a:ext cx="10899779" cy="400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514350" algn="just">
              <a:spcBef>
                <a:spcPts val="1200"/>
              </a:spcBef>
              <a:buFont typeface="+mj-lt"/>
              <a:buAutoNum type="arabicPeriod"/>
            </a:pPr>
            <a:r>
              <a:rPr lang="pt-BR" sz="2800" b="1" dirty="0"/>
              <a:t>Thread de Eventos (EDT):</a:t>
            </a:r>
            <a:r>
              <a:rPr lang="pt-BR" sz="2800" dirty="0"/>
              <a:t> Toda interface deve ser atualizada via </a:t>
            </a:r>
            <a:r>
              <a:rPr lang="pt-BR" sz="2800" dirty="0" err="1"/>
              <a:t>SwingUtilities.invokeLater</a:t>
            </a:r>
            <a:r>
              <a:rPr lang="pt-BR" sz="2800" dirty="0"/>
              <a:t> para evitar travamentos.</a:t>
            </a:r>
          </a:p>
          <a:p>
            <a:pPr marL="514350" indent="-514350" algn="just">
              <a:spcBef>
                <a:spcPts val="1200"/>
              </a:spcBef>
              <a:buFont typeface="+mj-lt"/>
              <a:buAutoNum type="arabicPeriod"/>
            </a:pPr>
            <a:r>
              <a:rPr lang="pt-BR" sz="2800" b="1" dirty="0"/>
              <a:t>Feedback Visual:</a:t>
            </a:r>
            <a:r>
              <a:rPr lang="pt-BR" sz="2800" dirty="0"/>
              <a:t> Sempre use diálogos de confirmação ou erro (</a:t>
            </a:r>
            <a:r>
              <a:rPr lang="pt-BR" sz="2800" dirty="0" err="1"/>
              <a:t>JOptionPane</a:t>
            </a:r>
            <a:r>
              <a:rPr lang="pt-BR" sz="2800" dirty="0"/>
              <a:t>).</a:t>
            </a:r>
          </a:p>
          <a:p>
            <a:pPr marL="514350" indent="-514350" algn="just">
              <a:spcBef>
                <a:spcPts val="1200"/>
              </a:spcBef>
              <a:buFont typeface="+mj-lt"/>
              <a:buAutoNum type="arabicPeriod"/>
            </a:pPr>
            <a:r>
              <a:rPr lang="pt-BR" sz="2800" b="1" dirty="0"/>
              <a:t>Mnemônicos:</a:t>
            </a:r>
            <a:r>
              <a:rPr lang="pt-BR" sz="2800" dirty="0"/>
              <a:t> Adicione atalhos de teclado (</a:t>
            </a:r>
            <a:r>
              <a:rPr lang="pt-BR" sz="2800" dirty="0" err="1"/>
              <a:t>Ex</a:t>
            </a:r>
            <a:r>
              <a:rPr lang="pt-BR" sz="2800" dirty="0"/>
              <a:t>: </a:t>
            </a:r>
            <a:r>
              <a:rPr lang="pt-BR" sz="2800" dirty="0" err="1"/>
              <a:t>Alt+S</a:t>
            </a:r>
            <a:r>
              <a:rPr lang="pt-BR" sz="2800" dirty="0"/>
              <a:t> para Salvar).</a:t>
            </a:r>
          </a:p>
          <a:p>
            <a:pPr marL="514350" indent="-514350" algn="just">
              <a:spcBef>
                <a:spcPts val="1200"/>
              </a:spcBef>
              <a:buFont typeface="+mj-lt"/>
              <a:buAutoNum type="arabicPeriod"/>
            </a:pPr>
            <a:r>
              <a:rPr lang="pt-BR" sz="2800" b="1" dirty="0"/>
              <a:t>Estética:</a:t>
            </a:r>
            <a:r>
              <a:rPr lang="pt-BR" sz="2800" dirty="0"/>
              <a:t> Explore temas como </a:t>
            </a:r>
            <a:r>
              <a:rPr lang="pt-BR" sz="2800" i="1" dirty="0" err="1"/>
              <a:t>FlatLaf</a:t>
            </a:r>
            <a:r>
              <a:rPr lang="pt-BR" sz="2800" dirty="0"/>
              <a:t> ou </a:t>
            </a:r>
            <a:r>
              <a:rPr lang="pt-BR" sz="2800" i="1" dirty="0" err="1"/>
              <a:t>Nimbus</a:t>
            </a:r>
            <a:r>
              <a:rPr lang="pt-BR" sz="2800" dirty="0"/>
              <a:t> para fugir do visual clássico do Java.</a:t>
            </a:r>
          </a:p>
        </p:txBody>
      </p:sp>
      <p:pic>
        <p:nvPicPr>
          <p:cNvPr id="4" name="Imagem 3">
            <a:extLst>
              <a:ext uri="{FF2B5EF4-FFF2-40B4-BE49-F238E27FC236}">
                <a16:creationId xmlns:a16="http://schemas.microsoft.com/office/drawing/2014/main" id="{E3064FF4-9701-4E17-5B33-89B451555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9A54AC28-698C-3DA0-352A-3D79C5F024B6}"/>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Boas Práticas ao Criar </a:t>
            </a:r>
            <a:r>
              <a:rPr lang="pt-BR" b="1" dirty="0" err="1"/>
              <a:t>GUIs</a:t>
            </a:r>
            <a:endParaRPr lang="pt-BR" b="1" dirty="0"/>
          </a:p>
        </p:txBody>
      </p:sp>
    </p:spTree>
    <p:extLst>
      <p:ext uri="{BB962C8B-B14F-4D97-AF65-F5344CB8AC3E}">
        <p14:creationId xmlns:p14="http://schemas.microsoft.com/office/powerpoint/2010/main" val="2941921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7EE1-BA93-B628-FA15-663D89B6B221}"/>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69F1F750-D45B-1451-6372-EBF31EFD184B}"/>
              </a:ext>
            </a:extLst>
          </p:cNvPr>
          <p:cNvSpPr txBox="1">
            <a:spLocks noChangeArrowheads="1"/>
          </p:cNvSpPr>
          <p:nvPr/>
        </p:nvSpPr>
        <p:spPr bwMode="auto">
          <a:xfrm>
            <a:off x="646110" y="1324386"/>
            <a:ext cx="10899779"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ts val="1200"/>
              </a:spcBef>
            </a:pPr>
            <a:r>
              <a:rPr lang="pt-BR" sz="2800" dirty="0"/>
              <a:t>Usado no Java Swing para garantir que atualizações na interface gráfica (GUI) ocorram de forma segura na </a:t>
            </a:r>
            <a:r>
              <a:rPr lang="pt-BR" sz="2800" i="1" dirty="0"/>
              <a:t>Event </a:t>
            </a:r>
            <a:r>
              <a:rPr lang="pt-BR" sz="2800" i="1" dirty="0" err="1"/>
              <a:t>Dispatch</a:t>
            </a:r>
            <a:r>
              <a:rPr lang="pt-BR" sz="2800" i="1" dirty="0"/>
              <a:t> Thread</a:t>
            </a:r>
            <a:r>
              <a:rPr lang="pt-BR" sz="2800" dirty="0"/>
              <a:t> (EDT). </a:t>
            </a:r>
          </a:p>
          <a:p>
            <a:pPr algn="just">
              <a:spcBef>
                <a:spcPts val="1200"/>
              </a:spcBef>
            </a:pPr>
            <a:r>
              <a:rPr lang="pt-BR" sz="2800" dirty="0"/>
              <a:t>Ele enfileira um objeto </a:t>
            </a:r>
            <a:r>
              <a:rPr lang="pt-BR" sz="2800" dirty="0" err="1"/>
              <a:t>Runnable</a:t>
            </a:r>
            <a:r>
              <a:rPr lang="pt-BR" sz="2800" dirty="0"/>
              <a:t> para ser executado após os eventos pendentes, evitando conflitos de concorrência e congelamentos da tela ao atualizar componentes (como </a:t>
            </a:r>
            <a:r>
              <a:rPr lang="pt-BR" sz="2800" dirty="0" err="1"/>
              <a:t>JTextField</a:t>
            </a:r>
            <a:r>
              <a:rPr lang="pt-BR" sz="2800" dirty="0"/>
              <a:t>, </a:t>
            </a:r>
            <a:r>
              <a:rPr lang="pt-BR" sz="2800" dirty="0" err="1"/>
              <a:t>JLabel</a:t>
            </a:r>
            <a:r>
              <a:rPr lang="pt-BR" sz="2800" dirty="0"/>
              <a:t>) a partir de outras threads.</a:t>
            </a:r>
          </a:p>
          <a:p>
            <a:pPr algn="r">
              <a:spcBef>
                <a:spcPts val="1200"/>
              </a:spcBef>
            </a:pPr>
            <a:r>
              <a:rPr lang="pt-BR" sz="2800" dirty="0"/>
              <a:t>(Fonte: https://www.guj.com.br/)</a:t>
            </a:r>
          </a:p>
        </p:txBody>
      </p:sp>
      <p:pic>
        <p:nvPicPr>
          <p:cNvPr id="4" name="Imagem 3">
            <a:extLst>
              <a:ext uri="{FF2B5EF4-FFF2-40B4-BE49-F238E27FC236}">
                <a16:creationId xmlns:a16="http://schemas.microsoft.com/office/drawing/2014/main" id="{5BD30503-FE8C-A8B3-C03F-29DFB343C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9F52AB4B-B6EB-7687-F9E7-5025F4B41DA7}"/>
              </a:ext>
            </a:extLst>
          </p:cNvPr>
          <p:cNvSpPr txBox="1">
            <a:spLocks/>
          </p:cNvSpPr>
          <p:nvPr/>
        </p:nvSpPr>
        <p:spPr>
          <a:xfrm>
            <a:off x="646110" y="452718"/>
            <a:ext cx="1054299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Uso de </a:t>
            </a:r>
            <a:r>
              <a:rPr lang="pt-BR" sz="4400" dirty="0" err="1">
                <a:solidFill>
                  <a:srgbClr val="FFFF00"/>
                </a:solidFill>
              </a:rPr>
              <a:t>SwingUtilities.invokeLater</a:t>
            </a:r>
            <a:r>
              <a:rPr lang="pt-BR" sz="4400" dirty="0">
                <a:solidFill>
                  <a:srgbClr val="FFFF00"/>
                </a:solidFill>
              </a:rPr>
              <a:t> </a:t>
            </a:r>
            <a:endParaRPr lang="pt-BR" b="1" dirty="0">
              <a:solidFill>
                <a:srgbClr val="FFFF00"/>
              </a:solidFill>
            </a:endParaRPr>
          </a:p>
        </p:txBody>
      </p:sp>
    </p:spTree>
    <p:extLst>
      <p:ext uri="{BB962C8B-B14F-4D97-AF65-F5344CB8AC3E}">
        <p14:creationId xmlns:p14="http://schemas.microsoft.com/office/powerpoint/2010/main" val="1815725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D2F93-5492-0AEA-9C19-A1AF20604AF9}"/>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04B115B6-6683-D0BD-177A-32F21CACC7C1}"/>
              </a:ext>
            </a:extLst>
          </p:cNvPr>
          <p:cNvSpPr txBox="1">
            <a:spLocks noChangeArrowheads="1"/>
          </p:cNvSpPr>
          <p:nvPr/>
        </p:nvSpPr>
        <p:spPr bwMode="auto">
          <a:xfrm>
            <a:off x="646111" y="1853248"/>
            <a:ext cx="1089977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ts val="1200"/>
              </a:spcBef>
            </a:pPr>
            <a:r>
              <a:rPr lang="pt-BR" sz="2800" dirty="0"/>
              <a:t>A forma mais comum é inicializar a janela principal dentro do </a:t>
            </a:r>
            <a:r>
              <a:rPr lang="pt-BR" sz="2800" dirty="0" err="1"/>
              <a:t>main</a:t>
            </a:r>
            <a:r>
              <a:rPr lang="pt-BR" sz="2800" dirty="0"/>
              <a:t> utilizando </a:t>
            </a:r>
            <a:r>
              <a:rPr lang="pt-BR" sz="2800" dirty="0" err="1"/>
              <a:t>invokeLater</a:t>
            </a:r>
            <a:r>
              <a:rPr lang="pt-BR" sz="2800" dirty="0"/>
              <a:t> para garantir que ela seja criada na thread correta.</a:t>
            </a:r>
          </a:p>
        </p:txBody>
      </p:sp>
      <p:pic>
        <p:nvPicPr>
          <p:cNvPr id="4" name="Imagem 3">
            <a:extLst>
              <a:ext uri="{FF2B5EF4-FFF2-40B4-BE49-F238E27FC236}">
                <a16:creationId xmlns:a16="http://schemas.microsoft.com/office/drawing/2014/main" id="{725E6B63-ADCB-5E27-99B9-93E678EBC4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240F93A5-5C21-9B06-BEFC-E0C73AF6C95E}"/>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Iniciando a GUI com Segurança (</a:t>
            </a:r>
            <a:r>
              <a:rPr lang="pt-BR" b="1" dirty="0" err="1"/>
              <a:t>Main</a:t>
            </a:r>
            <a:r>
              <a:rPr lang="pt-BR" b="1" dirty="0"/>
              <a:t> Thread)</a:t>
            </a:r>
            <a:endParaRPr lang="pt-BR" b="1" dirty="0">
              <a:solidFill>
                <a:srgbClr val="FFFF00"/>
              </a:solidFill>
            </a:endParaRPr>
          </a:p>
        </p:txBody>
      </p:sp>
    </p:spTree>
    <p:extLst>
      <p:ext uri="{BB962C8B-B14F-4D97-AF65-F5344CB8AC3E}">
        <p14:creationId xmlns:p14="http://schemas.microsoft.com/office/powerpoint/2010/main" val="3412598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95C89524-6DEF-7271-765F-8FEC29919EC2}"/>
              </a:ext>
            </a:extLst>
          </p:cNvPr>
          <p:cNvPicPr>
            <a:picLocks noChangeAspect="1"/>
          </p:cNvPicPr>
          <p:nvPr/>
        </p:nvPicPr>
        <p:blipFill>
          <a:blip r:embed="rId2"/>
          <a:stretch>
            <a:fillRect/>
          </a:stretch>
        </p:blipFill>
        <p:spPr>
          <a:xfrm>
            <a:off x="2022704" y="1372319"/>
            <a:ext cx="6258798" cy="5096586"/>
          </a:xfrm>
          <a:prstGeom prst="rect">
            <a:avLst/>
          </a:prstGeom>
        </p:spPr>
      </p:pic>
      <p:pic>
        <p:nvPicPr>
          <p:cNvPr id="4" name="Imagem 3">
            <a:extLst>
              <a:ext uri="{FF2B5EF4-FFF2-40B4-BE49-F238E27FC236}">
                <a16:creationId xmlns:a16="http://schemas.microsoft.com/office/drawing/2014/main" id="{A9D9CD80-13E6-38E1-16CC-C9267B66A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C7A7D6D1-CB8E-1F22-E5F5-8809D8D62760}"/>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err="1"/>
              <a:t>Main</a:t>
            </a:r>
            <a:r>
              <a:rPr lang="pt-BR" b="1" dirty="0"/>
              <a:t> Thread</a:t>
            </a:r>
            <a:endParaRPr lang="pt-BR" b="1" dirty="0">
              <a:solidFill>
                <a:srgbClr val="FFFF00"/>
              </a:solidFill>
            </a:endParaRPr>
          </a:p>
        </p:txBody>
      </p:sp>
    </p:spTree>
    <p:extLst>
      <p:ext uri="{BB962C8B-B14F-4D97-AF65-F5344CB8AC3E}">
        <p14:creationId xmlns:p14="http://schemas.microsoft.com/office/powerpoint/2010/main" val="784148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E1EC-7182-2CC0-BEC6-1998F933D62C}"/>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45FD8BE7-001C-E515-7773-67CD7C67CF72}"/>
              </a:ext>
            </a:extLst>
          </p:cNvPr>
          <p:cNvSpPr txBox="1">
            <a:spLocks noChangeArrowheads="1"/>
          </p:cNvSpPr>
          <p:nvPr/>
        </p:nvSpPr>
        <p:spPr bwMode="auto">
          <a:xfrm>
            <a:off x="646111" y="1853248"/>
            <a:ext cx="1089977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ts val="1200"/>
              </a:spcBef>
            </a:pPr>
            <a:r>
              <a:rPr lang="pt-BR" sz="2800" dirty="0"/>
              <a:t>Quando uma tarefa demorada (como carregar dados) termina, ela precisa atualizar um componente Swing.</a:t>
            </a:r>
          </a:p>
        </p:txBody>
      </p:sp>
      <p:pic>
        <p:nvPicPr>
          <p:cNvPr id="4" name="Imagem 3">
            <a:extLst>
              <a:ext uri="{FF2B5EF4-FFF2-40B4-BE49-F238E27FC236}">
                <a16:creationId xmlns:a16="http://schemas.microsoft.com/office/drawing/2014/main" id="{138644E3-5E17-32A9-18D5-812ED21A9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5112F14F-F5A9-464A-1401-CD4D2FE0AD8C}"/>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Atualizando a GUI a partir de uma Thread de Background</a:t>
            </a:r>
            <a:endParaRPr lang="pt-BR" b="1" dirty="0">
              <a:solidFill>
                <a:srgbClr val="FFFF00"/>
              </a:solidFill>
            </a:endParaRPr>
          </a:p>
        </p:txBody>
      </p:sp>
      <p:pic>
        <p:nvPicPr>
          <p:cNvPr id="3" name="Imagem 2">
            <a:extLst>
              <a:ext uri="{FF2B5EF4-FFF2-40B4-BE49-F238E27FC236}">
                <a16:creationId xmlns:a16="http://schemas.microsoft.com/office/drawing/2014/main" id="{59DD9311-3DF9-FB3C-6328-08C4C136E1B9}"/>
              </a:ext>
            </a:extLst>
          </p:cNvPr>
          <p:cNvPicPr>
            <a:picLocks noChangeAspect="1"/>
          </p:cNvPicPr>
          <p:nvPr/>
        </p:nvPicPr>
        <p:blipFill>
          <a:blip r:embed="rId3"/>
          <a:stretch>
            <a:fillRect/>
          </a:stretch>
        </p:blipFill>
        <p:spPr>
          <a:xfrm>
            <a:off x="2578727" y="2957927"/>
            <a:ext cx="6197919" cy="3774908"/>
          </a:xfrm>
          <a:prstGeom prst="rect">
            <a:avLst/>
          </a:prstGeom>
        </p:spPr>
      </p:pic>
    </p:spTree>
    <p:extLst>
      <p:ext uri="{BB962C8B-B14F-4D97-AF65-F5344CB8AC3E}">
        <p14:creationId xmlns:p14="http://schemas.microsoft.com/office/powerpoint/2010/main" val="3594117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5318-6A96-981A-EFE4-94BA75F0B792}"/>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5ED57590-4644-791E-8C3D-AE879E7D7938}"/>
              </a:ext>
            </a:extLst>
          </p:cNvPr>
          <p:cNvSpPr txBox="1">
            <a:spLocks noChangeArrowheads="1"/>
          </p:cNvSpPr>
          <p:nvPr/>
        </p:nvSpPr>
        <p:spPr bwMode="auto">
          <a:xfrm>
            <a:off x="567453" y="1391132"/>
            <a:ext cx="10899779"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ts val="1200"/>
              </a:spcBef>
            </a:pPr>
            <a:r>
              <a:rPr lang="pt-BR" sz="2800" b="1" dirty="0"/>
              <a:t>Thread-</a:t>
            </a:r>
            <a:r>
              <a:rPr lang="pt-BR" sz="2800" b="1" dirty="0" err="1"/>
              <a:t>Safety</a:t>
            </a:r>
            <a:r>
              <a:rPr lang="pt-BR" sz="2800" b="1" dirty="0"/>
              <a:t>:</a:t>
            </a:r>
            <a:r>
              <a:rPr lang="pt-BR" sz="2800" dirty="0"/>
              <a:t> O Swing não é seguro para múltiplas threads; componentes só devem ser modificados pela EDT.</a:t>
            </a:r>
          </a:p>
          <a:p>
            <a:pPr algn="just">
              <a:spcBef>
                <a:spcPts val="1200"/>
              </a:spcBef>
            </a:pPr>
            <a:r>
              <a:rPr lang="pt-BR" sz="2800" b="1" dirty="0"/>
              <a:t>Evita Travamentos:</a:t>
            </a:r>
            <a:r>
              <a:rPr lang="pt-BR" sz="2800" dirty="0"/>
              <a:t> Impede que tarefas longas bloqueiem a resposta da interface aos cliques do usuário.</a:t>
            </a:r>
          </a:p>
          <a:p>
            <a:pPr algn="just">
              <a:spcBef>
                <a:spcPts val="1200"/>
              </a:spcBef>
            </a:pPr>
            <a:r>
              <a:rPr lang="pt-BR" sz="2800" b="1" dirty="0"/>
              <a:t>Processamento de Eventos:</a:t>
            </a:r>
            <a:r>
              <a:rPr lang="pt-BR" sz="2800" dirty="0"/>
              <a:t> Garante que a atualização ocorra após a conclusão de eventos pendentes da interface.</a:t>
            </a:r>
          </a:p>
        </p:txBody>
      </p:sp>
      <p:pic>
        <p:nvPicPr>
          <p:cNvPr id="4" name="Imagem 3">
            <a:extLst>
              <a:ext uri="{FF2B5EF4-FFF2-40B4-BE49-F238E27FC236}">
                <a16:creationId xmlns:a16="http://schemas.microsoft.com/office/drawing/2014/main" id="{B85B09D6-7DCA-DCD4-6693-810E538C2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370BDD73-DAF3-2F69-2D49-D3849206899A}"/>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Vantagens </a:t>
            </a:r>
            <a:r>
              <a:rPr lang="pt-BR" sz="4000" dirty="0" err="1">
                <a:solidFill>
                  <a:srgbClr val="FFFF00"/>
                </a:solidFill>
              </a:rPr>
              <a:t>SwingUtilities.invokeLater</a:t>
            </a:r>
            <a:r>
              <a:rPr lang="pt-BR" sz="4000" dirty="0">
                <a:solidFill>
                  <a:srgbClr val="FFFF00"/>
                </a:solidFill>
              </a:rPr>
              <a:t> </a:t>
            </a:r>
            <a:endParaRPr lang="pt-BR" b="1" dirty="0">
              <a:solidFill>
                <a:srgbClr val="FFFF00"/>
              </a:solidFill>
            </a:endParaRPr>
          </a:p>
        </p:txBody>
      </p:sp>
    </p:spTree>
    <p:extLst>
      <p:ext uri="{BB962C8B-B14F-4D97-AF65-F5344CB8AC3E}">
        <p14:creationId xmlns:p14="http://schemas.microsoft.com/office/powerpoint/2010/main" val="3858701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0698E-C1BC-BABA-BD16-1AD31BA6B014}"/>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47EEBDDA-203A-5930-6E23-FB20B201E025}"/>
              </a:ext>
            </a:extLst>
          </p:cNvPr>
          <p:cNvSpPr txBox="1">
            <a:spLocks noChangeArrowheads="1"/>
          </p:cNvSpPr>
          <p:nvPr/>
        </p:nvSpPr>
        <p:spPr bwMode="auto">
          <a:xfrm>
            <a:off x="567453" y="1391132"/>
            <a:ext cx="10899779" cy="326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ts val="1200"/>
              </a:spcBef>
            </a:pPr>
            <a:r>
              <a:rPr lang="pt-BR" sz="2800" dirty="0"/>
              <a:t>Para dar um aspecto moderno às suas aplicações Desktop e sair do visual padrão (que às vezes parece datado), o Java utiliza o conceito de </a:t>
            </a:r>
            <a:r>
              <a:rPr lang="pt-BR" sz="2800" b="1" dirty="0"/>
              <a:t>Look </a:t>
            </a:r>
            <a:r>
              <a:rPr lang="pt-BR" sz="2800" b="1" dirty="0" err="1"/>
              <a:t>and</a:t>
            </a:r>
            <a:r>
              <a:rPr lang="pt-BR" sz="2800" b="1" dirty="0"/>
              <a:t> Feel (L&amp;F)</a:t>
            </a:r>
            <a:r>
              <a:rPr lang="pt-BR" sz="2800" dirty="0"/>
              <a:t>.</a:t>
            </a:r>
          </a:p>
          <a:p>
            <a:pPr algn="just">
              <a:spcBef>
                <a:spcPts val="1200"/>
              </a:spcBef>
            </a:pPr>
            <a:r>
              <a:rPr lang="pt-BR" sz="2800" dirty="0"/>
              <a:t>O </a:t>
            </a:r>
            <a:r>
              <a:rPr lang="pt-BR" sz="2800" b="1" dirty="0" err="1"/>
              <a:t>Nimbus</a:t>
            </a:r>
            <a:r>
              <a:rPr lang="pt-BR" sz="2800" dirty="0"/>
              <a:t> já vem embutido no JDK desde as versões mais recentes do Java 6, enquanto o </a:t>
            </a:r>
            <a:r>
              <a:rPr lang="pt-BR" sz="2800" b="1" dirty="0" err="1"/>
              <a:t>FlatLaf</a:t>
            </a:r>
            <a:r>
              <a:rPr lang="pt-BR" sz="2800" dirty="0"/>
              <a:t> é uma biblioteca externa, atualmente a favorita da comunidade por ser extremamente moderna (estilo Flat Design).</a:t>
            </a:r>
          </a:p>
        </p:txBody>
      </p:sp>
      <p:pic>
        <p:nvPicPr>
          <p:cNvPr id="4" name="Imagem 3">
            <a:extLst>
              <a:ext uri="{FF2B5EF4-FFF2-40B4-BE49-F238E27FC236}">
                <a16:creationId xmlns:a16="http://schemas.microsoft.com/office/drawing/2014/main" id="{690B2AC1-0444-7E09-D8A2-9BF4E2AB2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C7D494BA-65FD-2579-8C49-B2F9AB0B0A63}"/>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Temas como </a:t>
            </a:r>
            <a:r>
              <a:rPr lang="pt-BR" b="1" i="1" dirty="0" err="1"/>
              <a:t>FlatLaf</a:t>
            </a:r>
            <a:r>
              <a:rPr lang="pt-BR" b="1" dirty="0"/>
              <a:t> ou </a:t>
            </a:r>
            <a:r>
              <a:rPr lang="pt-BR" b="1" i="1" dirty="0" err="1"/>
              <a:t>Nimbus</a:t>
            </a:r>
            <a:r>
              <a:rPr lang="pt-BR" b="1" dirty="0"/>
              <a:t> </a:t>
            </a:r>
            <a:endParaRPr lang="pt-BR" b="1" dirty="0">
              <a:solidFill>
                <a:srgbClr val="FFFF00"/>
              </a:solidFill>
            </a:endParaRPr>
          </a:p>
        </p:txBody>
      </p:sp>
    </p:spTree>
    <p:extLst>
      <p:ext uri="{BB962C8B-B14F-4D97-AF65-F5344CB8AC3E}">
        <p14:creationId xmlns:p14="http://schemas.microsoft.com/office/powerpoint/2010/main" val="3751029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F53FE-8E11-7D62-8C8C-E8122C401813}"/>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86D7DCCC-4E7D-079A-F4FB-7E39B4DDFDBD}"/>
              </a:ext>
            </a:extLst>
          </p:cNvPr>
          <p:cNvSpPr txBox="1">
            <a:spLocks noChangeArrowheads="1"/>
          </p:cNvSpPr>
          <p:nvPr/>
        </p:nvSpPr>
        <p:spPr bwMode="auto">
          <a:xfrm>
            <a:off x="518292" y="1381300"/>
            <a:ext cx="1089977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Como o </a:t>
            </a:r>
            <a:r>
              <a:rPr lang="pt-BR" sz="2800" dirty="0" err="1"/>
              <a:t>Nimbus</a:t>
            </a:r>
            <a:r>
              <a:rPr lang="pt-BR" sz="2800" dirty="0"/>
              <a:t> já faz parte do Java, você não precisa baixar arquivos externos. Basta dizer ao </a:t>
            </a:r>
            <a:r>
              <a:rPr lang="pt-BR" sz="2800" dirty="0" err="1"/>
              <a:t>UIManager</a:t>
            </a:r>
            <a:r>
              <a:rPr lang="pt-BR" sz="2800" dirty="0"/>
              <a:t> para encontrá-lo e ativá-lo.</a:t>
            </a:r>
          </a:p>
        </p:txBody>
      </p:sp>
      <p:pic>
        <p:nvPicPr>
          <p:cNvPr id="4" name="Imagem 3">
            <a:extLst>
              <a:ext uri="{FF2B5EF4-FFF2-40B4-BE49-F238E27FC236}">
                <a16:creationId xmlns:a16="http://schemas.microsoft.com/office/drawing/2014/main" id="{0B8F2A81-B6F9-F6EA-75E7-B1A76D262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2AE7C58E-9250-977E-C7B1-CCA9A01605CC}"/>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i="1" dirty="0" err="1"/>
              <a:t>Nimbus</a:t>
            </a:r>
            <a:r>
              <a:rPr lang="pt-BR" b="1" dirty="0"/>
              <a:t> </a:t>
            </a:r>
            <a:endParaRPr lang="pt-BR" b="1" dirty="0">
              <a:solidFill>
                <a:srgbClr val="FFFF00"/>
              </a:solidFill>
            </a:endParaRPr>
          </a:p>
        </p:txBody>
      </p:sp>
      <p:pic>
        <p:nvPicPr>
          <p:cNvPr id="7" name="Imagem 6">
            <a:extLst>
              <a:ext uri="{FF2B5EF4-FFF2-40B4-BE49-F238E27FC236}">
                <a16:creationId xmlns:a16="http://schemas.microsoft.com/office/drawing/2014/main" id="{C36E18A7-C346-8D2A-5055-D990F68794A7}"/>
              </a:ext>
            </a:extLst>
          </p:cNvPr>
          <p:cNvPicPr>
            <a:picLocks noChangeAspect="1"/>
          </p:cNvPicPr>
          <p:nvPr/>
        </p:nvPicPr>
        <p:blipFill>
          <a:blip r:embed="rId3"/>
          <a:stretch>
            <a:fillRect/>
          </a:stretch>
        </p:blipFill>
        <p:spPr>
          <a:xfrm>
            <a:off x="1359703" y="2787561"/>
            <a:ext cx="9908065" cy="3052906"/>
          </a:xfrm>
          <a:prstGeom prst="rect">
            <a:avLst/>
          </a:prstGeom>
        </p:spPr>
      </p:pic>
      <p:sp>
        <p:nvSpPr>
          <p:cNvPr id="9" name="CaixaDeTexto 8">
            <a:extLst>
              <a:ext uri="{FF2B5EF4-FFF2-40B4-BE49-F238E27FC236}">
                <a16:creationId xmlns:a16="http://schemas.microsoft.com/office/drawing/2014/main" id="{E7A902E2-2BF4-6E59-AB03-B819051B41F9}"/>
              </a:ext>
            </a:extLst>
          </p:cNvPr>
          <p:cNvSpPr txBox="1"/>
          <p:nvPr/>
        </p:nvSpPr>
        <p:spPr>
          <a:xfrm>
            <a:off x="314632" y="5969480"/>
            <a:ext cx="7737988" cy="83099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r>
              <a:rPr lang="pt-BR" sz="2400" dirty="0"/>
              <a:t>O código deve ser colocado dentro do seu método </a:t>
            </a:r>
            <a:r>
              <a:rPr lang="pt-BR" sz="2400" dirty="0" err="1"/>
              <a:t>main</a:t>
            </a:r>
            <a:r>
              <a:rPr lang="pt-BR" sz="2400" dirty="0"/>
              <a:t>, </a:t>
            </a:r>
            <a:r>
              <a:rPr lang="pt-BR" sz="2400" b="1" dirty="0"/>
              <a:t>antes</a:t>
            </a:r>
            <a:r>
              <a:rPr lang="pt-BR" sz="2400" dirty="0"/>
              <a:t> de instanciar o seu </a:t>
            </a:r>
            <a:r>
              <a:rPr lang="pt-BR" sz="2400" dirty="0" err="1"/>
              <a:t>JFrame</a:t>
            </a:r>
            <a:endParaRPr lang="pt-BR" sz="2400" dirty="0"/>
          </a:p>
        </p:txBody>
      </p:sp>
    </p:spTree>
    <p:extLst>
      <p:ext uri="{BB962C8B-B14F-4D97-AF65-F5344CB8AC3E}">
        <p14:creationId xmlns:p14="http://schemas.microsoft.com/office/powerpoint/2010/main" val="2136588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E8EA6-4AB2-6543-9315-C9C804861917}"/>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7785284D-CC44-9663-00CB-1A9997D77CCA}"/>
              </a:ext>
            </a:extLst>
          </p:cNvPr>
          <p:cNvSpPr txBox="1">
            <a:spLocks noChangeArrowheads="1"/>
          </p:cNvSpPr>
          <p:nvPr/>
        </p:nvSpPr>
        <p:spPr bwMode="auto">
          <a:xfrm>
            <a:off x="518292" y="1381300"/>
            <a:ext cx="1089977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O </a:t>
            </a:r>
            <a:r>
              <a:rPr lang="pt-BR" sz="2800" b="1" dirty="0" err="1"/>
              <a:t>FlatLaf</a:t>
            </a:r>
            <a:r>
              <a:rPr lang="pt-BR" sz="2800" dirty="0"/>
              <a:t> é o que há de melhor para Swing hoje. Ele suporta temas </a:t>
            </a:r>
            <a:r>
              <a:rPr lang="pt-BR" sz="2800" i="1" dirty="0"/>
              <a:t>Light</a:t>
            </a:r>
            <a:r>
              <a:rPr lang="pt-BR" sz="2800" dirty="0"/>
              <a:t>, </a:t>
            </a:r>
            <a:r>
              <a:rPr lang="pt-BR" sz="2800" i="1" dirty="0" err="1"/>
              <a:t>Dark</a:t>
            </a:r>
            <a:r>
              <a:rPr lang="pt-BR" sz="2800" dirty="0"/>
              <a:t>, </a:t>
            </a:r>
            <a:r>
              <a:rPr lang="pt-BR" sz="2800" i="1" dirty="0" err="1"/>
              <a:t>IntelliJ</a:t>
            </a:r>
            <a:r>
              <a:rPr lang="pt-BR" sz="2800" dirty="0"/>
              <a:t> e </a:t>
            </a:r>
            <a:r>
              <a:rPr lang="pt-BR" sz="2800" i="1" dirty="0" err="1"/>
              <a:t>Darcula</a:t>
            </a:r>
            <a:r>
              <a:rPr lang="pt-BR" sz="2800" dirty="0"/>
              <a:t>.</a:t>
            </a:r>
          </a:p>
        </p:txBody>
      </p:sp>
      <p:pic>
        <p:nvPicPr>
          <p:cNvPr id="4" name="Imagem 3">
            <a:extLst>
              <a:ext uri="{FF2B5EF4-FFF2-40B4-BE49-F238E27FC236}">
                <a16:creationId xmlns:a16="http://schemas.microsoft.com/office/drawing/2014/main" id="{AA23881E-59AF-0028-A745-6818AC1FB0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873" y="6070493"/>
            <a:ext cx="3017866" cy="684465"/>
          </a:xfrm>
          <a:prstGeom prst="rect">
            <a:avLst/>
          </a:prstGeom>
        </p:spPr>
      </p:pic>
      <p:sp>
        <p:nvSpPr>
          <p:cNvPr id="5" name="Título 1">
            <a:extLst>
              <a:ext uri="{FF2B5EF4-FFF2-40B4-BE49-F238E27FC236}">
                <a16:creationId xmlns:a16="http://schemas.microsoft.com/office/drawing/2014/main" id="{817533F7-5E24-873D-2853-937AEF538D40}"/>
              </a:ext>
            </a:extLst>
          </p:cNvPr>
          <p:cNvSpPr txBox="1">
            <a:spLocks/>
          </p:cNvSpPr>
          <p:nvPr/>
        </p:nvSpPr>
        <p:spPr>
          <a:xfrm>
            <a:off x="646110" y="452718"/>
            <a:ext cx="9756419"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Usando o </a:t>
            </a:r>
            <a:r>
              <a:rPr lang="pt-BR" b="1" dirty="0" err="1"/>
              <a:t>FlatLaf</a:t>
            </a:r>
            <a:r>
              <a:rPr lang="pt-BR" b="1" dirty="0"/>
              <a:t> (Recomendado)</a:t>
            </a:r>
            <a:endParaRPr lang="pt-BR" b="1" dirty="0">
              <a:solidFill>
                <a:srgbClr val="FFFF00"/>
              </a:solidFill>
            </a:endParaRPr>
          </a:p>
        </p:txBody>
      </p:sp>
      <p:pic>
        <p:nvPicPr>
          <p:cNvPr id="3" name="Imagem 2">
            <a:extLst>
              <a:ext uri="{FF2B5EF4-FFF2-40B4-BE49-F238E27FC236}">
                <a16:creationId xmlns:a16="http://schemas.microsoft.com/office/drawing/2014/main" id="{77141DCE-9410-22C7-E5A5-5CEBB762264A}"/>
              </a:ext>
            </a:extLst>
          </p:cNvPr>
          <p:cNvPicPr>
            <a:picLocks noChangeAspect="1"/>
          </p:cNvPicPr>
          <p:nvPr/>
        </p:nvPicPr>
        <p:blipFill>
          <a:blip r:embed="rId3"/>
          <a:stretch>
            <a:fillRect/>
          </a:stretch>
        </p:blipFill>
        <p:spPr>
          <a:xfrm>
            <a:off x="985586" y="2537990"/>
            <a:ext cx="10220828" cy="3146822"/>
          </a:xfrm>
          <a:prstGeom prst="rect">
            <a:avLst/>
          </a:prstGeom>
        </p:spPr>
      </p:pic>
      <p:sp>
        <p:nvSpPr>
          <p:cNvPr id="6" name="CaixaDeTexto 5">
            <a:extLst>
              <a:ext uri="{FF2B5EF4-FFF2-40B4-BE49-F238E27FC236}">
                <a16:creationId xmlns:a16="http://schemas.microsoft.com/office/drawing/2014/main" id="{0A4348A5-DF56-D6AB-07E3-AE6EF9FA19F7}"/>
              </a:ext>
            </a:extLst>
          </p:cNvPr>
          <p:cNvSpPr txBox="1"/>
          <p:nvPr/>
        </p:nvSpPr>
        <p:spPr>
          <a:xfrm>
            <a:off x="314632" y="5969480"/>
            <a:ext cx="7737988" cy="46166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r>
              <a:rPr lang="pt-BR" sz="2400" dirty="0"/>
              <a:t>Lembre-se de baixar o </a:t>
            </a:r>
            <a:r>
              <a:rPr lang="pt-BR" sz="2400" dirty="0" err="1"/>
              <a:t>jar</a:t>
            </a:r>
            <a:r>
              <a:rPr lang="pt-BR" sz="2400" dirty="0"/>
              <a:t> (flatlaf-3.7.1.jar)</a:t>
            </a:r>
          </a:p>
        </p:txBody>
      </p:sp>
    </p:spTree>
    <p:extLst>
      <p:ext uri="{BB962C8B-B14F-4D97-AF65-F5344CB8AC3E}">
        <p14:creationId xmlns:p14="http://schemas.microsoft.com/office/powerpoint/2010/main" val="915108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3DE2-011F-EE70-C03D-1EB44B2FD0E7}"/>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B04BEC55-E8C4-2BAA-06FC-DFEAE7475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0"/>
            <a:ext cx="12573000" cy="6858000"/>
          </a:xfrm>
          <a:prstGeom prst="rect">
            <a:avLst/>
          </a:prstGeom>
        </p:spPr>
      </p:pic>
    </p:spTree>
    <p:extLst>
      <p:ext uri="{BB962C8B-B14F-4D97-AF65-F5344CB8AC3E}">
        <p14:creationId xmlns:p14="http://schemas.microsoft.com/office/powerpoint/2010/main" val="9188907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Í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2039</TotalTime>
  <Words>1604</Words>
  <Application>Microsoft Office PowerPoint</Application>
  <PresentationFormat>Widescreen</PresentationFormat>
  <Paragraphs>118</Paragraphs>
  <Slides>37</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37</vt:i4>
      </vt:variant>
    </vt:vector>
  </HeadingPairs>
  <TitlesOfParts>
    <vt:vector size="44" baseType="lpstr">
      <vt:lpstr>Aptos</vt:lpstr>
      <vt:lpstr>Arial</vt:lpstr>
      <vt:lpstr>Century Gothic</vt:lpstr>
      <vt:lpstr>Courier New</vt:lpstr>
      <vt:lpstr>Google Sans</vt:lpstr>
      <vt:lpstr>Wingdings 3</vt:lpstr>
      <vt:lpstr>Íon</vt:lpstr>
      <vt:lpstr>Apresentação do PowerPoint</vt:lpstr>
      <vt:lpstr>Apresentação do PowerPoint</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Diálogos: interagindo com usuário</vt:lpstr>
      <vt:lpstr>AWT vs. Swing: A Evolução da Interface</vt:lpstr>
      <vt:lpstr>AWT vs. Swing: A Evolução da Interface</vt:lpstr>
      <vt:lpstr>AWT vs. Swing: A Evolução da Interface</vt:lpstr>
      <vt:lpstr>Swing</vt:lpstr>
      <vt:lpstr>Componentes Elementares</vt:lpstr>
      <vt:lpstr>Layout - Gerenciamento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PAULO CESAR B. DA SILVA</dc:creator>
  <cp:lastModifiedBy>PAULO CESAR B. DA SILVA</cp:lastModifiedBy>
  <cp:revision>57</cp:revision>
  <dcterms:created xsi:type="dcterms:W3CDTF">2026-05-09T23:28:48Z</dcterms:created>
  <dcterms:modified xsi:type="dcterms:W3CDTF">2026-05-13T21:52:03Z</dcterms:modified>
</cp:coreProperties>
</file>