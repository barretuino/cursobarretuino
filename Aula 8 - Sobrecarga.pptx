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9" r:id="rId4"/>
    <p:sldId id="668" r:id="rId5"/>
    <p:sldId id="669" r:id="rId6"/>
    <p:sldId id="671" r:id="rId7"/>
    <p:sldId id="670" r:id="rId8"/>
    <p:sldId id="672" r:id="rId9"/>
    <p:sldId id="673" r:id="rId10"/>
    <p:sldId id="674" r:id="rId11"/>
    <p:sldId id="6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06" y="5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AC97C-5B33-4781-812F-662DF630EBC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341F5-7495-47E1-9545-033FF0448F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3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7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6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1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0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3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90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7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0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10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2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5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B53827-0705-E714-6193-8D30E152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8BC53-1D92-2AFC-631B-5986D255097B}"/>
              </a:ext>
            </a:extLst>
          </p:cNvPr>
          <p:cNvSpPr txBox="1"/>
          <p:nvPr/>
        </p:nvSpPr>
        <p:spPr>
          <a:xfrm>
            <a:off x="4751690" y="1266958"/>
            <a:ext cx="7458645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Sobrecarga</a:t>
            </a:r>
            <a:endParaRPr lang="en-US" sz="7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m 1" descr="Java - ícones de logotipo grátis">
            <a:extLst>
              <a:ext uri="{FF2B5EF4-FFF2-40B4-BE49-F238E27FC236}">
                <a16:creationId xmlns:a16="http://schemas.microsoft.com/office/drawing/2014/main" id="{73B0CD15-B44E-4315-4DF4-F7B46587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04" y="1691120"/>
            <a:ext cx="3566680" cy="35666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E62C90-F960-52A5-4225-9D5977F8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B982-FC15-4D85-5175-36591210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B1CD2-2C42-7171-FDE6-B3951563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O Conceito de Sobrecarga (</a:t>
            </a:r>
            <a:r>
              <a:rPr lang="pt-BR" b="1" i="1" dirty="0" err="1"/>
              <a:t>Overloading</a:t>
            </a:r>
            <a:r>
              <a:rPr lang="pt-BR" b="1" dirty="0"/>
              <a:t>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F10BD0-99B4-052A-B6F3-61DACA77C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F3A9AC-944C-8F8E-F54B-5EB65400C768}"/>
              </a:ext>
            </a:extLst>
          </p:cNvPr>
          <p:cNvSpPr txBox="1"/>
          <p:nvPr/>
        </p:nvSpPr>
        <p:spPr>
          <a:xfrm>
            <a:off x="646112" y="2021901"/>
            <a:ext cx="10845515" cy="246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653"/>
              </a:spcBef>
            </a:pPr>
            <a:r>
              <a:rPr lang="pt-BR" sz="2800" dirty="0"/>
              <a:t>A sobrecarga permite que uma classe tenha vários métodos com o </a:t>
            </a:r>
            <a:r>
              <a:rPr lang="pt-BR" sz="2800" b="1" dirty="0"/>
              <a:t>mesmo nome</a:t>
            </a:r>
            <a:r>
              <a:rPr lang="pt-BR" sz="2800" dirty="0"/>
              <a:t>, desde que suas </a:t>
            </a:r>
            <a:r>
              <a:rPr lang="pt-BR" sz="2800" b="1" dirty="0"/>
              <a:t>listas de parâmetros sejam diferentes</a:t>
            </a:r>
            <a:r>
              <a:rPr lang="pt-BR" sz="2800" dirty="0"/>
              <a:t>. </a:t>
            </a:r>
          </a:p>
          <a:p>
            <a:pPr algn="just">
              <a:spcBef>
                <a:spcPts val="1653"/>
              </a:spcBef>
            </a:pPr>
            <a:r>
              <a:rPr lang="pt-BR" sz="2800" dirty="0"/>
              <a:t>É como se tivéssemos várias versões da mesma ação, adaptadas para diferentes situações ou tipos de dados.</a:t>
            </a:r>
            <a:endParaRPr lang="pt-BR" altLang="pt-BR" sz="2800" dirty="0"/>
          </a:p>
        </p:txBody>
      </p:sp>
    </p:spTree>
    <p:extLst>
      <p:ext uri="{BB962C8B-B14F-4D97-AF65-F5344CB8AC3E}">
        <p14:creationId xmlns:p14="http://schemas.microsoft.com/office/powerpoint/2010/main" val="73093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3E586-2245-79E3-A47C-6746D04A1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C71CCC-F720-19A0-643C-69D36E85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Conceito de Polimorfismo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555D883-CA03-A04B-FA90-D453604C1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5CBF732-4432-1F60-3E2D-D7E1628A8227}"/>
              </a:ext>
            </a:extLst>
          </p:cNvPr>
          <p:cNvSpPr txBox="1"/>
          <p:nvPr/>
        </p:nvSpPr>
        <p:spPr>
          <a:xfrm>
            <a:off x="238991" y="1440010"/>
            <a:ext cx="1107599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spcBef>
                <a:spcPct val="50000"/>
              </a:spcBef>
            </a:pPr>
            <a:r>
              <a:rPr lang="pt-BR" altLang="pt-BR" sz="2800" b="1" dirty="0"/>
              <a:t>Polimorfismo</a:t>
            </a:r>
            <a:r>
              <a:rPr lang="pt-BR" altLang="pt-BR" sz="2800" dirty="0"/>
              <a:t>, originário do grego, significa "muitas formas" (poli = muitas, </a:t>
            </a:r>
            <a:r>
              <a:rPr lang="pt-BR" altLang="pt-BR" sz="2800" dirty="0" err="1"/>
              <a:t>morphos</a:t>
            </a:r>
            <a:r>
              <a:rPr lang="pt-BR" altLang="pt-BR" sz="2800" dirty="0"/>
              <a:t> = formas). </a:t>
            </a:r>
          </a:p>
          <a:p>
            <a:pPr lvl="1" algn="just">
              <a:spcBef>
                <a:spcPct val="50000"/>
              </a:spcBef>
            </a:pPr>
            <a:r>
              <a:rPr lang="pt-BR" altLang="pt-BR" sz="2800" dirty="0"/>
              <a:t>Ele permite que referências de tipos de classes mais abstratas representem o comportamento das classes concretas que referenciam. Assim, um mesmo método pode apresentar várias formas, de acordo com seu contexto. </a:t>
            </a:r>
          </a:p>
          <a:p>
            <a:pPr lvl="1" algn="just">
              <a:spcBef>
                <a:spcPct val="50000"/>
              </a:spcBef>
            </a:pPr>
            <a:r>
              <a:rPr lang="pt-BR" altLang="pt-BR" sz="2800" dirty="0"/>
              <a:t>O polimorfismo é importante pois permite que a semântica de uma interface seja efetivamente separada da implementação que a representa. </a:t>
            </a:r>
          </a:p>
        </p:txBody>
      </p:sp>
    </p:spTree>
    <p:extLst>
      <p:ext uri="{BB962C8B-B14F-4D97-AF65-F5344CB8AC3E}">
        <p14:creationId xmlns:p14="http://schemas.microsoft.com/office/powerpoint/2010/main" val="2617148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9B0BA-D0B9-338D-4257-F6FC43FD0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48A5A4-C276-1836-9F74-CFE86669A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Analogia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28A0BFA-5120-1A47-CC1F-CB0D67612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7779086-091D-4AEB-0EA0-C70E643394EF}"/>
              </a:ext>
            </a:extLst>
          </p:cNvPr>
          <p:cNvSpPr txBox="1"/>
          <p:nvPr/>
        </p:nvSpPr>
        <p:spPr>
          <a:xfrm>
            <a:off x="540327" y="1440010"/>
            <a:ext cx="1077465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Pense no comando "Abrir":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Você "abre" uma </a:t>
            </a:r>
            <a:r>
              <a:rPr lang="pt-BR" sz="2800" b="1" dirty="0"/>
              <a:t>porta</a:t>
            </a:r>
            <a:r>
              <a:rPr lang="pt-BR" sz="2800" dirty="0"/>
              <a:t> (ação física).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Você "abre" um </a:t>
            </a:r>
            <a:r>
              <a:rPr lang="pt-BR" sz="2800" b="1" dirty="0"/>
              <a:t>arquivo</a:t>
            </a:r>
            <a:r>
              <a:rPr lang="pt-BR" sz="2800" dirty="0"/>
              <a:t> (ação digital).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Você "abre" uma </a:t>
            </a:r>
            <a:r>
              <a:rPr lang="pt-BR" sz="2800" b="1" dirty="0"/>
              <a:t>conta bancária</a:t>
            </a:r>
            <a:r>
              <a:rPr lang="pt-BR" sz="2800" dirty="0"/>
              <a:t> (ação burocrática).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O nome da ação é o mesmo, mas o que você fornece para a ação (porta, arquivo ou conta) define como o processo será executado.</a:t>
            </a:r>
          </a:p>
        </p:txBody>
      </p:sp>
    </p:spTree>
    <p:extLst>
      <p:ext uri="{BB962C8B-B14F-4D97-AF65-F5344CB8AC3E}">
        <p14:creationId xmlns:p14="http://schemas.microsoft.com/office/powerpoint/2010/main" val="2057585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5152B-4EC1-2DA3-8A70-A74E79EE5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E2F2D-99D2-A0C6-6FEC-3BA117500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A ‘Regra de Ouro’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6D05CFB-4AC8-A1A1-FE14-631B9554A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738A155-A62A-5927-97A1-17DA66831C8D}"/>
              </a:ext>
            </a:extLst>
          </p:cNvPr>
          <p:cNvSpPr txBox="1"/>
          <p:nvPr/>
        </p:nvSpPr>
        <p:spPr>
          <a:xfrm>
            <a:off x="540327" y="1440010"/>
            <a:ext cx="107746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Para o Java diferenciar um método do outro, a </a:t>
            </a:r>
            <a:r>
              <a:rPr lang="pt-BR" sz="2800" b="1" dirty="0">
                <a:solidFill>
                  <a:srgbClr val="FFFF00"/>
                </a:solidFill>
              </a:rPr>
              <a:t>Assinatura do Método</a:t>
            </a:r>
            <a:r>
              <a:rPr lang="pt-BR" sz="2800" dirty="0"/>
              <a:t> deve mudar. O compilador verifica: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B2AD2F0-7404-4BC4-B558-0317701D1C6C}"/>
              </a:ext>
            </a:extLst>
          </p:cNvPr>
          <p:cNvSpPr txBox="1"/>
          <p:nvPr/>
        </p:nvSpPr>
        <p:spPr>
          <a:xfrm>
            <a:off x="540327" y="2427287"/>
            <a:ext cx="1077465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spcBef>
                <a:spcPts val="600"/>
              </a:spcBef>
              <a:buFont typeface="+mj-lt"/>
              <a:buAutoNum type="arabicPeriod"/>
            </a:pPr>
            <a:r>
              <a:rPr lang="pt-BR" sz="2400" b="1" dirty="0"/>
              <a:t> A quantidade de parâmetros:</a:t>
            </a:r>
            <a:r>
              <a:rPr lang="pt-BR" sz="2400" dirty="0"/>
              <a:t> (</a:t>
            </a:r>
            <a:r>
              <a:rPr lang="pt-BR" sz="2400" dirty="0" err="1"/>
              <a:t>ex</a:t>
            </a:r>
            <a:r>
              <a:rPr lang="pt-BR" sz="2400" dirty="0"/>
              <a:t>: um método com 2 parâmetros e outro com 3).</a:t>
            </a:r>
          </a:p>
          <a:p>
            <a:pPr lvl="1" algn="just">
              <a:spcBef>
                <a:spcPts val="600"/>
              </a:spcBef>
              <a:buFont typeface="+mj-lt"/>
              <a:buAutoNum type="arabicPeriod"/>
            </a:pPr>
            <a:r>
              <a:rPr lang="pt-BR" sz="2400" b="1" dirty="0"/>
              <a:t> O tipo dos parâmetros:</a:t>
            </a:r>
            <a:r>
              <a:rPr lang="pt-BR" sz="2400" dirty="0"/>
              <a:t> (</a:t>
            </a:r>
            <a:r>
              <a:rPr lang="pt-BR" sz="2400" dirty="0" err="1"/>
              <a:t>ex</a:t>
            </a:r>
            <a:r>
              <a:rPr lang="pt-BR" sz="2400" dirty="0"/>
              <a:t>: um método que recebe </a:t>
            </a:r>
            <a:r>
              <a:rPr lang="pt-BR" sz="2400" dirty="0" err="1">
                <a:latin typeface="Courier New" panose="02070309020205020404" pitchFamily="49" charset="0"/>
              </a:rPr>
              <a:t>int</a:t>
            </a:r>
            <a:r>
              <a:rPr lang="pt-BR" sz="2400" dirty="0"/>
              <a:t> e outro que recebe </a:t>
            </a:r>
            <a:r>
              <a:rPr lang="pt-BR" sz="2400" dirty="0" err="1">
                <a:latin typeface="Courier New" panose="02070309020205020404" pitchFamily="49" charset="0"/>
              </a:rPr>
              <a:t>String</a:t>
            </a:r>
            <a:r>
              <a:rPr lang="pt-BR" sz="2400" dirty="0"/>
              <a:t>).</a:t>
            </a:r>
          </a:p>
          <a:p>
            <a:pPr lvl="1" algn="just">
              <a:spcBef>
                <a:spcPts val="600"/>
              </a:spcBef>
              <a:buFont typeface="+mj-lt"/>
              <a:buAutoNum type="arabicPeriod"/>
            </a:pPr>
            <a:r>
              <a:rPr lang="pt-BR" sz="2400" b="1" dirty="0"/>
              <a:t> A ordem dos parâmetros:</a:t>
            </a:r>
            <a:r>
              <a:rPr lang="pt-BR" sz="2400" dirty="0"/>
              <a:t> (</a:t>
            </a:r>
            <a:r>
              <a:rPr lang="pt-BR" sz="2400" dirty="0" err="1"/>
              <a:t>ex</a:t>
            </a:r>
            <a:r>
              <a:rPr lang="pt-BR" sz="2400" dirty="0"/>
              <a:t>: </a:t>
            </a:r>
            <a:r>
              <a:rPr lang="pt-BR" sz="2400" dirty="0">
                <a:latin typeface="Courier New" panose="02070309020205020404" pitchFamily="49" charset="0"/>
              </a:rPr>
              <a:t>(</a:t>
            </a:r>
            <a:r>
              <a:rPr lang="pt-BR" sz="2400" dirty="0" err="1">
                <a:latin typeface="Courier New" panose="02070309020205020404" pitchFamily="49" charset="0"/>
              </a:rPr>
              <a:t>int</a:t>
            </a:r>
            <a:r>
              <a:rPr lang="pt-BR" sz="2400" dirty="0">
                <a:latin typeface="Courier New" panose="02070309020205020404" pitchFamily="49" charset="0"/>
              </a:rPr>
              <a:t>, </a:t>
            </a:r>
            <a:r>
              <a:rPr lang="pt-BR" sz="2400" dirty="0" err="1">
                <a:latin typeface="Courier New" panose="02070309020205020404" pitchFamily="49" charset="0"/>
              </a:rPr>
              <a:t>String</a:t>
            </a:r>
            <a:r>
              <a:rPr lang="pt-BR" sz="2400" dirty="0">
                <a:latin typeface="Courier New" panose="02070309020205020404" pitchFamily="49" charset="0"/>
              </a:rPr>
              <a:t>)</a:t>
            </a:r>
            <a:r>
              <a:rPr lang="pt-BR" sz="2400" dirty="0"/>
              <a:t> é diferente de </a:t>
            </a:r>
            <a:r>
              <a:rPr lang="pt-BR" sz="2400" dirty="0">
                <a:latin typeface="Courier New" panose="02070309020205020404" pitchFamily="49" charset="0"/>
              </a:rPr>
              <a:t>(</a:t>
            </a:r>
            <a:r>
              <a:rPr lang="pt-BR" sz="2400" dirty="0" err="1">
                <a:latin typeface="Courier New" panose="02070309020205020404" pitchFamily="49" charset="0"/>
              </a:rPr>
              <a:t>String</a:t>
            </a:r>
            <a:r>
              <a:rPr lang="pt-BR" sz="2400" dirty="0">
                <a:latin typeface="Courier New" panose="02070309020205020404" pitchFamily="49" charset="0"/>
              </a:rPr>
              <a:t>, </a:t>
            </a:r>
            <a:r>
              <a:rPr lang="pt-BR" sz="2400" dirty="0" err="1">
                <a:latin typeface="Courier New" panose="02070309020205020404" pitchFamily="49" charset="0"/>
              </a:rPr>
              <a:t>int</a:t>
            </a:r>
            <a:r>
              <a:rPr lang="pt-BR" sz="2400" dirty="0">
                <a:latin typeface="Courier New" panose="02070309020205020404" pitchFamily="49" charset="0"/>
              </a:rPr>
              <a:t>)</a:t>
            </a:r>
            <a:r>
              <a:rPr lang="pt-BR" sz="2400" dirty="0"/>
              <a:t>).</a:t>
            </a:r>
          </a:p>
          <a:p>
            <a:pPr lvl="1" algn="just">
              <a:spcBef>
                <a:spcPts val="600"/>
              </a:spcBef>
            </a:pPr>
            <a:endParaRPr lang="pt-BR" sz="2400" dirty="0"/>
          </a:p>
          <a:p>
            <a:pPr algn="just">
              <a:spcBef>
                <a:spcPts val="600"/>
              </a:spcBef>
              <a:buNone/>
            </a:pPr>
            <a:r>
              <a:rPr lang="pt-BR" sz="2400" b="1" dirty="0">
                <a:solidFill>
                  <a:srgbClr val="FFFF00"/>
                </a:solidFill>
              </a:rPr>
              <a:t>Atenção</a:t>
            </a:r>
            <a:r>
              <a:rPr lang="pt-BR" sz="2400" b="1" dirty="0"/>
              <a:t>:</a:t>
            </a:r>
            <a:r>
              <a:rPr lang="pt-BR" sz="2400" dirty="0"/>
              <a:t> Mudar apenas o </a:t>
            </a:r>
            <a:r>
              <a:rPr lang="pt-BR" sz="2400" b="1" dirty="0"/>
              <a:t>tipo de retorno</a:t>
            </a:r>
            <a:r>
              <a:rPr lang="pt-BR" sz="2400" dirty="0"/>
              <a:t> (</a:t>
            </a:r>
            <a:r>
              <a:rPr lang="pt-BR" sz="2400" dirty="0" err="1"/>
              <a:t>ex</a:t>
            </a:r>
            <a:r>
              <a:rPr lang="pt-BR" sz="2400" dirty="0"/>
              <a:t>: mudar de </a:t>
            </a:r>
            <a:r>
              <a:rPr lang="pt-BR" sz="2400" dirty="0" err="1">
                <a:latin typeface="Courier New" panose="02070309020205020404" pitchFamily="49" charset="0"/>
              </a:rPr>
              <a:t>void</a:t>
            </a:r>
            <a:r>
              <a:rPr lang="pt-BR" sz="2400" dirty="0"/>
              <a:t> para </a:t>
            </a:r>
            <a:r>
              <a:rPr lang="pt-BR" sz="2400" dirty="0" err="1">
                <a:latin typeface="Courier New" panose="02070309020205020404" pitchFamily="49" charset="0"/>
              </a:rPr>
              <a:t>int</a:t>
            </a:r>
            <a:r>
              <a:rPr lang="pt-BR" sz="2400" dirty="0"/>
              <a:t>) não é suficiente para caracterizar uma sobrecarga e causará erro de compilação.</a:t>
            </a:r>
          </a:p>
        </p:txBody>
      </p:sp>
    </p:spTree>
    <p:extLst>
      <p:ext uri="{BB962C8B-B14F-4D97-AF65-F5344CB8AC3E}">
        <p14:creationId xmlns:p14="http://schemas.microsoft.com/office/powerpoint/2010/main" val="226789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CC821-0950-C712-655F-A59506D45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168753-6ECE-3D35-7944-7330785B9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Assinatura do Método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6F98EF1-89EC-B89C-D7F9-2EFD25F66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3CDB534-11AE-348C-0B92-0D72967C5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178" y="1345563"/>
            <a:ext cx="8383170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715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090E0-8871-3C41-0150-C09F5DFF2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4887F-0E66-337B-AA19-C6B279A8D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Algo Prático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00A88F7-2BCE-1A99-EA66-1BDF39BF5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14A5003-C14A-9782-EBB3-E87D0B08F62B}"/>
              </a:ext>
            </a:extLst>
          </p:cNvPr>
          <p:cNvSpPr txBox="1"/>
          <p:nvPr/>
        </p:nvSpPr>
        <p:spPr>
          <a:xfrm>
            <a:off x="540327" y="1440010"/>
            <a:ext cx="107746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Um excelente exemplo de uso real é a </a:t>
            </a:r>
            <a:r>
              <a:rPr lang="pt-BR" sz="2800" b="1" dirty="0"/>
              <a:t>sobrecarga de construtores</a:t>
            </a:r>
            <a:r>
              <a:rPr lang="pt-BR" sz="2800" dirty="0"/>
              <a:t> em </a:t>
            </a:r>
            <a:r>
              <a:rPr lang="pt-BR" sz="2800" b="1" dirty="0" err="1"/>
              <a:t>JavaBeans</a:t>
            </a:r>
            <a:r>
              <a:rPr lang="pt-BR" sz="2800" dirty="0"/>
              <a:t>.</a:t>
            </a:r>
          </a:p>
          <a:p>
            <a:pPr algn="just"/>
            <a:endParaRPr lang="pt-BR" sz="28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Um construtor padrão (sem argumentos) para atender ao padrão </a:t>
            </a:r>
            <a:r>
              <a:rPr lang="pt-BR" sz="2400" dirty="0" err="1"/>
              <a:t>JavaBeans</a:t>
            </a:r>
            <a:r>
              <a:rPr lang="pt-BR" sz="2400" dirty="0"/>
              <a:t>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Um construtor completo para facilitar a criação rápida de objetos com todos os dados.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Isso demonstra como a sobrecarga torna a API da sua classe muito mais flexível e fácil de usar.</a:t>
            </a:r>
          </a:p>
        </p:txBody>
      </p:sp>
    </p:spTree>
    <p:extLst>
      <p:ext uri="{BB962C8B-B14F-4D97-AF65-F5344CB8AC3E}">
        <p14:creationId xmlns:p14="http://schemas.microsoft.com/office/powerpoint/2010/main" val="2729188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E8561-B9E8-E59A-0139-DA85B3BE8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4C791-4C68-9909-E8F4-37712D709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Algo Prático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63FEEFC-9827-21FF-2288-C282B1AA9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190B28B-050D-D457-5460-23E2F53E58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151" t="13657" r="64553" b="53840"/>
          <a:stretch>
            <a:fillRect/>
          </a:stretch>
        </p:blipFill>
        <p:spPr>
          <a:xfrm>
            <a:off x="646111" y="1417320"/>
            <a:ext cx="4541521" cy="48006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1928E8E-ACA3-45FF-7FEE-0416598AFB55}"/>
              </a:ext>
            </a:extLst>
          </p:cNvPr>
          <p:cNvSpPr txBox="1"/>
          <p:nvPr/>
        </p:nvSpPr>
        <p:spPr>
          <a:xfrm>
            <a:off x="5654039" y="1440010"/>
            <a:ext cx="56609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Observe o método </a:t>
            </a:r>
            <a:r>
              <a:rPr lang="pt-BR" sz="28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calcular</a:t>
            </a:r>
            <a:r>
              <a:rPr lang="pt-BR" sz="2800" dirty="0"/>
              <a:t> da classe </a:t>
            </a:r>
            <a:r>
              <a:rPr lang="pt-BR" sz="28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UnidadeMedida</a:t>
            </a:r>
            <a:r>
              <a:rPr lang="pt-BR" sz="2800" dirty="0"/>
              <a:t>.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Notamos que a assinatura do método é polimórfica.</a:t>
            </a:r>
          </a:p>
        </p:txBody>
      </p:sp>
    </p:spTree>
    <p:extLst>
      <p:ext uri="{BB962C8B-B14F-4D97-AF65-F5344CB8AC3E}">
        <p14:creationId xmlns:p14="http://schemas.microsoft.com/office/powerpoint/2010/main" val="515028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43221-059A-1C9E-B7B8-1B758A62B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F34004-F8DB-AC47-3E0A-DB023A926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Síntese do Conceito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E73D05C-6337-39A2-B06B-459784C93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82B9822-7A64-3349-E230-ECAED3014097}"/>
              </a:ext>
            </a:extLst>
          </p:cNvPr>
          <p:cNvSpPr txBox="1"/>
          <p:nvPr/>
        </p:nvSpPr>
        <p:spPr>
          <a:xfrm>
            <a:off x="646111" y="1440010"/>
            <a:ext cx="1066886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É chamado de </a:t>
            </a:r>
            <a:r>
              <a:rPr lang="pt-BR" sz="2800" b="1" dirty="0"/>
              <a:t>Polimorfismo Estático</a:t>
            </a:r>
            <a:r>
              <a:rPr lang="pt-BR" sz="2800" dirty="0"/>
              <a:t> porque o Java decide qual método chamar no </a:t>
            </a:r>
            <a:r>
              <a:rPr lang="pt-BR" sz="2800" b="1" dirty="0"/>
              <a:t>momento da compilação</a:t>
            </a:r>
            <a:r>
              <a:rPr lang="pt-BR" sz="2800" dirty="0"/>
              <a:t>. 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O compilador olha para os argumentos que você passou e "escolhe" a versão correta do método antes mesmo do programa rodar.</a:t>
            </a:r>
          </a:p>
        </p:txBody>
      </p:sp>
    </p:spTree>
    <p:extLst>
      <p:ext uri="{BB962C8B-B14F-4D97-AF65-F5344CB8AC3E}">
        <p14:creationId xmlns:p14="http://schemas.microsoft.com/office/powerpoint/2010/main" val="839230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3DE2-011F-EE70-C03D-1EB44B2F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4BEC55-E8C4-2BAA-06FC-DFEAE747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90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195</TotalTime>
  <Words>443</Words>
  <Application>Microsoft Office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Aptos</vt:lpstr>
      <vt:lpstr>Arial</vt:lpstr>
      <vt:lpstr>Century Gothic</vt:lpstr>
      <vt:lpstr>Courier New</vt:lpstr>
      <vt:lpstr>Wingdings 3</vt:lpstr>
      <vt:lpstr>Íon</vt:lpstr>
      <vt:lpstr>Apresentação do PowerPoint</vt:lpstr>
      <vt:lpstr>Apresentação do PowerPoint</vt:lpstr>
      <vt:lpstr>O Conceito de Sobrecarga (Overloading)</vt:lpstr>
      <vt:lpstr>Conceito de Polimorfismo</vt:lpstr>
      <vt:lpstr>Analogia</vt:lpstr>
      <vt:lpstr>A ‘Regra de Ouro’</vt:lpstr>
      <vt:lpstr>Assinatura do Método</vt:lpstr>
      <vt:lpstr>Algo Prático</vt:lpstr>
      <vt:lpstr>Algo Prático</vt:lpstr>
      <vt:lpstr>Síntese do Conceito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B. DA SILVA</dc:creator>
  <cp:lastModifiedBy>PAULO CESAR B. DA SILVA</cp:lastModifiedBy>
  <cp:revision>28</cp:revision>
  <dcterms:created xsi:type="dcterms:W3CDTF">2026-05-09T23:28:48Z</dcterms:created>
  <dcterms:modified xsi:type="dcterms:W3CDTF">2026-05-11T13:17:19Z</dcterms:modified>
</cp:coreProperties>
</file>