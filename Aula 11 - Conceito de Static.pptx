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Conceito de </a:t>
            </a:r>
            <a:r>
              <a:rPr lang="pt-BR" sz="72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Static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 err="1"/>
              <a:t>Static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 sz="3200" dirty="0"/>
              <a:t>A palavra-chave </a:t>
            </a:r>
            <a:r>
              <a:rPr lang="pt-BR" altLang="pt-BR" sz="3200" dirty="0" err="1">
                <a:solidFill>
                  <a:srgbClr val="FFFF00"/>
                </a:solidFill>
              </a:rPr>
              <a:t>static</a:t>
            </a:r>
            <a:r>
              <a:rPr lang="pt-BR" altLang="pt-BR" sz="3200" dirty="0"/>
              <a:t>, um dos modificadores mais importantes do Java. Ele define se um membro pertence à classe ou a uma instância específica (objeto).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E59EA-189B-B9E1-AB3F-4179C1DC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3AD81-D784-3375-AF4C-5A97A8CA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Membro de Classe vs. Membro de Instância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96111E6-5AC6-70C3-AA08-4A5E72F15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E5F725A-5A73-F54E-C472-5605492FD032}"/>
              </a:ext>
            </a:extLst>
          </p:cNvPr>
          <p:cNvSpPr txBox="1"/>
          <p:nvPr/>
        </p:nvSpPr>
        <p:spPr>
          <a:xfrm>
            <a:off x="646112" y="1876427"/>
            <a:ext cx="108455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Membro de Instância (Não-</a:t>
            </a:r>
            <a:r>
              <a:rPr lang="pt-BR" sz="3200" b="1" dirty="0" err="1"/>
              <a:t>Static</a:t>
            </a:r>
            <a:r>
              <a:rPr lang="pt-BR" sz="3200" b="1" dirty="0"/>
              <a:t>):</a:t>
            </a:r>
            <a:r>
              <a:rPr lang="pt-BR" sz="3200" dirty="0"/>
              <a:t> São as características de cada casa construída (cor da pintura, quem mora lá). Cada casa tem os seus próprios valores.</a:t>
            </a:r>
          </a:p>
          <a:p>
            <a:pPr algn="just"/>
            <a:r>
              <a:rPr lang="pt-BR" sz="3200" b="1" dirty="0"/>
              <a:t>Membro de Classe (</a:t>
            </a:r>
            <a:r>
              <a:rPr lang="pt-BR" sz="3200" b="1" dirty="0" err="1"/>
              <a:t>Static</a:t>
            </a:r>
            <a:r>
              <a:rPr lang="pt-BR" sz="3200" b="1" dirty="0"/>
              <a:t>):</a:t>
            </a:r>
            <a:r>
              <a:rPr lang="pt-BR" sz="3200" dirty="0"/>
              <a:t> É uma informação no papel do projeto original (nome do arquiteto, metragem padrão). Essa informação é a mesma para todas as casas e existe mesmo antes da primeira casa ser construída.</a:t>
            </a:r>
          </a:p>
        </p:txBody>
      </p:sp>
    </p:spTree>
    <p:extLst>
      <p:ext uri="{BB962C8B-B14F-4D97-AF65-F5344CB8AC3E}">
        <p14:creationId xmlns:p14="http://schemas.microsoft.com/office/powerpoint/2010/main" val="130890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B4D2-E7D8-6940-B4DB-BFF453A6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AC9A1-49A5-3FD1-D1D1-42A813AE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Atributos Estáticos (Variáveis de Classe)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1B2DD0-5FCD-AEE5-813A-D065C1557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14462DD-9EB3-8A88-1A3C-FE1186723DDB}"/>
              </a:ext>
            </a:extLst>
          </p:cNvPr>
          <p:cNvSpPr txBox="1"/>
          <p:nvPr/>
        </p:nvSpPr>
        <p:spPr>
          <a:xfrm>
            <a:off x="646112" y="1876427"/>
            <a:ext cx="108455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/>
              <a:t>Quando declaramos um atributo como </a:t>
            </a:r>
            <a:r>
              <a:rPr lang="pt-BR" sz="30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3000" dirty="0"/>
              <a:t>, o Java cria apenas </a:t>
            </a:r>
            <a:r>
              <a:rPr lang="pt-BR" sz="3000" b="1" dirty="0"/>
              <a:t>uma única cópia</a:t>
            </a:r>
            <a:r>
              <a:rPr lang="pt-BR" sz="3000" dirty="0"/>
              <a:t> dessa variável na memória, que é compartilhada por todos os objetos daquela classe.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Compartilhamento:</a:t>
            </a:r>
            <a:r>
              <a:rPr lang="pt-BR" sz="2800" dirty="0"/>
              <a:t> Se um objeto alterar o valor de uma variável estática, a mudança reflete para todos os outros.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Acesso:</a:t>
            </a:r>
            <a:r>
              <a:rPr lang="pt-BR" sz="2800" dirty="0"/>
              <a:t> Pode ser acessada diretamente pelo nome da classe (</a:t>
            </a:r>
            <a:r>
              <a:rPr lang="pt-BR" sz="2800" dirty="0" err="1"/>
              <a:t>Classe.variavel</a:t>
            </a:r>
            <a:r>
              <a:rPr lang="pt-BR" sz="2800" dirty="0"/>
              <a:t>), sem precisar de </a:t>
            </a:r>
            <a:r>
              <a:rPr lang="pt-BR" sz="2800" b="1" dirty="0">
                <a:solidFill>
                  <a:srgbClr val="00B0F0"/>
                </a:solidFill>
              </a:rPr>
              <a:t>new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77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8B42-CFD7-86E5-8165-89F11608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ED1F9-EBCF-D2F1-D66C-79B50E3B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Métodos Estáticos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47AD3B-8051-F8A0-EC27-370231418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0D42068-7AD8-1F86-9E05-90BB3FA22CB0}"/>
              </a:ext>
            </a:extLst>
          </p:cNvPr>
          <p:cNvSpPr txBox="1"/>
          <p:nvPr/>
        </p:nvSpPr>
        <p:spPr>
          <a:xfrm>
            <a:off x="646112" y="1367268"/>
            <a:ext cx="108455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Métodos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3200" dirty="0"/>
              <a:t> são funções utilitárias que não dependem do estado interno de um objeto para funcionar.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Restrição de Ouro:</a:t>
            </a:r>
            <a:r>
              <a:rPr lang="pt-BR" sz="3200" dirty="0"/>
              <a:t> Um método estático </a:t>
            </a:r>
            <a:r>
              <a:rPr lang="pt-BR" sz="3200" b="1" dirty="0"/>
              <a:t>não pode</a:t>
            </a:r>
            <a:r>
              <a:rPr lang="pt-BR" sz="3200" dirty="0"/>
              <a:t> acessar atributos ou métodos de instância diretamente (não pode usar o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sz="3200" dirty="0"/>
              <a:t>), pois ele pertence à classe e não sabe qual objeto específico estaria chamando.</a:t>
            </a:r>
          </a:p>
        </p:txBody>
      </p:sp>
    </p:spTree>
    <p:extLst>
      <p:ext uri="{BB962C8B-B14F-4D97-AF65-F5344CB8AC3E}">
        <p14:creationId xmlns:p14="http://schemas.microsoft.com/office/powerpoint/2010/main" val="298327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B3A7-4493-C3FD-36D3-931D9C9F3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D52CE-66C0-F1CB-4C76-FCE7C7BB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Métodos Estáticos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829C3F-8AAA-17A1-5AED-2DEDDFA1B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239B414-C590-E5C0-406E-564AC7421DB9}"/>
              </a:ext>
            </a:extLst>
          </p:cNvPr>
          <p:cNvSpPr txBox="1"/>
          <p:nvPr/>
        </p:nvSpPr>
        <p:spPr>
          <a:xfrm>
            <a:off x="646112" y="1367268"/>
            <a:ext cx="108455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Os métodos da classe </a:t>
            </a:r>
            <a:r>
              <a:rPr lang="pt-BR" sz="3200" dirty="0" err="1"/>
              <a:t>Math</a:t>
            </a:r>
            <a:r>
              <a:rPr lang="pt-BR" sz="3200" dirty="0"/>
              <a:t> (como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BR" sz="3200" dirty="0"/>
              <a:t>) ou o próprio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32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A8E73A-4514-7361-4788-186813F9B634}"/>
              </a:ext>
            </a:extLst>
          </p:cNvPr>
          <p:cNvSpPr txBox="1"/>
          <p:nvPr/>
        </p:nvSpPr>
        <p:spPr>
          <a:xfrm>
            <a:off x="719570" y="2936187"/>
            <a:ext cx="108455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Por que o </a:t>
            </a:r>
            <a:r>
              <a:rPr lang="pt-BR" sz="2800" b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main</a:t>
            </a:r>
            <a:r>
              <a:rPr lang="pt-BR" sz="2800" b="1" dirty="0"/>
              <a:t> é estático?</a:t>
            </a:r>
            <a:r>
              <a:rPr lang="pt-BR" sz="2800" dirty="0"/>
              <a:t> </a:t>
            </a:r>
          </a:p>
          <a:p>
            <a:pPr algn="just"/>
            <a:r>
              <a:rPr lang="pt-BR" sz="2800" dirty="0"/>
              <a:t>A JVM precisa iniciar o programa antes de qualquer objeto existir. Se o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main</a:t>
            </a:r>
            <a:r>
              <a:rPr lang="pt-BR" sz="2800" dirty="0"/>
              <a:t> não fosse estático, o Java cairia em um paradoxo: precisaria criar um objeto para rodar o código que cria objetos.</a:t>
            </a:r>
          </a:p>
        </p:txBody>
      </p:sp>
    </p:spTree>
    <p:extLst>
      <p:ext uri="{BB962C8B-B14F-4D97-AF65-F5344CB8AC3E}">
        <p14:creationId xmlns:p14="http://schemas.microsoft.com/office/powerpoint/2010/main" val="397834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AC34-B20A-6949-C28D-BEFB3710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C82A0-E444-BF55-D9FE-B75A06B9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Exemplo cotidiano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B230F4-4C36-8737-BDBE-05E5F8EFC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11E3280-7A11-38F0-3B49-D956CB03311E}"/>
              </a:ext>
            </a:extLst>
          </p:cNvPr>
          <p:cNvSpPr txBox="1"/>
          <p:nvPr/>
        </p:nvSpPr>
        <p:spPr>
          <a:xfrm>
            <a:off x="646112" y="1367268"/>
            <a:ext cx="108455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Às vezes, inicializar uma variável estática exige lógica complexa (como carregar configurações de um banco de dados </a:t>
            </a:r>
            <a:r>
              <a:rPr lang="pt-BR" sz="3200" b="1" dirty="0"/>
              <a:t>MySQL</a:t>
            </a:r>
            <a:r>
              <a:rPr lang="pt-BR" sz="3200" dirty="0"/>
              <a:t> ou preparar drivers de hardware). Para isso, usamos o bloco </a:t>
            </a:r>
            <a:r>
              <a:rPr lang="pt-BR" sz="3200" dirty="0" err="1">
                <a:solidFill>
                  <a:srgbClr val="FFFF00"/>
                </a:solidFill>
              </a:rPr>
              <a:t>static</a:t>
            </a:r>
            <a:r>
              <a:rPr lang="pt-BR" sz="3200" dirty="0"/>
              <a:t>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F78501-4EE8-C919-1EFE-034F1408A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1" y="3517436"/>
            <a:ext cx="8541872" cy="297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03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3BFB-7F59-E513-27B8-B296E584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7EB32-E030-34EB-C1E9-A76F4AE6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Constantes com 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2C19E8-C662-5DEE-7B10-A0A618EA1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FFB446A-B9F9-6B5E-BFF6-CA270397C43A}"/>
              </a:ext>
            </a:extLst>
          </p:cNvPr>
          <p:cNvSpPr txBox="1"/>
          <p:nvPr/>
        </p:nvSpPr>
        <p:spPr>
          <a:xfrm>
            <a:off x="646113" y="1367268"/>
            <a:ext cx="105033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Este é o uso mais comum em ambientes de produção. Combinando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3200" dirty="0"/>
              <a:t> (da classe) e 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pt-BR" sz="3200" dirty="0"/>
              <a:t> (imutável), criamos constantes globais.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Sempre em MAIUSCULAS_COM_UNDERSCORE.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PI = 3.14159;</a:t>
            </a:r>
          </a:p>
        </p:txBody>
      </p:sp>
    </p:spTree>
    <p:extLst>
      <p:ext uri="{BB962C8B-B14F-4D97-AF65-F5344CB8AC3E}">
        <p14:creationId xmlns:p14="http://schemas.microsoft.com/office/powerpoint/2010/main" val="3363045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56DB-13AF-806C-1AA4-6EC4CCA0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49AD0-1353-4991-27A1-9CD19B2E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Considerações Importantes</a:t>
            </a:r>
            <a:endParaRPr lang="pt-BR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0E022C-056E-9824-BF8E-DB0BC770F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696B722-F4DA-9C0F-CFC5-646ECFA6B5FC}"/>
              </a:ext>
            </a:extLst>
          </p:cNvPr>
          <p:cNvSpPr txBox="1"/>
          <p:nvPr/>
        </p:nvSpPr>
        <p:spPr>
          <a:xfrm>
            <a:off x="646111" y="1465119"/>
            <a:ext cx="1064880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Memória:</a:t>
            </a:r>
            <a:r>
              <a:rPr lang="pt-BR" sz="2800" dirty="0"/>
              <a:t> membros estáticos ficam em uma área especial da memória (</a:t>
            </a:r>
            <a:r>
              <a:rPr lang="pt-BR" sz="2800" dirty="0" err="1"/>
              <a:t>Metaspace</a:t>
            </a:r>
            <a:r>
              <a:rPr lang="pt-BR" sz="2800" dirty="0"/>
              <a:t>) e não são limpos pelo Garbage </a:t>
            </a:r>
            <a:r>
              <a:rPr lang="pt-BR" sz="2800" dirty="0" err="1"/>
              <a:t>Collector</a:t>
            </a:r>
            <a:r>
              <a:rPr lang="pt-BR" sz="2800" dirty="0"/>
              <a:t> tão frequentemente quanto os objetos comuns.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Uso em Swing:</a:t>
            </a:r>
            <a:r>
              <a:rPr lang="pt-BR" sz="2800" dirty="0"/>
              <a:t> métodos estáticos são comuns em janelas de diálogo rápidas, como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 			</a:t>
            </a:r>
            <a:r>
              <a:rPr lang="pt-BR" sz="2800" dirty="0" err="1">
                <a:latin typeface="Courier New" panose="02070309020205020404" pitchFamily="49" charset="0"/>
              </a:rPr>
              <a:t>JOptionPane.showMessageDialog</a:t>
            </a:r>
            <a:r>
              <a:rPr lang="pt-BR" sz="2800" dirty="0">
                <a:latin typeface="Courier New" panose="02070309020205020404" pitchFamily="49" charset="0"/>
              </a:rPr>
              <a:t>()</a:t>
            </a:r>
            <a:r>
              <a:rPr lang="pt-BR" sz="2800" dirty="0"/>
              <a:t>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Encapsulamento:</a:t>
            </a:r>
            <a:r>
              <a:rPr lang="pt-BR" sz="2800" dirty="0"/>
              <a:t> Mesmo sendo estáticos, atributos devem ser preferencialmente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private</a:t>
            </a:r>
            <a:r>
              <a:rPr lang="pt-BR" sz="2800" dirty="0"/>
              <a:t> e acessados por </a:t>
            </a:r>
            <a:r>
              <a:rPr lang="pt-BR" sz="2800" dirty="0" err="1"/>
              <a:t>getters</a:t>
            </a:r>
            <a:r>
              <a:rPr lang="pt-BR" sz="2800" dirty="0"/>
              <a:t>/</a:t>
            </a:r>
            <a:r>
              <a:rPr lang="pt-BR" sz="2800" dirty="0" err="1"/>
              <a:t>setters</a:t>
            </a:r>
            <a:r>
              <a:rPr lang="pt-BR" sz="2800" dirty="0"/>
              <a:t> estáticos para manter o padrão </a:t>
            </a:r>
            <a:r>
              <a:rPr lang="pt-BR" sz="2800" b="1" dirty="0" err="1"/>
              <a:t>JavaBeans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187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451</TotalTime>
  <Words>468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Static</vt:lpstr>
      <vt:lpstr>Membro de Classe vs. Membro de Instância</vt:lpstr>
      <vt:lpstr>Atributos Estáticos (Variáveis de Classe)</vt:lpstr>
      <vt:lpstr>Métodos Estáticos</vt:lpstr>
      <vt:lpstr>Métodos Estáticos</vt:lpstr>
      <vt:lpstr>Exemplo cotidiano</vt:lpstr>
      <vt:lpstr>Constantes com final</vt:lpstr>
      <vt:lpstr>Considerações Importantes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33</cp:revision>
  <dcterms:created xsi:type="dcterms:W3CDTF">2026-05-09T23:28:48Z</dcterms:created>
  <dcterms:modified xsi:type="dcterms:W3CDTF">2026-05-11T18:39:21Z</dcterms:modified>
</cp:coreProperties>
</file>