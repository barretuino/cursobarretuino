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9" r:id="rId4"/>
    <p:sldId id="668" r:id="rId5"/>
    <p:sldId id="669" r:id="rId6"/>
    <p:sldId id="670" r:id="rId7"/>
    <p:sldId id="671" r:id="rId8"/>
    <p:sldId id="6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11/05/2026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Sobreescrita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B982-FC15-4D85-5175-36591210C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5B1CD2-2C42-7171-FDE6-B3951563F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Sobreescrita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F10BD0-99B4-052A-B6F3-61DACA77C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4F3A9AC-944C-8F8E-F54B-5EB65400C768}"/>
              </a:ext>
            </a:extLst>
          </p:cNvPr>
          <p:cNvSpPr txBox="1"/>
          <p:nvPr/>
        </p:nvSpPr>
        <p:spPr>
          <a:xfrm>
            <a:off x="605267" y="1481573"/>
            <a:ext cx="10845515" cy="3113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653"/>
              </a:spcBef>
            </a:pPr>
            <a:r>
              <a:rPr lang="pt-BR" altLang="pt-BR" sz="2800" dirty="0"/>
              <a:t>Na Programação Orientada a Objetos com Java, existe uma distinção crucial entre como os métodos e os atributos se comportam quando uma subclasse tenta "recriar" algo que já existe na superclasse.</a:t>
            </a:r>
          </a:p>
          <a:p>
            <a:pPr marL="914400" lvl="1" indent="-457200" algn="just">
              <a:spcBef>
                <a:spcPts val="1653"/>
              </a:spcBef>
              <a:buFont typeface="Arial" panose="020B0604020202020204" pitchFamily="34" charset="0"/>
              <a:buChar char="•"/>
            </a:pPr>
            <a:r>
              <a:rPr lang="pt-BR" altLang="pt-BR" sz="2800" dirty="0" err="1"/>
              <a:t>Sobreescrita</a:t>
            </a:r>
            <a:r>
              <a:rPr lang="pt-BR" altLang="pt-BR" sz="2800" dirty="0"/>
              <a:t> de Atributos</a:t>
            </a:r>
          </a:p>
          <a:p>
            <a:pPr marL="914400" lvl="1" indent="-457200" algn="just">
              <a:spcBef>
                <a:spcPts val="1653"/>
              </a:spcBef>
              <a:buFont typeface="Arial" panose="020B0604020202020204" pitchFamily="34" charset="0"/>
              <a:buChar char="•"/>
            </a:pPr>
            <a:r>
              <a:rPr lang="pt-BR" altLang="pt-BR" sz="2800" dirty="0" err="1"/>
              <a:t>Sobreescrita</a:t>
            </a:r>
            <a:r>
              <a:rPr lang="pt-BR" altLang="pt-BR" sz="2800" dirty="0"/>
              <a:t> de Métodos</a:t>
            </a:r>
          </a:p>
        </p:txBody>
      </p:sp>
    </p:spTree>
    <p:extLst>
      <p:ext uri="{BB962C8B-B14F-4D97-AF65-F5344CB8AC3E}">
        <p14:creationId xmlns:p14="http://schemas.microsoft.com/office/powerpoint/2010/main" val="7309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58E7C-ADA9-1661-0C37-485AB653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CAD72F-E5E2-BE08-8FCF-FF31CCA22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Sobrescrita de Métodos (</a:t>
            </a:r>
            <a:r>
              <a:rPr lang="pt-BR" b="1" i="1" dirty="0" err="1"/>
              <a:t>Method</a:t>
            </a:r>
            <a:r>
              <a:rPr lang="pt-BR" b="1" i="1" dirty="0"/>
              <a:t> </a:t>
            </a:r>
            <a:r>
              <a:rPr lang="pt-BR" b="1" i="1" dirty="0" err="1"/>
              <a:t>Overriding</a:t>
            </a:r>
            <a:r>
              <a:rPr lang="pt-BR" b="1" dirty="0"/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8ED2886-8FE1-1B76-9A3C-020E5AFB7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C3B2944-5DA2-B3DF-4000-5DBF094A2D1D}"/>
              </a:ext>
            </a:extLst>
          </p:cNvPr>
          <p:cNvSpPr txBox="1"/>
          <p:nvPr/>
        </p:nvSpPr>
        <p:spPr>
          <a:xfrm>
            <a:off x="615658" y="1928386"/>
            <a:ext cx="10887078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pt-BR" sz="2800" dirty="0"/>
              <a:t>A sobrescrita ocorre quando uma subclasse fornece uma implementação específica para um método que já foi definido em sua superclasse.</a:t>
            </a:r>
          </a:p>
          <a:p>
            <a:pPr marL="457200" indent="-4572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pt-BR" sz="2400" b="1" dirty="0"/>
              <a:t>Polimorfismo Dinâmico:</a:t>
            </a:r>
            <a:r>
              <a:rPr lang="pt-BR" sz="2400" dirty="0"/>
              <a:t> É aqui que o Java brilha. O método que será executado é decidido em </a:t>
            </a:r>
            <a:r>
              <a:rPr lang="pt-BR" sz="2400" b="1" dirty="0"/>
              <a:t>tempo de execução</a:t>
            </a:r>
            <a:r>
              <a:rPr lang="pt-BR" sz="2400" dirty="0"/>
              <a:t>, baseando-se no tipo do objeto real (instância), e não no tipo da variável de referência.</a:t>
            </a:r>
          </a:p>
          <a:p>
            <a:pPr algn="just"/>
            <a:endParaRPr lang="pt-BR" sz="16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b="1" dirty="0"/>
              <a:t>Anotação @Override:</a:t>
            </a:r>
            <a:r>
              <a:rPr lang="pt-BR" sz="2400" dirty="0"/>
              <a:t> É uma boa prática  usar essa anotação para garantir que você está realmente sobrescrevendo e não criando um método novo por erro de digitação.</a:t>
            </a:r>
          </a:p>
        </p:txBody>
      </p:sp>
    </p:spTree>
    <p:extLst>
      <p:ext uri="{BB962C8B-B14F-4D97-AF65-F5344CB8AC3E}">
        <p14:creationId xmlns:p14="http://schemas.microsoft.com/office/powerpoint/2010/main" val="3366587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80019-176A-61B2-E4F7-7CD505D5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CCD15-1504-BBF6-39D2-D7507BB5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Sobrescrita de Métodos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56779EB-3DB8-5397-54E7-043C69A93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F337DFD-4C66-B294-BDF5-5B0A6E109308}"/>
              </a:ext>
            </a:extLst>
          </p:cNvPr>
          <p:cNvSpPr txBox="1"/>
          <p:nvPr/>
        </p:nvSpPr>
        <p:spPr>
          <a:xfrm>
            <a:off x="615658" y="1554310"/>
            <a:ext cx="1088707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O nome, o tipo de retorno e os parâmetros devem ser exatamente iguais aos da superclasse.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b="1" dirty="0"/>
              <a:t>Exemplo:</a:t>
            </a:r>
            <a:r>
              <a:rPr lang="pt-BR" sz="2800" dirty="0"/>
              <a:t> Se a classe pai </a:t>
            </a:r>
            <a:r>
              <a:rPr lang="pt-BR" sz="2800" dirty="0">
                <a:solidFill>
                  <a:srgbClr val="FFFF00"/>
                </a:solidFill>
              </a:rPr>
              <a:t>Veiculo</a:t>
            </a:r>
            <a:r>
              <a:rPr lang="pt-BR" sz="2800" dirty="0"/>
              <a:t> tem o método </a:t>
            </a:r>
            <a:r>
              <a:rPr lang="pt-BR" sz="2800" dirty="0">
                <a:solidFill>
                  <a:srgbClr val="FFFF00"/>
                </a:solidFill>
              </a:rPr>
              <a:t>buzinar()</a:t>
            </a:r>
            <a:r>
              <a:rPr lang="pt-BR" sz="2800" dirty="0"/>
              <a:t>, a classe Carro pode sobrescrevê-lo para emitir um som diferente.</a:t>
            </a:r>
          </a:p>
        </p:txBody>
      </p:sp>
    </p:spTree>
    <p:extLst>
      <p:ext uri="{BB962C8B-B14F-4D97-AF65-F5344CB8AC3E}">
        <p14:creationId xmlns:p14="http://schemas.microsoft.com/office/powerpoint/2010/main" val="2340004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E6C8E-4458-082E-5690-E27B1C712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674DA-CCA2-3E78-1B8F-A150B076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887078" cy="1400530"/>
          </a:xfrm>
        </p:spPr>
        <p:txBody>
          <a:bodyPr/>
          <a:lstStyle/>
          <a:p>
            <a:r>
              <a:rPr lang="pt-BR" b="1" dirty="0"/>
              <a:t>Ocultação de Atributos (</a:t>
            </a:r>
            <a:r>
              <a:rPr lang="pt-BR" b="1" i="1" dirty="0"/>
              <a:t>Field </a:t>
            </a:r>
            <a:r>
              <a:rPr lang="pt-BR" b="1" i="1" dirty="0" err="1"/>
              <a:t>Hiding</a:t>
            </a:r>
            <a:r>
              <a:rPr lang="pt-BR" b="1" dirty="0"/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269F152-2BDD-571D-9511-7AEE70D02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A2B5225-5019-1D30-385E-6582C90BAD77}"/>
              </a:ext>
            </a:extLst>
          </p:cNvPr>
          <p:cNvSpPr txBox="1"/>
          <p:nvPr/>
        </p:nvSpPr>
        <p:spPr>
          <a:xfrm>
            <a:off x="615658" y="1554310"/>
            <a:ext cx="108870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Diferente dos métodos, </a:t>
            </a:r>
            <a:r>
              <a:rPr lang="pt-BR" sz="2800" b="1" dirty="0"/>
              <a:t>atributos não podem ser sobrescritos</a:t>
            </a:r>
            <a:r>
              <a:rPr lang="pt-BR" sz="2800" dirty="0"/>
              <a:t> em Java; eles são </a:t>
            </a:r>
            <a:r>
              <a:rPr lang="pt-BR" sz="2800" b="1" dirty="0"/>
              <a:t>ocultados</a:t>
            </a:r>
            <a:r>
              <a:rPr lang="pt-BR" sz="2800" dirty="0"/>
              <a:t> (</a:t>
            </a:r>
            <a:r>
              <a:rPr lang="pt-BR" sz="2800" i="1" dirty="0" err="1"/>
              <a:t>shadowing</a:t>
            </a:r>
            <a:r>
              <a:rPr lang="pt-BR" sz="2800" dirty="0"/>
              <a:t> ou </a:t>
            </a:r>
            <a:r>
              <a:rPr lang="pt-BR" sz="2800" i="1" dirty="0" err="1"/>
              <a:t>hiding</a:t>
            </a:r>
            <a:r>
              <a:rPr lang="pt-BR" sz="2800" dirty="0"/>
              <a:t>).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1E6CCC5-F071-3F55-4D3B-96254D0D9222}"/>
              </a:ext>
            </a:extLst>
          </p:cNvPr>
          <p:cNvSpPr txBox="1"/>
          <p:nvPr/>
        </p:nvSpPr>
        <p:spPr>
          <a:xfrm>
            <a:off x="615657" y="2956944"/>
            <a:ext cx="1088707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/>
              <a:t>Ligação Estática:</a:t>
            </a:r>
            <a:r>
              <a:rPr lang="pt-BR" sz="2800" dirty="0"/>
              <a:t> A escolha de qual atributo acessar é feita em </a:t>
            </a:r>
            <a:r>
              <a:rPr lang="pt-BR" sz="2800" b="1" dirty="0"/>
              <a:t>tempo de compilação</a:t>
            </a:r>
            <a:r>
              <a:rPr lang="pt-BR" sz="2800" dirty="0"/>
              <a:t>, baseando-se no tipo da variável de referência.</a:t>
            </a:r>
          </a:p>
        </p:txBody>
      </p:sp>
    </p:spTree>
    <p:extLst>
      <p:ext uri="{BB962C8B-B14F-4D97-AF65-F5344CB8AC3E}">
        <p14:creationId xmlns:p14="http://schemas.microsoft.com/office/powerpoint/2010/main" val="532031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C4007-FC8B-0B43-9F1A-6A5F2FC1A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08DA7-135A-D6B3-D05B-50AECCFBF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887078" cy="1400530"/>
          </a:xfrm>
        </p:spPr>
        <p:txBody>
          <a:bodyPr/>
          <a:lstStyle/>
          <a:p>
            <a:r>
              <a:rPr lang="pt-BR" b="1" dirty="0"/>
              <a:t>Ocultação de Atributos (</a:t>
            </a:r>
            <a:r>
              <a:rPr lang="pt-BR" b="1" i="1" dirty="0"/>
              <a:t>Field </a:t>
            </a:r>
            <a:r>
              <a:rPr lang="pt-BR" b="1" i="1" dirty="0" err="1"/>
              <a:t>Hiding</a:t>
            </a:r>
            <a:r>
              <a:rPr lang="pt-BR" b="1" dirty="0"/>
              <a:t>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38E97F3-81A0-77E3-1386-D9D20C3BC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73BB595-C2D5-2B30-10DC-3510D22B5437}"/>
              </a:ext>
            </a:extLst>
          </p:cNvPr>
          <p:cNvSpPr txBox="1"/>
          <p:nvPr/>
        </p:nvSpPr>
        <p:spPr>
          <a:xfrm>
            <a:off x="615658" y="1554310"/>
            <a:ext cx="1088707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b="1" dirty="0"/>
              <a:t>Independência:</a:t>
            </a:r>
            <a:r>
              <a:rPr lang="pt-BR" sz="2800" dirty="0"/>
              <a:t> Se você declarar um atributo na subclasse com o mesmo nome de um na superclasse, a subclasse passará a ter </a:t>
            </a:r>
            <a:r>
              <a:rPr lang="pt-BR" sz="2800" b="1" dirty="0"/>
              <a:t>dois</a:t>
            </a:r>
            <a:r>
              <a:rPr lang="pt-BR" sz="2800" dirty="0"/>
              <a:t> atributos com o mesmo nome (um herdado e um próprio).</a:t>
            </a:r>
          </a:p>
          <a:p>
            <a:pPr algn="just"/>
            <a:endParaRPr lang="pt-BR" sz="2800" dirty="0"/>
          </a:p>
          <a:p>
            <a:pPr algn="just"/>
            <a:r>
              <a:rPr lang="pt-BR" sz="2800" b="1" dirty="0"/>
              <a:t>Acesso:</a:t>
            </a:r>
            <a:r>
              <a:rPr lang="pt-BR" sz="2800" dirty="0"/>
              <a:t> Para acessar o atributo da superclasse que foi ocultado, você deve usar a palavra-chave </a:t>
            </a:r>
            <a:r>
              <a:rPr lang="pt-BR" sz="2800" dirty="0">
                <a:solidFill>
                  <a:srgbClr val="FFFF00"/>
                </a:solidFill>
              </a:rPr>
              <a:t>super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8148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171</TotalTime>
  <Words>297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Arial</vt:lpstr>
      <vt:lpstr>Century Gothic</vt:lpstr>
      <vt:lpstr>Wingdings 3</vt:lpstr>
      <vt:lpstr>Íon</vt:lpstr>
      <vt:lpstr>Apresentação do PowerPoint</vt:lpstr>
      <vt:lpstr>Apresentação do PowerPoint</vt:lpstr>
      <vt:lpstr>Sobreescrita</vt:lpstr>
      <vt:lpstr>Sobrescrita de Métodos (Method Overriding)</vt:lpstr>
      <vt:lpstr>Sobrescrita de Métodos</vt:lpstr>
      <vt:lpstr>Ocultação de Atributos (Field Hiding)</vt:lpstr>
      <vt:lpstr>Ocultação de Atributos (Field Hiding)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23</cp:revision>
  <dcterms:created xsi:type="dcterms:W3CDTF">2026-05-09T23:28:48Z</dcterms:created>
  <dcterms:modified xsi:type="dcterms:W3CDTF">2026-05-11T12:52:54Z</dcterms:modified>
</cp:coreProperties>
</file>