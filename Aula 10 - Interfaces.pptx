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668" r:id="rId5"/>
    <p:sldId id="669" r:id="rId6"/>
    <p:sldId id="670" r:id="rId7"/>
    <p:sldId id="671" r:id="rId8"/>
    <p:sldId id="672" r:id="rId9"/>
    <p:sldId id="673" r:id="rId10"/>
    <p:sldId id="674" r:id="rId11"/>
    <p:sldId id="675" r:id="rId12"/>
    <p:sldId id="676" r:id="rId13"/>
    <p:sldId id="677" r:id="rId14"/>
    <p:sldId id="678" r:id="rId15"/>
    <p:sldId id="6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Interfaces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Interfaces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646112" y="1460787"/>
            <a:ext cx="1084551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3200" dirty="0"/>
              <a:t>À primeira vista, interfaces são semelhantes a classes, com a diferença mais óbvia de que suas definições de método não incluem corpos de método. </a:t>
            </a:r>
          </a:p>
          <a:p>
            <a:pPr algn="just">
              <a:spcBef>
                <a:spcPct val="50000"/>
              </a:spcBef>
            </a:pPr>
            <a:r>
              <a:rPr lang="pt-BR" altLang="pt-BR" sz="3200" dirty="0"/>
              <a:t>Portanto, elas são semelhantes a classes abstratas no sentido de que todos os métodos são abstratos.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7AA80-201B-E14C-4B48-58361D03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D888F-8DCA-E9ED-7573-34EBBC94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Interfaces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69D3354-0456-D557-C037-B88F19F8B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090A22C-1FE0-0D45-B9AC-DEF972173FCA}"/>
              </a:ext>
            </a:extLst>
          </p:cNvPr>
          <p:cNvSpPr txBox="1"/>
          <p:nvPr/>
        </p:nvSpPr>
        <p:spPr>
          <a:xfrm>
            <a:off x="646112" y="1460787"/>
            <a:ext cx="108455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2800" dirty="0"/>
              <a:t>Uma interface em Java é uma especificação de um tipo (na forma de um conjunto de métodos) que não define nenhuma implementação para os métodos.</a:t>
            </a:r>
          </a:p>
          <a:p>
            <a:pPr>
              <a:spcBef>
                <a:spcPct val="50000"/>
              </a:spcBef>
            </a:pPr>
            <a:endParaRPr lang="pt-BR" altLang="pt-BR" sz="2800" dirty="0"/>
          </a:p>
        </p:txBody>
      </p:sp>
      <p:sp>
        <p:nvSpPr>
          <p:cNvPr id="3" name="Text Box 1027">
            <a:extLst>
              <a:ext uri="{FF2B5EF4-FFF2-40B4-BE49-F238E27FC236}">
                <a16:creationId xmlns:a16="http://schemas.microsoft.com/office/drawing/2014/main" id="{61E95DB0-4237-23DA-CD1A-42F7ED089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0" y="3042947"/>
            <a:ext cx="107810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800" dirty="0"/>
              <a:t>As interfaces em Java têm alguns recursos significativos:</a:t>
            </a:r>
          </a:p>
        </p:txBody>
      </p:sp>
      <p:sp>
        <p:nvSpPr>
          <p:cNvPr id="5" name="Text Box 1028">
            <a:extLst>
              <a:ext uri="{FF2B5EF4-FFF2-40B4-BE49-F238E27FC236}">
                <a16:creationId xmlns:a16="http://schemas.microsoft.com/office/drawing/2014/main" id="{71020833-02D1-13AF-0228-6E64C1339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336" y="3790167"/>
            <a:ext cx="1004729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800" dirty="0"/>
              <a:t>A palavra reservada </a:t>
            </a:r>
            <a:r>
              <a:rPr lang="pt-BR" altLang="pt-BR" sz="2800" b="1" dirty="0">
                <a:solidFill>
                  <a:srgbClr val="FFFF00"/>
                </a:solidFill>
                <a:latin typeface="Courier New" panose="02070309020205020404" pitchFamily="49" charset="0"/>
              </a:rPr>
              <a:t>interface</a:t>
            </a:r>
            <a:r>
              <a:rPr lang="pt-BR" altLang="pt-BR" sz="2800" dirty="0"/>
              <a:t> é utilizada em vez de </a:t>
            </a:r>
            <a:r>
              <a:rPr lang="pt-BR" altLang="pt-BR" sz="28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class</a:t>
            </a:r>
            <a:r>
              <a:rPr lang="pt-BR" altLang="pt-BR" sz="2800" dirty="0"/>
              <a:t> no cabeçalho da declaração.</a:t>
            </a:r>
          </a:p>
        </p:txBody>
      </p:sp>
    </p:spTree>
    <p:extLst>
      <p:ext uri="{BB962C8B-B14F-4D97-AF65-F5344CB8AC3E}">
        <p14:creationId xmlns:p14="http://schemas.microsoft.com/office/powerpoint/2010/main" val="103794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66C88-BCA8-DE5B-D70E-EE7FAF57E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7374D-7409-B989-D4AB-1967B3E1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Interfaces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A2CE8B1-4BE3-238E-FE6D-6C7E90AC4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6" name="Text Box 1029">
            <a:extLst>
              <a:ext uri="{FF2B5EF4-FFF2-40B4-BE49-F238E27FC236}">
                <a16:creationId xmlns:a16="http://schemas.microsoft.com/office/drawing/2014/main" id="{1D4A34D8-A05E-6BE1-A786-E7A1E5DB7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419" y="3605939"/>
            <a:ext cx="984077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800" dirty="0"/>
              <a:t> Todos os métodos em uma interface são abstratos; nenhum corpo de método é permitido. A palavra reservada </a:t>
            </a:r>
            <a:r>
              <a:rPr lang="pt-BR" alt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abstract</a:t>
            </a:r>
            <a:r>
              <a:rPr lang="pt-BR" altLang="pt-BR" sz="2800" dirty="0">
                <a:solidFill>
                  <a:srgbClr val="FFFF00"/>
                </a:solidFill>
              </a:rPr>
              <a:t> não é necessária.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6C9BCC8E-A458-1B00-C162-60CEA0BC9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0" y="1339132"/>
            <a:ext cx="104388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800" dirty="0"/>
              <a:t>Uma interface Java lembra uma classe base abstrata, com algumas diferenças importantes:</a:t>
            </a:r>
          </a:p>
        </p:txBody>
      </p:sp>
      <p:sp>
        <p:nvSpPr>
          <p:cNvPr id="9" name="Text Box 1031">
            <a:extLst>
              <a:ext uri="{FF2B5EF4-FFF2-40B4-BE49-F238E27FC236}">
                <a16:creationId xmlns:a16="http://schemas.microsoft.com/office/drawing/2014/main" id="{7ACB96B8-BE53-724F-7192-F37052047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982" y="2420219"/>
            <a:ext cx="1000572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800" dirty="0"/>
              <a:t> declarada pela cláusula </a:t>
            </a:r>
            <a:r>
              <a:rPr lang="pt-BR" alt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interface</a:t>
            </a:r>
            <a:r>
              <a:rPr lang="pt-BR" altLang="pt-BR" sz="2800" dirty="0"/>
              <a:t>, não </a:t>
            </a:r>
            <a:r>
              <a:rPr lang="pt-BR" alt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abstract</a:t>
            </a:r>
            <a:r>
              <a:rPr lang="pt-BR" altLang="pt-BR" sz="2800" dirty="0">
                <a:latin typeface="Courier New" panose="02070309020205020404" pitchFamily="49" charset="0"/>
              </a:rPr>
              <a:t> </a:t>
            </a:r>
            <a:r>
              <a:rPr lang="pt-BR" alt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class</a:t>
            </a:r>
            <a:r>
              <a:rPr lang="pt-BR" alt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522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99C18-F7A5-AC4A-D001-5E86A939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69288-B6CF-E752-257F-C7FAF8E8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Interfaces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822AF9D-A08E-DCE7-8168-C213938A5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1027">
            <a:extLst>
              <a:ext uri="{FF2B5EF4-FFF2-40B4-BE49-F238E27FC236}">
                <a16:creationId xmlns:a16="http://schemas.microsoft.com/office/drawing/2014/main" id="{DE28E512-FCCF-8040-BB0A-D61D25A50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32" y="1363085"/>
            <a:ext cx="10473604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800" dirty="0"/>
              <a:t> Todas as assinaturas de método em uma interface têm visibilidade pública. A visibilidade não precisa ser declara (isto é, palavra reservada </a:t>
            </a:r>
            <a:r>
              <a:rPr lang="pt-BR" alt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public</a:t>
            </a:r>
            <a:r>
              <a:rPr lang="pt-BR" altLang="pt-BR" sz="2800" dirty="0">
                <a:latin typeface="Courier New" panose="02070309020205020404" pitchFamily="49" charset="0"/>
              </a:rPr>
              <a:t> </a:t>
            </a:r>
            <a:r>
              <a:rPr lang="pt-BR" altLang="pt-BR" sz="2800" dirty="0"/>
              <a:t>não é necessária para cada método).</a:t>
            </a:r>
          </a:p>
        </p:txBody>
      </p:sp>
      <p:sp>
        <p:nvSpPr>
          <p:cNvPr id="4" name="Text Box 1028">
            <a:extLst>
              <a:ext uri="{FF2B5EF4-FFF2-40B4-BE49-F238E27FC236}">
                <a16:creationId xmlns:a16="http://schemas.microsoft.com/office/drawing/2014/main" id="{864E28D6-1B3C-A471-46D6-DCBDB02C3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56" y="3454688"/>
            <a:ext cx="10473603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800" dirty="0"/>
              <a:t> Apenas as declarações de campos constantes (público, estatísticos e finais) são permitidos em uma interface. As palavras reservadas </a:t>
            </a:r>
            <a:r>
              <a:rPr lang="pt-BR" alt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public</a:t>
            </a:r>
            <a:r>
              <a:rPr lang="pt-BR" altLang="pt-BR" sz="2800" dirty="0">
                <a:latin typeface="Courier New" panose="02070309020205020404" pitchFamily="49" charset="0"/>
              </a:rPr>
              <a:t>, </a:t>
            </a:r>
            <a:r>
              <a:rPr lang="pt-BR" alt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static</a:t>
            </a:r>
            <a:r>
              <a:rPr lang="pt-BR" altLang="pt-BR" sz="2800" dirty="0">
                <a:latin typeface="Courier New" panose="02070309020205020404" pitchFamily="49" charset="0"/>
              </a:rPr>
              <a:t> </a:t>
            </a:r>
            <a:r>
              <a:rPr lang="pt-BR" altLang="pt-BR" sz="2800" dirty="0"/>
              <a:t>e</a:t>
            </a:r>
            <a:r>
              <a:rPr lang="pt-BR" altLang="pt-BR" sz="2800" dirty="0">
                <a:latin typeface="Courier New" panose="02070309020205020404" pitchFamily="49" charset="0"/>
              </a:rPr>
              <a:t> </a:t>
            </a:r>
            <a:r>
              <a:rPr lang="pt-BR" alt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final</a:t>
            </a:r>
            <a:r>
              <a:rPr lang="pt-BR" altLang="pt-BR" sz="2800" dirty="0"/>
              <a:t> podem ser omitidas, mas todos os campos continuam a ser tratados como públicos, estáticos e finais.</a:t>
            </a:r>
          </a:p>
        </p:txBody>
      </p:sp>
    </p:spTree>
    <p:extLst>
      <p:ext uri="{BB962C8B-B14F-4D97-AF65-F5344CB8AC3E}">
        <p14:creationId xmlns:p14="http://schemas.microsoft.com/office/powerpoint/2010/main" val="35452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40D4-BB73-7B04-EB03-FB0958C6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D7455-05F6-011E-EDC2-97ED4014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Interfaces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6037614-E076-FB0C-6E0A-BA138C341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Text Box 1027">
            <a:extLst>
              <a:ext uri="{FF2B5EF4-FFF2-40B4-BE49-F238E27FC236}">
                <a16:creationId xmlns:a16="http://schemas.microsoft.com/office/drawing/2014/main" id="{03515143-4544-A318-C9EF-AF549BA51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411576"/>
            <a:ext cx="10607244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800" dirty="0"/>
              <a:t>Uma classe pode herdar de uma interface da mesma maneira como ela pode herdar de uma classe. Entretanto, o Java utiliza uma palavra reservada diferente – </a:t>
            </a:r>
            <a:r>
              <a:rPr lang="pt-BR" alt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implements</a:t>
            </a:r>
            <a:r>
              <a:rPr lang="pt-BR" altLang="pt-BR" sz="2800" dirty="0"/>
              <a:t> – para herdar interfaces.</a:t>
            </a:r>
          </a:p>
          <a:p>
            <a:pPr algn="just">
              <a:spcBef>
                <a:spcPct val="50000"/>
              </a:spcBef>
            </a:pPr>
            <a:r>
              <a:rPr lang="pt-BR" altLang="pt-BR" sz="2800" dirty="0"/>
              <a:t>Diz-se que uma classe implementa uma interface se ela incluir uma cláusula</a:t>
            </a:r>
            <a:r>
              <a:rPr lang="pt-BR" altLang="pt-BR" sz="2800" i="1" dirty="0"/>
              <a:t> </a:t>
            </a:r>
            <a:r>
              <a:rPr lang="pt-BR" alt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implements</a:t>
            </a:r>
            <a:r>
              <a:rPr lang="pt-BR" altLang="pt-BR" sz="2800" dirty="0"/>
              <a:t> no seu cabeçalho de classe. Por exemplo:</a:t>
            </a:r>
          </a:p>
        </p:txBody>
      </p:sp>
      <p:pic>
        <p:nvPicPr>
          <p:cNvPr id="6" name="Picture 1028">
            <a:extLst>
              <a:ext uri="{FF2B5EF4-FFF2-40B4-BE49-F238E27FC236}">
                <a16:creationId xmlns:a16="http://schemas.microsoft.com/office/drawing/2014/main" id="{36CA97D5-FE62-6DA1-6AA4-F7FBA613A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8" t="13585" r="33382" b="78363"/>
          <a:stretch>
            <a:fillRect/>
          </a:stretch>
        </p:blipFill>
        <p:spPr bwMode="auto">
          <a:xfrm>
            <a:off x="2536901" y="4497848"/>
            <a:ext cx="7760489" cy="12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150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2DF7C-FC9A-605B-C22D-D04E13EA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063DC-946D-B77C-4AEA-84A83778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Nível de Abstração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2C8DA6-DBDA-83D3-981E-92DB7E99D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Text Box 1027">
            <a:extLst>
              <a:ext uri="{FF2B5EF4-FFF2-40B4-BE49-F238E27FC236}">
                <a16:creationId xmlns:a16="http://schemas.microsoft.com/office/drawing/2014/main" id="{D9ECBE74-73F0-A3B3-87E2-5B27DAA05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411576"/>
            <a:ext cx="10607244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2800" dirty="0"/>
              <a:t>O conceito de </a:t>
            </a:r>
            <a:r>
              <a:rPr lang="pt-BR" sz="2800" b="1" dirty="0"/>
              <a:t>Interfaces</a:t>
            </a:r>
            <a:r>
              <a:rPr lang="pt-BR" sz="2800" dirty="0"/>
              <a:t> é o nível mais alto de abstração em Java. Se uma classe é um "molde", uma interface é um </a:t>
            </a:r>
            <a:r>
              <a:rPr lang="pt-BR" sz="2800" b="1" dirty="0"/>
              <a:t>"contrato de comportamento"</a:t>
            </a:r>
            <a:r>
              <a:rPr lang="pt-BR" sz="2800" dirty="0"/>
              <a:t>.</a:t>
            </a:r>
          </a:p>
          <a:p>
            <a:pPr algn="just">
              <a:spcBef>
                <a:spcPct val="50000"/>
              </a:spcBef>
            </a:pPr>
            <a:r>
              <a:rPr lang="pt-BR" sz="2800" dirty="0"/>
              <a:t>Diferente de uma classe, uma interface não define </a:t>
            </a:r>
            <a:r>
              <a:rPr lang="pt-BR" sz="2800" i="1" dirty="0"/>
              <a:t>o que um objeto é</a:t>
            </a:r>
            <a:r>
              <a:rPr lang="pt-BR" sz="2800" dirty="0"/>
              <a:t>, mas sim </a:t>
            </a:r>
            <a:r>
              <a:rPr lang="pt-BR" sz="2800" i="1" dirty="0"/>
              <a:t>o que ele é capaz de fazer</a:t>
            </a:r>
            <a:r>
              <a:rPr lang="pt-BR" sz="2800" dirty="0"/>
              <a:t>. Ela estabelece um conjunto de métodos que qualquer classe que a implemente </a:t>
            </a:r>
            <a:r>
              <a:rPr lang="pt-BR" sz="2800" b="1" dirty="0"/>
              <a:t>obrigatoriamente</a:t>
            </a:r>
            <a:r>
              <a:rPr lang="pt-BR" sz="2800" dirty="0"/>
              <a:t> deve possuir.</a:t>
            </a: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428606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07568-D41E-66F9-B1AD-9933DDE9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41F26-3F13-66B3-EE4C-B6B23C908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Abstração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DAC543-1E17-5048-5B03-E6360035B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Text Box 1027">
            <a:extLst>
              <a:ext uri="{FF2B5EF4-FFF2-40B4-BE49-F238E27FC236}">
                <a16:creationId xmlns:a16="http://schemas.microsoft.com/office/drawing/2014/main" id="{EBFD8207-5B25-DA7D-24D7-3EB6719C5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411576"/>
            <a:ext cx="10607244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800" dirty="0"/>
              <a:t>Imagine um controle remoto universal. Ele tem o botão "Ligar".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/>
              <a:t>Não importa se o aparelho é uma TV, um Ar-Condicionado ou um Som.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/>
              <a:t>Se o aparelho "implementa a interface" de controle remoto, ele garante que terá uma função para "Ligar".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O "Como" ligar</a:t>
            </a:r>
            <a:r>
              <a:rPr lang="pt-BR" sz="2800" dirty="0"/>
              <a:t> (detalhe de implementação) varia de aparelho para aparelho, mas o botão (a interface) é o mesmo.</a:t>
            </a:r>
          </a:p>
        </p:txBody>
      </p:sp>
    </p:spTree>
    <p:extLst>
      <p:ext uri="{BB962C8B-B14F-4D97-AF65-F5344CB8AC3E}">
        <p14:creationId xmlns:p14="http://schemas.microsoft.com/office/powerpoint/2010/main" val="157282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1100-7858-7B4E-F18D-4080BC9E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C22F9-C2A8-0DA2-EECF-4DA10C27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Herança Multipla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87E2C0-F43A-F9F8-CC08-6533887B0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Text Box 1027">
            <a:extLst>
              <a:ext uri="{FF2B5EF4-FFF2-40B4-BE49-F238E27FC236}">
                <a16:creationId xmlns:a16="http://schemas.microsoft.com/office/drawing/2014/main" id="{D957AE57-6AFF-21D0-D4E7-272C2FC71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411576"/>
            <a:ext cx="1060724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800" dirty="0"/>
              <a:t>Esta é a grande vantagem! Enquanto o Java permite herdar de apenas uma classe pai, uma classe pode implementar </a:t>
            </a:r>
            <a:r>
              <a:rPr lang="pt-BR" sz="2800" b="1" dirty="0"/>
              <a:t>múltiplas interfaces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1470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ADAF-F37F-4A7E-35EF-6AE1B3FE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DEACE-27EE-CB03-E83F-7F21185B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Desacoplamento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ED3E19-65EF-10AF-F052-E8B836AC5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Text Box 1027">
            <a:extLst>
              <a:ext uri="{FF2B5EF4-FFF2-40B4-BE49-F238E27FC236}">
                <a16:creationId xmlns:a16="http://schemas.microsoft.com/office/drawing/2014/main" id="{FEDB2E36-ABD4-9DCB-0727-8B90B0126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411576"/>
            <a:ext cx="1060724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800" dirty="0"/>
              <a:t>O sistema principal não precisa saber se está lidando com uma lâmpada ou um irrigador; ele apenas chama ligar() em qualquer objeto que seja um </a:t>
            </a:r>
            <a:r>
              <a:rPr lang="pt-BR" sz="2800" dirty="0" err="1"/>
              <a:t>DispositivoConectado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205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66F8-5E5B-ADFF-43BF-8A5EB673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B538E-23D1-F7B3-4331-A39C1FC3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Polimorfismo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D1B8E6-FEC5-963F-284C-1AEEF01CC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Text Box 1027">
            <a:extLst>
              <a:ext uri="{FF2B5EF4-FFF2-40B4-BE49-F238E27FC236}">
                <a16:creationId xmlns:a16="http://schemas.microsoft.com/office/drawing/2014/main" id="{C7C05DA6-4FE4-3C2D-F940-8842154EF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411576"/>
            <a:ext cx="106072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 dirty="0"/>
              <a:t>Você pode criar uma </a:t>
            </a:r>
            <a:r>
              <a:rPr lang="pt-BR" sz="2400" dirty="0" err="1">
                <a:solidFill>
                  <a:srgbClr val="FFFF00"/>
                </a:solidFill>
              </a:rPr>
              <a:t>List</a:t>
            </a:r>
            <a:r>
              <a:rPr lang="pt-BR" sz="2400" dirty="0">
                <a:solidFill>
                  <a:srgbClr val="FFFF00"/>
                </a:solidFill>
              </a:rPr>
              <a:t>&lt;</a:t>
            </a:r>
            <a:r>
              <a:rPr lang="pt-BR" sz="2400" dirty="0" err="1">
                <a:solidFill>
                  <a:srgbClr val="FFFF00"/>
                </a:solidFill>
              </a:rPr>
              <a:t>DispositivoConectado</a:t>
            </a:r>
            <a:r>
              <a:rPr lang="pt-BR" sz="2400" dirty="0">
                <a:solidFill>
                  <a:srgbClr val="FFFF00"/>
                </a:solidFill>
              </a:rPr>
              <a:t>&gt; </a:t>
            </a:r>
            <a:r>
              <a:rPr lang="pt-BR" sz="2400" dirty="0"/>
              <a:t>e percorrer todos eles desligando-os de uma vez, independente do tipo real do objeto.</a:t>
            </a:r>
          </a:p>
        </p:txBody>
      </p:sp>
    </p:spTree>
    <p:extLst>
      <p:ext uri="{BB962C8B-B14F-4D97-AF65-F5344CB8AC3E}">
        <p14:creationId xmlns:p14="http://schemas.microsoft.com/office/powerpoint/2010/main" val="2672140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37CF5-B33E-8F62-690B-991BAA6C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962C7-B5F3-6E3A-FC08-968903E94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Padronização para </a:t>
            </a:r>
            <a:r>
              <a:rPr lang="pt-BR" b="1" dirty="0" err="1"/>
              <a:t>Reflection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F531E3-6F81-01B5-BA61-073F56EC3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Text Box 1027">
            <a:extLst>
              <a:ext uri="{FF2B5EF4-FFF2-40B4-BE49-F238E27FC236}">
                <a16:creationId xmlns:a16="http://schemas.microsoft.com/office/drawing/2014/main" id="{4E1144F3-2458-D38B-123A-D4C5E81E1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411576"/>
            <a:ext cx="106072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 dirty="0"/>
              <a:t>Ao usar </a:t>
            </a:r>
            <a:r>
              <a:rPr lang="pt-BR" sz="2400" b="1" dirty="0" err="1"/>
              <a:t>Reflection</a:t>
            </a:r>
            <a:r>
              <a:rPr lang="pt-BR" sz="2400" b="1" dirty="0"/>
              <a:t> API</a:t>
            </a:r>
            <a:r>
              <a:rPr lang="pt-BR" sz="2400" dirty="0"/>
              <a:t> para gerar telas em Swing, suas interfaces podem servir como marcadores para que o seu gerador saiba quais objetos possuem comportamentos específicos.</a:t>
            </a:r>
          </a:p>
        </p:txBody>
      </p:sp>
    </p:spTree>
    <p:extLst>
      <p:ext uri="{BB962C8B-B14F-4D97-AF65-F5344CB8AC3E}">
        <p14:creationId xmlns:p14="http://schemas.microsoft.com/office/powerpoint/2010/main" val="1146660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32389-D4DC-99F3-1687-79C03840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21A0F-A7D9-5BA9-E157-81807B18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Herança x Interface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60B9B2-7017-3909-1B22-36D6C60DE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796A4F-27F1-AA32-C0DB-9593EAC9E074}"/>
              </a:ext>
            </a:extLst>
          </p:cNvPr>
          <p:cNvSpPr txBox="1"/>
          <p:nvPr/>
        </p:nvSpPr>
        <p:spPr>
          <a:xfrm>
            <a:off x="646112" y="1459230"/>
            <a:ext cx="1074232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b="1" dirty="0"/>
              <a:t>Herança (</a:t>
            </a:r>
            <a:r>
              <a:rPr lang="pt-BR" sz="28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extends</a:t>
            </a:r>
            <a:r>
              <a:rPr lang="pt-BR" sz="2800" b="1" dirty="0"/>
              <a:t>):</a:t>
            </a:r>
            <a:r>
              <a:rPr lang="pt-BR" sz="2800" dirty="0"/>
              <a:t> "É um" (Um Carro </a:t>
            </a:r>
            <a:r>
              <a:rPr lang="pt-BR" sz="2800" b="1" dirty="0"/>
              <a:t>é um</a:t>
            </a:r>
            <a:r>
              <a:rPr lang="pt-BR" sz="2800" dirty="0"/>
              <a:t> Veículo).</a:t>
            </a:r>
          </a:p>
          <a:p>
            <a:pPr algn="just">
              <a:spcBef>
                <a:spcPts val="1200"/>
              </a:spcBef>
              <a:buNone/>
            </a:pPr>
            <a:r>
              <a:rPr lang="pt-BR" sz="2800" b="1" dirty="0"/>
              <a:t>Interface (</a:t>
            </a:r>
            <a:r>
              <a:rPr lang="pt-BR" sz="28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implements</a:t>
            </a:r>
            <a:r>
              <a:rPr lang="pt-BR" sz="2800" b="1" dirty="0"/>
              <a:t>):</a:t>
            </a:r>
            <a:r>
              <a:rPr lang="pt-BR" sz="2800" dirty="0"/>
              <a:t> "Age como" ou "Tem a capacidade de" (Um Carro </a:t>
            </a:r>
            <a:r>
              <a:rPr lang="pt-BR" sz="2800" b="1" dirty="0"/>
              <a:t>age como</a:t>
            </a:r>
            <a:r>
              <a:rPr lang="pt-BR" sz="2800" dirty="0"/>
              <a:t> um </a:t>
            </a:r>
            <a:r>
              <a:rPr lang="pt-BR" sz="2800" dirty="0" err="1"/>
              <a:t>ObjetoSeguravel</a:t>
            </a:r>
            <a:r>
              <a:rPr lang="pt-B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41884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424</TotalTime>
  <Words>594</Words>
  <Application>Microsoft Office PowerPoint</Application>
  <PresentationFormat>Widescreen</PresentationFormat>
  <Paragraphs>37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Aptos</vt:lpstr>
      <vt:lpstr>Arial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Interfaces</vt:lpstr>
      <vt:lpstr>Interfaces</vt:lpstr>
      <vt:lpstr>Interfaces</vt:lpstr>
      <vt:lpstr>Interfaces</vt:lpstr>
      <vt:lpstr>Interfaces</vt:lpstr>
      <vt:lpstr>Nível de Abstração</vt:lpstr>
      <vt:lpstr>Abstração</vt:lpstr>
      <vt:lpstr>Herança Multipla</vt:lpstr>
      <vt:lpstr>Desacoplamento</vt:lpstr>
      <vt:lpstr>Polimorfismo</vt:lpstr>
      <vt:lpstr>Padronização para Reflection</vt:lpstr>
      <vt:lpstr>Herança x Interface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31</cp:revision>
  <dcterms:created xsi:type="dcterms:W3CDTF">2026-05-09T23:28:48Z</dcterms:created>
  <dcterms:modified xsi:type="dcterms:W3CDTF">2026-05-11T18:10:16Z</dcterms:modified>
</cp:coreProperties>
</file>