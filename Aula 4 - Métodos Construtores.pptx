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9" r:id="rId4"/>
    <p:sldId id="668" r:id="rId5"/>
    <p:sldId id="674" r:id="rId6"/>
    <p:sldId id="675" r:id="rId7"/>
    <p:sldId id="676" r:id="rId8"/>
    <p:sldId id="677" r:id="rId9"/>
    <p:sldId id="678" r:id="rId10"/>
    <p:sldId id="679" r:id="rId11"/>
    <p:sldId id="680" r:id="rId12"/>
    <p:sldId id="681" r:id="rId13"/>
    <p:sldId id="682" r:id="rId14"/>
    <p:sldId id="683" r:id="rId15"/>
    <p:sldId id="669" r:id="rId16"/>
    <p:sldId id="670" r:id="rId17"/>
    <p:sldId id="671" r:id="rId18"/>
    <p:sldId id="672" r:id="rId19"/>
    <p:sldId id="673" r:id="rId20"/>
    <p:sldId id="66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676362" y="1266958"/>
            <a:ext cx="7533973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Métodos Construtores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Métodos Construtores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F3A9AC-944C-8F8E-F54B-5EB65400C768}"/>
              </a:ext>
            </a:extLst>
          </p:cNvPr>
          <p:cNvSpPr txBox="1"/>
          <p:nvPr/>
        </p:nvSpPr>
        <p:spPr>
          <a:xfrm>
            <a:off x="854651" y="1481573"/>
            <a:ext cx="1069123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53"/>
              </a:spcBef>
            </a:pPr>
            <a:r>
              <a:rPr lang="pt-BR" sz="3200" dirty="0"/>
              <a:t>Eles são o ponto de partida de qualquer objeto e fundamentais para garantir que seus sistemas (sejam eles interfaces Swing ou integrações com Arduino) comecem em um estado válido.</a:t>
            </a:r>
            <a:endParaRPr lang="pt-BR" altLang="pt-BR" sz="3200" dirty="0"/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C4CF9-31A5-9458-2C5D-D6E61AB9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A47A3-E3E4-804D-A40F-2683C00CB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Definição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535801-997A-85E3-826D-6B897B344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1190A40-0B82-1328-34A2-EBF2E593462D}"/>
              </a:ext>
            </a:extLst>
          </p:cNvPr>
          <p:cNvSpPr txBox="1"/>
          <p:nvPr/>
        </p:nvSpPr>
        <p:spPr>
          <a:xfrm>
            <a:off x="854651" y="1481573"/>
            <a:ext cx="1069123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53"/>
              </a:spcBef>
            </a:pPr>
            <a:r>
              <a:rPr lang="pt-BR" sz="3200" dirty="0"/>
              <a:t>Eles são o ponto de partida de qualquer objeto e fundamentais para garantir que seus sistemas (sejam eles interfaces Swing ou integrações com Arduino) comecem em um estado válido.</a:t>
            </a:r>
            <a:endParaRPr lang="pt-BR" altLang="pt-BR" sz="3200" dirty="0"/>
          </a:p>
        </p:txBody>
      </p:sp>
    </p:spTree>
    <p:extLst>
      <p:ext uri="{BB962C8B-B14F-4D97-AF65-F5344CB8AC3E}">
        <p14:creationId xmlns:p14="http://schemas.microsoft.com/office/powerpoint/2010/main" val="23408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3CD62-A63E-CC0F-4DEE-2C6D8A55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65EFE-6FDB-1045-7A9A-5060BA24F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Implementação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9B50C7-2F70-2220-B427-92ABDB075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38CE608-7488-CBE8-9D6B-D6761926A8DD}"/>
              </a:ext>
            </a:extLst>
          </p:cNvPr>
          <p:cNvSpPr txBox="1"/>
          <p:nvPr/>
        </p:nvSpPr>
        <p:spPr>
          <a:xfrm>
            <a:off x="646111" y="1392382"/>
            <a:ext cx="1089977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O construtor é um "método especial" invocado no momento em que você utiliza a palavra-chave </a:t>
            </a:r>
            <a:r>
              <a:rPr lang="pt-BR" sz="3200" b="1" dirty="0">
                <a:solidFill>
                  <a:srgbClr val="00B0F0"/>
                </a:solidFill>
              </a:rPr>
              <a:t>new</a:t>
            </a:r>
            <a:r>
              <a:rPr lang="pt-BR" sz="3200" dirty="0"/>
              <a:t>. Sua única função é </a:t>
            </a:r>
            <a:r>
              <a:rPr lang="pt-BR" sz="3200" b="1" dirty="0"/>
              <a:t>inicializar o objeto</a:t>
            </a:r>
            <a:r>
              <a:rPr lang="pt-BR" sz="3200" dirty="0"/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b="1" dirty="0"/>
              <a:t>Nome </a:t>
            </a:r>
            <a:r>
              <a:rPr lang="pt-BR" sz="2800" b="1" dirty="0" err="1"/>
              <a:t>Identico</a:t>
            </a:r>
            <a:r>
              <a:rPr lang="pt-BR" sz="2800" b="1" dirty="0"/>
              <a:t>:</a:t>
            </a:r>
            <a:r>
              <a:rPr lang="pt-BR" sz="2800" dirty="0"/>
              <a:t> O nome do construtor deve ser exatamente igual ao nome da classe.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b="1" dirty="0"/>
              <a:t>Sem Retorno:</a:t>
            </a:r>
            <a:r>
              <a:rPr lang="pt-BR" sz="2800" dirty="0"/>
              <a:t> Diferente de métodos comuns, construtores não possuem tipo de retorno (nem mesmo </a:t>
            </a:r>
            <a:r>
              <a:rPr lang="pt-BR" sz="2800" dirty="0" err="1"/>
              <a:t>void</a:t>
            </a:r>
            <a:r>
              <a:rPr lang="pt-BR" sz="2800" dirty="0"/>
              <a:t>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3200" b="1" dirty="0"/>
              <a:t>Execução Única:</a:t>
            </a:r>
            <a:r>
              <a:rPr lang="pt-BR" sz="3200" dirty="0"/>
              <a:t> Ele é executado apenas uma vez, no instante da criação da instância.</a:t>
            </a:r>
          </a:p>
        </p:txBody>
      </p:sp>
    </p:spTree>
    <p:extLst>
      <p:ext uri="{BB962C8B-B14F-4D97-AF65-F5344CB8AC3E}">
        <p14:creationId xmlns:p14="http://schemas.microsoft.com/office/powerpoint/2010/main" val="18009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5AD94-3881-6169-3E1D-AE49DA4F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D9CA0-EA55-3C47-C0AE-289E52C6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Construtor Padrão (Default)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3860272-5DA0-0D23-8039-8697A0729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5710267-5D56-E1A2-1EC9-331AFDABA966}"/>
              </a:ext>
            </a:extLst>
          </p:cNvPr>
          <p:cNvSpPr txBox="1"/>
          <p:nvPr/>
        </p:nvSpPr>
        <p:spPr>
          <a:xfrm>
            <a:off x="646111" y="1392382"/>
            <a:ext cx="1089977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Se você não escrever nenhum construtor, o Java cria um para você automaticamente por debaixo dos panos: um construtor público e sem argumentos.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b="1" dirty="0"/>
              <a:t>Importante:</a:t>
            </a:r>
            <a:r>
              <a:rPr lang="pt-BR" sz="3200" dirty="0"/>
              <a:t> Se você escrever </a:t>
            </a:r>
            <a:r>
              <a:rPr lang="pt-BR" sz="3200" b="1" dirty="0"/>
              <a:t>qualquer</a:t>
            </a:r>
            <a:r>
              <a:rPr lang="pt-BR" sz="3200" dirty="0"/>
              <a:t> construtor personalizado, o Java deixará de criar o padrão automaticamente. Isso é vital para o padrão </a:t>
            </a:r>
            <a:r>
              <a:rPr lang="pt-BR" sz="3200" b="1" dirty="0" err="1"/>
              <a:t>JavaBeans</a:t>
            </a:r>
            <a:r>
              <a:rPr lang="pt-BR" sz="3200" dirty="0"/>
              <a:t>, que exige um construtor sem argumentos.</a:t>
            </a:r>
          </a:p>
        </p:txBody>
      </p:sp>
    </p:spTree>
    <p:extLst>
      <p:ext uri="{BB962C8B-B14F-4D97-AF65-F5344CB8AC3E}">
        <p14:creationId xmlns:p14="http://schemas.microsoft.com/office/powerpoint/2010/main" val="16011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CBEC2-A4E6-C096-4E2C-812D377B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840E-7CDD-E935-6B10-A019640A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1ED9C28-03B3-005F-CA39-86905FFB0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BFFA5F0-CAAE-E04C-141B-5BC21FC8D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19" y="1423707"/>
            <a:ext cx="7830025" cy="460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213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F504-EA8A-BF8F-4117-08E15759D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3754D-D9EF-DD2A-884F-A5E6178B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 Palavra-chave </a:t>
            </a:r>
            <a:r>
              <a:rPr lang="pt-BR" b="1" dirty="0" err="1"/>
              <a:t>this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CB5EBE-23B8-C731-FAD4-0BF80B623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CBB21CF-1D5E-7AA4-2415-5594306DC3C8}"/>
              </a:ext>
            </a:extLst>
          </p:cNvPr>
          <p:cNvSpPr txBox="1"/>
          <p:nvPr/>
        </p:nvSpPr>
        <p:spPr>
          <a:xfrm>
            <a:off x="854651" y="1481573"/>
            <a:ext cx="1069123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</a:pPr>
            <a:r>
              <a:rPr lang="pt-BR" sz="3200" dirty="0"/>
              <a:t>A palavra-chave </a:t>
            </a:r>
            <a:r>
              <a:rPr lang="pt-BR" sz="3200" b="1" dirty="0" err="1">
                <a:solidFill>
                  <a:srgbClr val="FFFF00"/>
                </a:solidFill>
              </a:rPr>
              <a:t>this</a:t>
            </a:r>
            <a:r>
              <a:rPr lang="pt-BR" sz="3200" dirty="0"/>
              <a:t> é uma referência implícita presente em todos os métodos e construtores de instância. Ela armazena o endereço de memória do objeto que invocou o método atual.</a:t>
            </a:r>
            <a:endParaRPr lang="pt-BR" altLang="pt-BR" sz="3200" dirty="0"/>
          </a:p>
        </p:txBody>
      </p:sp>
    </p:spTree>
    <p:extLst>
      <p:ext uri="{BB962C8B-B14F-4D97-AF65-F5344CB8AC3E}">
        <p14:creationId xmlns:p14="http://schemas.microsoft.com/office/powerpoint/2010/main" val="450142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5A64-0BEB-106A-F3C2-E340741DD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B0208-DF4E-63F9-2158-1FEC57B5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Utilização do </a:t>
            </a:r>
            <a:r>
              <a:rPr lang="pt-BR" b="1" dirty="0" err="1"/>
              <a:t>this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E0720D-D6AF-684B-0694-0984E115A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6987F4B-740F-D03E-7C12-1FDF15827761}"/>
              </a:ext>
            </a:extLst>
          </p:cNvPr>
          <p:cNvSpPr txBox="1"/>
          <p:nvPr/>
        </p:nvSpPr>
        <p:spPr>
          <a:xfrm>
            <a:off x="854651" y="1481573"/>
            <a:ext cx="1069123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b="1" dirty="0"/>
              <a:t>Diferenciar Atributos de Parâmetros (Sombreamento)</a:t>
            </a:r>
          </a:p>
          <a:p>
            <a:pPr algn="just"/>
            <a:r>
              <a:rPr lang="pt-BR" sz="3200" dirty="0"/>
              <a:t>Este é o uso mais comum, especialmente no padrão </a:t>
            </a:r>
            <a:r>
              <a:rPr lang="pt-BR" sz="3200" b="1" dirty="0" err="1"/>
              <a:t>JavaBeans</a:t>
            </a:r>
            <a:r>
              <a:rPr lang="pt-BR" sz="3200" dirty="0"/>
              <a:t>. </a:t>
            </a:r>
          </a:p>
          <a:p>
            <a:pPr algn="just"/>
            <a:r>
              <a:rPr lang="pt-BR" sz="3200" dirty="0"/>
              <a:t>Quando um parâmetro de um método ou construtor tem o mesmo nome de um atributo da classe, o Java prioriza o parâmetro (isso é chamado de </a:t>
            </a:r>
            <a:r>
              <a:rPr lang="pt-BR" sz="3200" i="1" dirty="0" err="1"/>
              <a:t>shadowing</a:t>
            </a:r>
            <a:r>
              <a:rPr lang="pt-BR" sz="3200" dirty="0"/>
              <a:t>). O </a:t>
            </a:r>
            <a:r>
              <a:rPr lang="pt-BR" sz="3200" b="1" dirty="0" err="1">
                <a:solidFill>
                  <a:srgbClr val="FFFF00"/>
                </a:solidFill>
              </a:rPr>
              <a:t>this</a:t>
            </a:r>
            <a:r>
              <a:rPr lang="pt-BR" sz="3200" dirty="0"/>
              <a:t> resolve essa ambiguidade.</a:t>
            </a:r>
          </a:p>
        </p:txBody>
      </p:sp>
    </p:spTree>
    <p:extLst>
      <p:ext uri="{BB962C8B-B14F-4D97-AF65-F5344CB8AC3E}">
        <p14:creationId xmlns:p14="http://schemas.microsoft.com/office/powerpoint/2010/main" val="1101069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55C9D-E7FB-E7C1-B2E4-8B42F618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C20EC-9832-DC15-36BA-543EB900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Utilização do </a:t>
            </a:r>
            <a:r>
              <a:rPr lang="pt-BR" b="1" dirty="0" err="1"/>
              <a:t>this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82920C-6114-F27C-0BDA-A81027D7E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EA8FBAE-DC38-2DC8-8F1A-36E0D45D2B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265" y="2206834"/>
            <a:ext cx="6796625" cy="316725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5D21D9C-F5CB-9E03-C7CC-920BBE4DA863}"/>
              </a:ext>
            </a:extLst>
          </p:cNvPr>
          <p:cNvSpPr txBox="1"/>
          <p:nvPr/>
        </p:nvSpPr>
        <p:spPr>
          <a:xfrm>
            <a:off x="646111" y="1483916"/>
            <a:ext cx="10368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Diferenciar Atributos de Parâmetros (Sombreamento)</a:t>
            </a:r>
          </a:p>
        </p:txBody>
      </p:sp>
    </p:spTree>
    <p:extLst>
      <p:ext uri="{BB962C8B-B14F-4D97-AF65-F5344CB8AC3E}">
        <p14:creationId xmlns:p14="http://schemas.microsoft.com/office/powerpoint/2010/main" val="525770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F44A1-C290-2FF2-81F0-384C6CF0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F236B-AB17-FAF5-09AC-AAF3BF35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Utilização do </a:t>
            </a:r>
            <a:r>
              <a:rPr lang="pt-BR" b="1" dirty="0" err="1"/>
              <a:t>this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19D67C6-E52C-EA2D-3EC0-886BFDA42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166724F-C6F5-3FC1-524C-444F13DA7B21}"/>
              </a:ext>
            </a:extLst>
          </p:cNvPr>
          <p:cNvSpPr txBox="1"/>
          <p:nvPr/>
        </p:nvSpPr>
        <p:spPr>
          <a:xfrm>
            <a:off x="854651" y="1315317"/>
            <a:ext cx="1069123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b="1" dirty="0"/>
              <a:t>Invocar Construtores da Mesma Classe</a:t>
            </a:r>
          </a:p>
          <a:p>
            <a:pPr algn="just"/>
            <a:endParaRPr lang="pt-BR" sz="1600" dirty="0"/>
          </a:p>
          <a:p>
            <a:pPr algn="just"/>
            <a:r>
              <a:rPr lang="pt-BR" sz="3200" dirty="0"/>
              <a:t>Dentro de um construtor, você pode chamar outro construtor da mesma classe usando </a:t>
            </a:r>
            <a:r>
              <a:rPr lang="pt-BR" sz="3200" b="1" dirty="0" err="1">
                <a:solidFill>
                  <a:srgbClr val="FFFF00"/>
                </a:solidFill>
              </a:rPr>
              <a:t>this</a:t>
            </a:r>
            <a:r>
              <a:rPr lang="pt-BR" sz="3200" b="1" dirty="0">
                <a:solidFill>
                  <a:srgbClr val="FFFF00"/>
                </a:solidFill>
              </a:rPr>
              <a:t>()</a:t>
            </a:r>
            <a:r>
              <a:rPr lang="pt-BR" sz="3200" dirty="0"/>
              <a:t>. Isso evita a repetição de código (DRY - </a:t>
            </a:r>
            <a:r>
              <a:rPr lang="pt-BR" sz="3200" i="1" dirty="0" err="1"/>
              <a:t>Don't</a:t>
            </a:r>
            <a:r>
              <a:rPr lang="pt-BR" sz="3200" i="1" dirty="0"/>
              <a:t> </a:t>
            </a:r>
            <a:r>
              <a:rPr lang="pt-BR" sz="3200" i="1" dirty="0" err="1"/>
              <a:t>Repeat</a:t>
            </a:r>
            <a:r>
              <a:rPr lang="pt-BR" sz="3200" i="1" dirty="0"/>
              <a:t> </a:t>
            </a:r>
            <a:r>
              <a:rPr lang="pt-BR" sz="3200" i="1" dirty="0" err="1"/>
              <a:t>Yourself</a:t>
            </a:r>
            <a:r>
              <a:rPr lang="pt-BR" sz="3200" dirty="0"/>
              <a:t>).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b="1" dirty="0"/>
              <a:t>Regra:</a:t>
            </a:r>
            <a:r>
              <a:rPr lang="pt-BR" sz="3200" dirty="0"/>
              <a:t> A chamada ao </a:t>
            </a:r>
            <a:r>
              <a:rPr lang="pt-BR" sz="3200" b="1" dirty="0" err="1">
                <a:solidFill>
                  <a:srgbClr val="FFFF00"/>
                </a:solidFill>
              </a:rPr>
              <a:t>this</a:t>
            </a:r>
            <a:r>
              <a:rPr lang="pt-BR" sz="3200" b="1" dirty="0">
                <a:solidFill>
                  <a:srgbClr val="FFFF00"/>
                </a:solidFill>
              </a:rPr>
              <a:t>()</a:t>
            </a:r>
            <a:r>
              <a:rPr lang="pt-BR" sz="3200" dirty="0"/>
              <a:t> deve ser obrigatoriamente a </a:t>
            </a:r>
            <a:r>
              <a:rPr lang="pt-BR" sz="3200" b="1" dirty="0"/>
              <a:t>primeira linha</a:t>
            </a:r>
            <a:r>
              <a:rPr lang="pt-BR" sz="3200" dirty="0"/>
              <a:t> de código dentro do construtor.</a:t>
            </a:r>
          </a:p>
          <a:p>
            <a:pPr algn="just"/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768888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F24FD-4B3D-A910-10B8-9836684C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5E643-B12E-E10D-4C5E-B8B21D410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Utilização do </a:t>
            </a:r>
            <a:r>
              <a:rPr lang="pt-BR" b="1" dirty="0" err="1"/>
              <a:t>this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B381C8-5CAA-5C30-6C21-C4E475A6F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6E9A557-883F-9446-3320-FEBA3ABD7A85}"/>
              </a:ext>
            </a:extLst>
          </p:cNvPr>
          <p:cNvSpPr txBox="1"/>
          <p:nvPr/>
        </p:nvSpPr>
        <p:spPr>
          <a:xfrm>
            <a:off x="854651" y="1315317"/>
            <a:ext cx="10691237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b="1" dirty="0"/>
              <a:t>Passar a Instância Atual como Argumento</a:t>
            </a:r>
          </a:p>
          <a:p>
            <a:pPr algn="just"/>
            <a:endParaRPr lang="pt-BR" sz="1600" b="1" dirty="0"/>
          </a:p>
          <a:p>
            <a:pPr algn="just"/>
            <a:r>
              <a:rPr lang="pt-BR" sz="3200" dirty="0"/>
              <a:t>Às vezes, um objeto precisa passar a si mesmo para outro método ou sistema.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Exemplo em IoT:</a:t>
            </a:r>
            <a:r>
              <a:rPr lang="pt-BR" sz="2800" dirty="0"/>
              <a:t> Um objeto Sensor pode precisar se registrar em um Controlador passando </a:t>
            </a:r>
            <a:r>
              <a:rPr lang="pt-BR" sz="2800" dirty="0" err="1"/>
              <a:t>controlador.registrar</a:t>
            </a:r>
            <a:r>
              <a:rPr lang="pt-BR" sz="2800" dirty="0"/>
              <a:t>(</a:t>
            </a:r>
            <a:r>
              <a:rPr lang="pt-BR" sz="2800" dirty="0" err="1"/>
              <a:t>this</a:t>
            </a:r>
            <a:r>
              <a:rPr lang="pt-BR" sz="2800" dirty="0"/>
              <a:t>).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Exemplo em Swing:</a:t>
            </a:r>
            <a:r>
              <a:rPr lang="pt-BR" sz="2800" dirty="0"/>
              <a:t> Ao configurar um evento em um botão dentro de um </a:t>
            </a:r>
            <a:r>
              <a:rPr lang="pt-BR" sz="2800" dirty="0" err="1"/>
              <a:t>JFrame</a:t>
            </a:r>
            <a:r>
              <a:rPr lang="pt-BR" sz="2800" dirty="0"/>
              <a:t>, você pode usar </a:t>
            </a:r>
            <a:r>
              <a:rPr lang="pt-BR" sz="2800" dirty="0" err="1"/>
              <a:t>this</a:t>
            </a:r>
            <a:r>
              <a:rPr lang="pt-BR" sz="2800" dirty="0"/>
              <a:t> para indicar que o próprio frame é o ouvinte do evento.</a:t>
            </a:r>
          </a:p>
          <a:p>
            <a:pPr algn="just"/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85528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2987E-36A9-EE50-A035-1FD8BE07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07B74-6C13-7ED9-9BAC-F5F47D82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 Palavra-chave super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045E5A6-BB8C-FF15-2E26-F94D8C7B7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1540725-A6E5-8530-180D-7B0AEB4287E9}"/>
              </a:ext>
            </a:extLst>
          </p:cNvPr>
          <p:cNvSpPr txBox="1"/>
          <p:nvPr/>
        </p:nvSpPr>
        <p:spPr>
          <a:xfrm>
            <a:off x="854651" y="1481573"/>
            <a:ext cx="1069123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Quando trabalhamos com herança, o construtor da subclasse precisa garantir que a superclasse seja inicializada primeiro.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O Java sempre tenta chamar </a:t>
            </a:r>
            <a:r>
              <a:rPr lang="pt-BR" sz="3200" b="1" dirty="0">
                <a:solidFill>
                  <a:srgbClr val="FFFF00"/>
                </a:solidFill>
              </a:rPr>
              <a:t>super() </a:t>
            </a:r>
            <a:r>
              <a:rPr lang="pt-BR" sz="3200" dirty="0"/>
              <a:t>(o construtor do pai) antes de qualquer coisa.</a:t>
            </a:r>
          </a:p>
          <a:p>
            <a:pPr algn="just"/>
            <a:r>
              <a:rPr lang="pt-BR" sz="3200" dirty="0"/>
              <a:t>Se o pai não tiver um construtor vazio, você deve chamar manualmente o construtor específico do pai usando </a:t>
            </a:r>
            <a:r>
              <a:rPr lang="pt-BR" sz="3200" b="1" dirty="0">
                <a:solidFill>
                  <a:srgbClr val="FFFF00"/>
                </a:solidFill>
              </a:rPr>
              <a:t>super(</a:t>
            </a:r>
            <a:r>
              <a:rPr lang="pt-BR" sz="3200" b="1" dirty="0" err="1">
                <a:solidFill>
                  <a:srgbClr val="FFFF00"/>
                </a:solidFill>
              </a:rPr>
              <a:t>parametros</a:t>
            </a:r>
            <a:r>
              <a:rPr lang="pt-BR" sz="3200" b="1" dirty="0">
                <a:solidFill>
                  <a:srgbClr val="FFFF00"/>
                </a:solidFill>
              </a:rPr>
              <a:t>) </a:t>
            </a:r>
            <a:r>
              <a:rPr lang="pt-BR" sz="3200" dirty="0"/>
              <a:t>na primeira linha da "filha".</a:t>
            </a:r>
          </a:p>
        </p:txBody>
      </p:sp>
    </p:spTree>
    <p:extLst>
      <p:ext uri="{BB962C8B-B14F-4D97-AF65-F5344CB8AC3E}">
        <p14:creationId xmlns:p14="http://schemas.microsoft.com/office/powerpoint/2010/main" val="956224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E09DD-122D-1B19-A6F1-2ABEB3804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4C310-2856-8407-3F08-49E2E75D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Utilização do super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738E73A-CC54-2751-2126-24B2B4BE0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711130E-3A56-67E4-8F40-6A98D077F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63" y="1183014"/>
            <a:ext cx="5263455" cy="276103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7015CB6-950F-0B0D-4E36-725FA6593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931" y="2468375"/>
            <a:ext cx="6807039" cy="343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85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F122A-D5C3-6EE1-72E9-5FB1953D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6BD3C-8EAF-53B2-BD58-60BBFC04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Instanciar / Construir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BDB69A1-3AD4-3B4E-D38D-72BB620E7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5AA77DC-5000-B4B9-FAA8-C631B54E651D}"/>
              </a:ext>
            </a:extLst>
          </p:cNvPr>
          <p:cNvSpPr txBox="1"/>
          <p:nvPr/>
        </p:nvSpPr>
        <p:spPr>
          <a:xfrm>
            <a:off x="854651" y="1481573"/>
            <a:ext cx="1069123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</a:pPr>
            <a:r>
              <a:rPr lang="pt-BR" altLang="pt-BR" sz="3200" dirty="0"/>
              <a:t>A criação de um objeto é que chamamos instanciação. Instanciar significa criar uma instância da classe (</a:t>
            </a:r>
            <a:r>
              <a:rPr lang="pt-BR" altLang="pt-BR" sz="3200" i="1" dirty="0" err="1"/>
              <a:t>class</a:t>
            </a:r>
            <a:r>
              <a:rPr lang="pt-BR" altLang="pt-BR" sz="3200" i="1" dirty="0"/>
              <a:t> </a:t>
            </a:r>
            <a:r>
              <a:rPr lang="pt-BR" altLang="pt-BR" sz="3200" i="1" dirty="0" err="1"/>
              <a:t>instance</a:t>
            </a:r>
            <a:r>
              <a:rPr lang="pt-BR" altLang="pt-BR" sz="3200" dirty="0"/>
              <a:t>), isto é, um novo objeto que pode ser descrito através desta classe.</a:t>
            </a:r>
          </a:p>
          <a:p>
            <a:pPr algn="just">
              <a:buClrTx/>
              <a:buFontTx/>
              <a:buNone/>
            </a:pPr>
            <a:endParaRPr lang="pt-BR" altLang="pt-BR" sz="3200" dirty="0"/>
          </a:p>
          <a:p>
            <a:pPr algn="just">
              <a:buClrTx/>
              <a:buFontTx/>
              <a:buNone/>
            </a:pPr>
            <a:r>
              <a:rPr lang="pt-BR" altLang="pt-BR" sz="3200" dirty="0"/>
              <a:t>Enquanto que uma classe é um modelo abstrato de um objeto, uma instância representa um objeto concreto desta classe.</a:t>
            </a:r>
          </a:p>
        </p:txBody>
      </p:sp>
    </p:spTree>
    <p:extLst>
      <p:ext uri="{BB962C8B-B14F-4D97-AF65-F5344CB8AC3E}">
        <p14:creationId xmlns:p14="http://schemas.microsoft.com/office/powerpoint/2010/main" val="3619037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CE55B-AE3A-9CDB-F1A3-561048BB5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66DBA-3CF9-E0A5-E812-E8BB6B5A1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Instanciar / Construir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BBE9EF6-051A-7C17-4416-0AB2AAFFC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7B42A6F9-B4AB-903A-35AE-7711D9065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3973" y="2081631"/>
            <a:ext cx="7015018" cy="157184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125"/>
              </a:spcBef>
            </a:pPr>
            <a:r>
              <a:rPr lang="pt-BR" altLang="pt-BR" sz="2400"/>
              <a:t>A classe </a:t>
            </a:r>
            <a:r>
              <a:rPr lang="pt-BR" altLang="pt-BR" sz="2400" b="1"/>
              <a:t>cliente</a:t>
            </a:r>
            <a:r>
              <a:rPr lang="pt-BR" altLang="pt-BR" sz="2400"/>
              <a:t> representa um modelo abstrato de cliente enquanto que cada cliente que existe fisicamente é uma instância desta classe, ou seja, um objeto concreto deste tipo.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D826E01-2069-A3E3-D688-228D692C3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27" y="1696376"/>
            <a:ext cx="3093027" cy="268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73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E549-D954-DA4D-0C8D-C6C536B1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3B968-8977-C2DD-D682-F34D5B03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Instanciar / Construir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8E710B2-34C0-F188-D28E-D4D1DF438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456A4FC6-B588-DBB3-F8F9-98ED014F1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2" y="1327150"/>
            <a:ext cx="10513724" cy="1571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2400" dirty="0">
                <a:solidFill>
                  <a:schemeClr val="tx1"/>
                </a:solidFill>
              </a:rPr>
              <a:t>Do ponto de vista computacional, a instância corresponde a alocação de memória para armazenar informações sobre um certo objeto, ou seja, a reserva de uma porção de memória para guardar os valores associados aos atributos que descrevem um objeto de uma certa classe.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1447D586-B4F7-ED2F-DE40-D7DA100DA7AA}"/>
              </a:ext>
            </a:extLst>
          </p:cNvPr>
          <p:cNvGraphicFramePr>
            <a:graphicFrameLocks noGrp="1"/>
          </p:cNvGraphicFramePr>
          <p:nvPr/>
        </p:nvGraphicFramePr>
        <p:xfrm>
          <a:off x="3771901" y="3240089"/>
          <a:ext cx="2328863" cy="520700"/>
        </p:xfrm>
        <a:graphic>
          <a:graphicData uri="http://schemas.openxmlformats.org/drawingml/2006/table">
            <a:tbl>
              <a:tblPr/>
              <a:tblGrid>
                <a:gridCol w="465138">
                  <a:extLst>
                    <a:ext uri="{9D8B030D-6E8A-4147-A177-3AD203B41FA5}">
                      <a16:colId xmlns:a16="http://schemas.microsoft.com/office/drawing/2014/main" val="820638493"/>
                    </a:ext>
                  </a:extLst>
                </a:gridCol>
                <a:gridCol w="465137">
                  <a:extLst>
                    <a:ext uri="{9D8B030D-6E8A-4147-A177-3AD203B41FA5}">
                      <a16:colId xmlns:a16="http://schemas.microsoft.com/office/drawing/2014/main" val="3149207227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val="2034671328"/>
                    </a:ext>
                  </a:extLst>
                </a:gridCol>
                <a:gridCol w="465137">
                  <a:extLst>
                    <a:ext uri="{9D8B030D-6E8A-4147-A177-3AD203B41FA5}">
                      <a16:colId xmlns:a16="http://schemas.microsoft.com/office/drawing/2014/main" val="1816380679"/>
                    </a:ext>
                  </a:extLst>
                </a:gridCol>
                <a:gridCol w="465138">
                  <a:extLst>
                    <a:ext uri="{9D8B030D-6E8A-4147-A177-3AD203B41FA5}">
                      <a16:colId xmlns:a16="http://schemas.microsoft.com/office/drawing/2014/main" val="3813865672"/>
                    </a:ext>
                  </a:extLst>
                </a:gridCol>
              </a:tblGrid>
              <a:tr h="520700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pt-BR" altLang="pt-BR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90000" marR="90000" marT="107252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pt-BR" altLang="pt-BR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90000" marR="90000" marT="107252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pt-BR" altLang="pt-BR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90000" marR="90000" marT="107252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pt-BR" altLang="pt-BR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90000" marR="90000" marT="107252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pt-BR" altLang="pt-BR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90000" marR="90000" marT="107252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30662"/>
                  </a:ext>
                </a:extLst>
              </a:tr>
            </a:tbl>
          </a:graphicData>
        </a:graphic>
      </p:graphicFrame>
      <p:sp>
        <p:nvSpPr>
          <p:cNvPr id="5" name="Rectangle 25">
            <a:extLst>
              <a:ext uri="{FF2B5EF4-FFF2-40B4-BE49-F238E27FC236}">
                <a16:creationId xmlns:a16="http://schemas.microsoft.com/office/drawing/2014/main" id="{7F0944AD-0C2D-EC92-30A8-66FA58863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9" y="3325813"/>
            <a:ext cx="287337" cy="360362"/>
          </a:xfrm>
          <a:prstGeom prst="rect">
            <a:avLst/>
          </a:prstGeom>
          <a:solidFill>
            <a:srgbClr val="BBE0E3"/>
          </a:solidFill>
          <a:ln w="28440" cap="sq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91C34F4E-7765-3797-D52D-22CA0B89C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3311526"/>
            <a:ext cx="287338" cy="360363"/>
          </a:xfrm>
          <a:prstGeom prst="rect">
            <a:avLst/>
          </a:prstGeom>
          <a:solidFill>
            <a:srgbClr val="BBE0E3"/>
          </a:solidFill>
          <a:ln w="28440" cap="sq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39A1B711-F5AC-50DF-5EE2-E31902DF7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964" y="3311526"/>
            <a:ext cx="287337" cy="360363"/>
          </a:xfrm>
          <a:prstGeom prst="rect">
            <a:avLst/>
          </a:prstGeom>
          <a:solidFill>
            <a:srgbClr val="BBE0E3"/>
          </a:solidFill>
          <a:ln w="28440" cap="sq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1" name="Rectangle 28">
            <a:extLst>
              <a:ext uri="{FF2B5EF4-FFF2-40B4-BE49-F238E27FC236}">
                <a16:creationId xmlns:a16="http://schemas.microsoft.com/office/drawing/2014/main" id="{1C50D7A0-95AC-CC44-ABC5-B3ED28353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4" y="3311526"/>
            <a:ext cx="287337" cy="360363"/>
          </a:xfrm>
          <a:prstGeom prst="rect">
            <a:avLst/>
          </a:prstGeom>
          <a:solidFill>
            <a:srgbClr val="BBE0E3"/>
          </a:solidFill>
          <a:ln w="28440" cap="sq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D32A91CF-254C-3E1F-AA77-5B01E140A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875" y="3311526"/>
            <a:ext cx="287338" cy="360363"/>
          </a:xfrm>
          <a:prstGeom prst="rect">
            <a:avLst/>
          </a:prstGeom>
          <a:solidFill>
            <a:srgbClr val="BBE0E3"/>
          </a:solidFill>
          <a:ln w="28440" cap="sq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AB6CD27F-C462-080A-4FC4-D5D36B966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9" y="4652964"/>
            <a:ext cx="2160587" cy="1800225"/>
          </a:xfrm>
          <a:prstGeom prst="rect">
            <a:avLst/>
          </a:prstGeom>
          <a:solidFill>
            <a:srgbClr val="EAEAEA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2400"/>
              <a:t>  Julio: cliente</a:t>
            </a:r>
          </a:p>
          <a:p>
            <a:pPr algn="just">
              <a:buClrTx/>
              <a:buFontTx/>
              <a:buNone/>
            </a:pPr>
            <a:endParaRPr lang="pt-BR" altLang="pt-BR" sz="500"/>
          </a:p>
          <a:p>
            <a:pPr algn="just">
              <a:buClrTx/>
              <a:buFontTx/>
              <a:buNone/>
            </a:pPr>
            <a:r>
              <a:rPr lang="pt-BR" altLang="pt-BR"/>
              <a:t> Nome = Julio</a:t>
            </a:r>
          </a:p>
          <a:p>
            <a:pPr algn="just">
              <a:buClrTx/>
              <a:buFontTx/>
              <a:buNone/>
            </a:pPr>
            <a:r>
              <a:rPr lang="pt-BR" altLang="pt-BR"/>
              <a:t> Idade= 23</a:t>
            </a:r>
          </a:p>
          <a:p>
            <a:pPr algn="just">
              <a:buClrTx/>
              <a:buFontTx/>
              <a:buNone/>
            </a:pPr>
            <a:r>
              <a:rPr lang="pt-BR" altLang="pt-BR"/>
              <a:t> Olhos = Azuis</a:t>
            </a:r>
          </a:p>
          <a:p>
            <a:pPr algn="just">
              <a:buClrTx/>
              <a:buFontTx/>
              <a:buNone/>
            </a:pPr>
            <a:r>
              <a:rPr lang="pt-BR" altLang="pt-BR"/>
              <a:t> Altura = 1.40</a:t>
            </a:r>
          </a:p>
        </p:txBody>
      </p:sp>
      <p:sp>
        <p:nvSpPr>
          <p:cNvPr id="14" name="Line 31">
            <a:extLst>
              <a:ext uri="{FF2B5EF4-FFF2-40B4-BE49-F238E27FC236}">
                <a16:creationId xmlns:a16="http://schemas.microsoft.com/office/drawing/2014/main" id="{DC884EB3-0168-B678-B022-593AF7788AC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2189" y="5084764"/>
            <a:ext cx="2160587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cxnSp>
        <p:nvCxnSpPr>
          <p:cNvPr id="15" name="AutoShape 32">
            <a:extLst>
              <a:ext uri="{FF2B5EF4-FFF2-40B4-BE49-F238E27FC236}">
                <a16:creationId xmlns:a16="http://schemas.microsoft.com/office/drawing/2014/main" id="{CF9DE9F5-A624-8122-E482-F3B40E09A07A}"/>
              </a:ext>
            </a:extLst>
          </p:cNvPr>
          <p:cNvCxnSpPr>
            <a:cxnSpLocks noChangeShapeType="1"/>
            <a:stCxn id="13" idx="0"/>
            <a:endCxn id="5" idx="2"/>
          </p:cNvCxnSpPr>
          <p:nvPr/>
        </p:nvCxnSpPr>
        <p:spPr bwMode="auto">
          <a:xfrm rot="16200000">
            <a:off x="2543970" y="3212307"/>
            <a:ext cx="969962" cy="1914525"/>
          </a:xfrm>
          <a:prstGeom prst="bentConnector3">
            <a:avLst>
              <a:gd name="adj1" fmla="val 49514"/>
            </a:avLst>
          </a:prstGeom>
          <a:noFill/>
          <a:ln w="28440" cap="sq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" name="Rectangle 33">
            <a:extLst>
              <a:ext uri="{FF2B5EF4-FFF2-40B4-BE49-F238E27FC236}">
                <a16:creationId xmlns:a16="http://schemas.microsoft.com/office/drawing/2014/main" id="{984AD314-0E1F-7CB8-EB4C-FAC1305ED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4" y="4652964"/>
            <a:ext cx="2160587" cy="1800225"/>
          </a:xfrm>
          <a:prstGeom prst="rect">
            <a:avLst/>
          </a:prstGeom>
          <a:solidFill>
            <a:srgbClr val="EAEAEA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2400"/>
              <a:t> Paulo: cliente</a:t>
            </a:r>
          </a:p>
          <a:p>
            <a:pPr algn="just">
              <a:buClrTx/>
              <a:buFontTx/>
              <a:buNone/>
            </a:pPr>
            <a:endParaRPr lang="pt-BR" altLang="pt-BR" sz="500"/>
          </a:p>
          <a:p>
            <a:pPr algn="just">
              <a:buClrTx/>
              <a:buFontTx/>
              <a:buNone/>
            </a:pPr>
            <a:r>
              <a:rPr lang="pt-BR" altLang="pt-BR"/>
              <a:t> Nome = Paulo</a:t>
            </a:r>
          </a:p>
          <a:p>
            <a:pPr algn="just">
              <a:buClrTx/>
              <a:buFontTx/>
              <a:buNone/>
            </a:pPr>
            <a:r>
              <a:rPr lang="pt-BR" altLang="pt-BR"/>
              <a:t> Idade= 27</a:t>
            </a:r>
          </a:p>
          <a:p>
            <a:pPr algn="just">
              <a:buClrTx/>
              <a:buFontTx/>
              <a:buNone/>
            </a:pPr>
            <a:r>
              <a:rPr lang="pt-BR" altLang="pt-BR"/>
              <a:t> Olhos = Castanho</a:t>
            </a:r>
          </a:p>
          <a:p>
            <a:pPr algn="just">
              <a:buClrTx/>
              <a:buFontTx/>
              <a:buNone/>
            </a:pPr>
            <a:r>
              <a:rPr lang="pt-BR" altLang="pt-BR"/>
              <a:t> Altura = 1.86</a:t>
            </a:r>
          </a:p>
        </p:txBody>
      </p:sp>
      <p:sp>
        <p:nvSpPr>
          <p:cNvPr id="17" name="Line 34">
            <a:extLst>
              <a:ext uri="{FF2B5EF4-FFF2-40B4-BE49-F238E27FC236}">
                <a16:creationId xmlns:a16="http://schemas.microsoft.com/office/drawing/2014/main" id="{13440846-3531-25BE-CF0A-8918FC555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2964" y="5084764"/>
            <a:ext cx="2160587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cxnSp>
        <p:nvCxnSpPr>
          <p:cNvPr id="18" name="AutoShape 35">
            <a:extLst>
              <a:ext uri="{FF2B5EF4-FFF2-40B4-BE49-F238E27FC236}">
                <a16:creationId xmlns:a16="http://schemas.microsoft.com/office/drawing/2014/main" id="{917EC25F-F446-A1C8-A64C-EE725F1A0A8A}"/>
              </a:ext>
            </a:extLst>
          </p:cNvPr>
          <p:cNvCxnSpPr>
            <a:cxnSpLocks noChangeShapeType="1"/>
            <a:stCxn id="16" idx="0"/>
            <a:endCxn id="6" idx="2"/>
          </p:cNvCxnSpPr>
          <p:nvPr/>
        </p:nvCxnSpPr>
        <p:spPr bwMode="auto">
          <a:xfrm rot="16200000" flipV="1">
            <a:off x="3969544" y="4160044"/>
            <a:ext cx="984250" cy="4762"/>
          </a:xfrm>
          <a:prstGeom prst="bentConnector3">
            <a:avLst>
              <a:gd name="adj1" fmla="val 49537"/>
            </a:avLst>
          </a:prstGeom>
          <a:noFill/>
          <a:ln w="28440" cap="sq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" name="Rectangle 36">
            <a:extLst>
              <a:ext uri="{FF2B5EF4-FFF2-40B4-BE49-F238E27FC236}">
                <a16:creationId xmlns:a16="http://schemas.microsoft.com/office/drawing/2014/main" id="{01996C5A-96FE-9C64-66D5-889633981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600" y="4652964"/>
            <a:ext cx="2160588" cy="1800225"/>
          </a:xfrm>
          <a:prstGeom prst="rect">
            <a:avLst/>
          </a:prstGeom>
          <a:solidFill>
            <a:srgbClr val="EAEAEA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2400"/>
              <a:t> Elaine: cliente</a:t>
            </a:r>
          </a:p>
          <a:p>
            <a:pPr algn="just">
              <a:buClrTx/>
              <a:buFontTx/>
              <a:buNone/>
            </a:pPr>
            <a:endParaRPr lang="pt-BR" altLang="pt-BR" sz="500"/>
          </a:p>
          <a:p>
            <a:pPr algn="just">
              <a:buClrTx/>
              <a:buFontTx/>
              <a:buNone/>
            </a:pPr>
            <a:r>
              <a:rPr lang="pt-BR" altLang="pt-BR"/>
              <a:t> Nome = Elaine</a:t>
            </a:r>
          </a:p>
          <a:p>
            <a:pPr algn="just">
              <a:buClrTx/>
              <a:buFontTx/>
              <a:buNone/>
            </a:pPr>
            <a:r>
              <a:rPr lang="pt-BR" altLang="pt-BR"/>
              <a:t> Idade= 21</a:t>
            </a:r>
          </a:p>
          <a:p>
            <a:pPr algn="just">
              <a:buClrTx/>
              <a:buFontTx/>
              <a:buNone/>
            </a:pPr>
            <a:r>
              <a:rPr lang="pt-BR" altLang="pt-BR"/>
              <a:t> Olhos = Verde</a:t>
            </a:r>
          </a:p>
          <a:p>
            <a:pPr algn="just">
              <a:buClrTx/>
              <a:buFontTx/>
              <a:buNone/>
            </a:pPr>
            <a:r>
              <a:rPr lang="pt-BR" altLang="pt-BR"/>
              <a:t> Altura = 1.75</a:t>
            </a:r>
          </a:p>
        </p:txBody>
      </p:sp>
      <p:cxnSp>
        <p:nvCxnSpPr>
          <p:cNvPr id="20" name="AutoShape 37">
            <a:extLst>
              <a:ext uri="{FF2B5EF4-FFF2-40B4-BE49-F238E27FC236}">
                <a16:creationId xmlns:a16="http://schemas.microsoft.com/office/drawing/2014/main" id="{9A5A93BA-C11C-1E37-9985-FEE4A3CC786A}"/>
              </a:ext>
            </a:extLst>
          </p:cNvPr>
          <p:cNvCxnSpPr>
            <a:cxnSpLocks noChangeShapeType="1"/>
            <a:stCxn id="19" idx="0"/>
            <a:endCxn id="9" idx="2"/>
          </p:cNvCxnSpPr>
          <p:nvPr/>
        </p:nvCxnSpPr>
        <p:spPr bwMode="auto">
          <a:xfrm rot="16200000" flipV="1">
            <a:off x="5418932" y="3174207"/>
            <a:ext cx="984250" cy="1976437"/>
          </a:xfrm>
          <a:prstGeom prst="bentConnector3">
            <a:avLst>
              <a:gd name="adj1" fmla="val 49537"/>
            </a:avLst>
          </a:prstGeom>
          <a:noFill/>
          <a:ln w="28440" cap="sq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" name="Line 38">
            <a:extLst>
              <a:ext uri="{FF2B5EF4-FFF2-40B4-BE49-F238E27FC236}">
                <a16:creationId xmlns:a16="http://schemas.microsoft.com/office/drawing/2014/main" id="{3D47A1FD-0619-3EBF-320D-8B3AF81348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5014" y="5084764"/>
            <a:ext cx="2160587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13264B5D-E443-C2A1-BB74-04C6CFC87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650" y="3455989"/>
            <a:ext cx="17272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ts val="2000"/>
              </a:spcBef>
            </a:pPr>
            <a:r>
              <a:rPr lang="pt-BR" altLang="pt-BR" sz="3200"/>
              <a:t>...</a:t>
            </a:r>
          </a:p>
        </p:txBody>
      </p:sp>
      <p:sp>
        <p:nvSpPr>
          <p:cNvPr id="23" name="Text Box 40">
            <a:extLst>
              <a:ext uri="{FF2B5EF4-FFF2-40B4-BE49-F238E27FC236}">
                <a16:creationId xmlns:a16="http://schemas.microsoft.com/office/drawing/2014/main" id="{D50B5E43-0D7B-689B-E04E-0AB3D6E30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013" y="3709988"/>
            <a:ext cx="17272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ts val="1125"/>
              </a:spcBef>
            </a:pPr>
            <a:r>
              <a:rPr lang="pt-BR" altLang="pt-BR" b="1"/>
              <a:t>N</a:t>
            </a:r>
          </a:p>
        </p:txBody>
      </p:sp>
      <p:sp>
        <p:nvSpPr>
          <p:cNvPr id="24" name="Text Box 41">
            <a:extLst>
              <a:ext uri="{FF2B5EF4-FFF2-40B4-BE49-F238E27FC236}">
                <a16:creationId xmlns:a16="http://schemas.microsoft.com/office/drawing/2014/main" id="{92ED4906-72D1-743E-1618-1728AF076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400" y="2879725"/>
            <a:ext cx="17272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ts val="1125"/>
              </a:spcBef>
            </a:pPr>
            <a:r>
              <a:rPr lang="pt-BR" altLang="pt-BR" b="1"/>
              <a:t>Memória</a:t>
            </a:r>
          </a:p>
        </p:txBody>
      </p:sp>
    </p:spTree>
    <p:extLst>
      <p:ext uri="{BB962C8B-B14F-4D97-AF65-F5344CB8AC3E}">
        <p14:creationId xmlns:p14="http://schemas.microsoft.com/office/powerpoint/2010/main" val="1163039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A3D1C-A1A4-88F1-80E4-1A070EA5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B21A6-CEBC-8683-3C97-0553D4F7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Instanciar / Construir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E6536FD-D590-C124-FF44-B16A5A52E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A70FCCA5-E255-078A-62C8-F09645966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1" y="1455738"/>
            <a:ext cx="10378643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2400" dirty="0">
                <a:solidFill>
                  <a:schemeClr val="tx1"/>
                </a:solidFill>
              </a:rPr>
              <a:t>Para instanciarmos um novo objeto devemos utilizar o operador </a:t>
            </a:r>
            <a:r>
              <a:rPr lang="pt-BR" altLang="pt-BR" sz="2400" b="1" i="1" dirty="0">
                <a:solidFill>
                  <a:srgbClr val="00B0F0"/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dirty="0">
                <a:solidFill>
                  <a:schemeClr val="tx1"/>
                </a:solidFill>
              </a:rPr>
              <a:t>, destinado a criação de novos objetos como segue: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1035D956-3ED6-EBFD-C769-7EDAC8F86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4" y="2455863"/>
            <a:ext cx="10105013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2400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NomedaClasse</a:t>
            </a:r>
            <a:r>
              <a:rPr lang="pt-BR" altLang="pt-BR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nomeDoObjeto</a:t>
            </a:r>
            <a:r>
              <a:rPr lang="pt-BR" altLang="pt-BR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 = </a:t>
            </a:r>
            <a:r>
              <a:rPr lang="pt-BR" altLang="pt-BR" sz="2400" b="1" i="1" dirty="0">
                <a:solidFill>
                  <a:srgbClr val="00B0F0"/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NomeDaClasse</a:t>
            </a:r>
            <a:r>
              <a:rPr lang="pt-BR" altLang="pt-BR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();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19F1065F-1505-C01C-06D5-9B17EAFF5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139" y="3468688"/>
            <a:ext cx="9820706" cy="194117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2400"/>
              <a:t>Esta construção possui duas partes: a declaração de um objeto e a instanciação propriamente dita. A parte esquerda é semelhante a uma declaração de variáveis onde indicamos um tipo e um nome para a variável. No caso dizemos ser um objeto, pois, corresponde a uma instância de uma classe.</a:t>
            </a:r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67361872-CB3E-3422-EC2D-B4673FCD0D0F}"/>
              </a:ext>
            </a:extLst>
          </p:cNvPr>
          <p:cNvSpPr>
            <a:spLocks/>
          </p:cNvSpPr>
          <p:nvPr/>
        </p:nvSpPr>
        <p:spPr bwMode="auto">
          <a:xfrm rot="5400000">
            <a:off x="3267075" y="723900"/>
            <a:ext cx="431800" cy="4692650"/>
          </a:xfrm>
          <a:prstGeom prst="rightBrace">
            <a:avLst>
              <a:gd name="adj1" fmla="val 73652"/>
              <a:gd name="adj2" fmla="val 49958"/>
            </a:avLst>
          </a:prstGeom>
          <a:noFill/>
          <a:ln w="28440" cap="sq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03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5948-65EF-2277-2AC4-A3C4DDBE1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E926F-2F04-5728-18BD-C0EDF4D28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Instanciar / Construir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54FACEA-20E4-DD1C-D577-546F7914D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00E26E4A-B840-FC74-DE05-5BD5BABDA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4" y="1512888"/>
            <a:ext cx="10344004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2400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NomedaClasse</a:t>
            </a:r>
            <a:r>
              <a:rPr lang="pt-BR" altLang="pt-BR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nomeDoObjeto</a:t>
            </a:r>
            <a:r>
              <a:rPr lang="pt-BR" altLang="pt-BR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 = </a:t>
            </a:r>
            <a:r>
              <a:rPr lang="pt-BR" altLang="pt-BR" sz="2400" b="1" i="1" dirty="0">
                <a:solidFill>
                  <a:srgbClr val="00B0F0"/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NomeDaClasse</a:t>
            </a:r>
            <a:r>
              <a:rPr lang="pt-BR" altLang="pt-BR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();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005ACA7D-BDAF-97D0-5483-1A39BCADD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139" y="2354263"/>
            <a:ext cx="9991722" cy="157184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2400"/>
              <a:t>A parte direita é a instanciação do objeto, onde usamos o operador </a:t>
            </a:r>
            <a:r>
              <a:rPr lang="pt-BR" altLang="pt-BR" sz="2400" i="1">
                <a:solidFill>
                  <a:srgbClr val="0066FF"/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i="1"/>
              <a:t> </a:t>
            </a:r>
            <a:r>
              <a:rPr lang="pt-BR" altLang="pt-BR" sz="2400"/>
              <a:t>para indicar que desejamos a criação de um novo objeto de uma certa classe, o que é feito através de um método especial denominado construtor</a:t>
            </a:r>
            <a:r>
              <a:rPr lang="pt-BR" altLang="pt-BR" sz="2400" baseline="30000"/>
              <a:t>1</a:t>
            </a:r>
            <a:r>
              <a:rPr lang="pt-BR" altLang="pt-BR" sz="2400"/>
              <a:t>.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8B5E1C8B-6104-6298-D9BB-0F9AF59F94A4}"/>
              </a:ext>
            </a:extLst>
          </p:cNvPr>
          <p:cNvSpPr>
            <a:spLocks/>
          </p:cNvSpPr>
          <p:nvPr/>
        </p:nvSpPr>
        <p:spPr bwMode="auto">
          <a:xfrm rot="5400000">
            <a:off x="7769513" y="261795"/>
            <a:ext cx="431800" cy="3584862"/>
          </a:xfrm>
          <a:prstGeom prst="rightBrace">
            <a:avLst>
              <a:gd name="adj1" fmla="val 62531"/>
              <a:gd name="adj2" fmla="val 49958"/>
            </a:avLst>
          </a:prstGeom>
          <a:noFill/>
          <a:ln w="28440" cap="sq">
            <a:solidFill>
              <a:srgbClr val="92D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16B7762-7DB7-97C1-B5D2-811CDA742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145" y="4222751"/>
            <a:ext cx="10474037" cy="1571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2400" dirty="0">
                <a:solidFill>
                  <a:schemeClr val="tx1"/>
                </a:solidFill>
              </a:rPr>
              <a:t>Com isto efetuamos a criação de um novo objeto e guardamos uma referência para sua utilização na variável objeto. Para a criação de um objeto do tipo </a:t>
            </a:r>
            <a:r>
              <a:rPr lang="pt-BR" altLang="pt-BR" sz="2400" b="1" dirty="0">
                <a:solidFill>
                  <a:schemeClr val="tx1"/>
                </a:solidFill>
              </a:rPr>
              <a:t>Cliente</a:t>
            </a:r>
            <a:r>
              <a:rPr lang="pt-BR" altLang="pt-BR" sz="2400" dirty="0">
                <a:solidFill>
                  <a:schemeClr val="tx1"/>
                </a:solidFill>
              </a:rPr>
              <a:t> poderíamos escrever:</a:t>
            </a:r>
          </a:p>
          <a:p>
            <a:pPr algn="just">
              <a:buClrTx/>
              <a:buFontTx/>
              <a:buNone/>
            </a:pPr>
            <a:endParaRPr lang="pt-BR" altLang="pt-BR" sz="2400" dirty="0">
              <a:solidFill>
                <a:schemeClr val="tx1"/>
              </a:solidFill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05FCFEE3-A21F-B473-9432-8F77216D2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3300" y="5493761"/>
            <a:ext cx="9105033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Cliente </a:t>
            </a:r>
            <a:r>
              <a:rPr lang="pt-BR" altLang="pt-BR" sz="2400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novoCliente</a:t>
            </a:r>
            <a:r>
              <a:rPr lang="pt-BR" altLang="pt-BR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 = </a:t>
            </a:r>
            <a:r>
              <a:rPr lang="pt-BR" altLang="pt-BR" sz="2400" b="1" i="1" dirty="0">
                <a:solidFill>
                  <a:srgbClr val="00B0F0"/>
                </a:solidFill>
                <a:latin typeface="Courier New" panose="02070309020205020404" pitchFamily="49" charset="0"/>
              </a:rPr>
              <a:t>new</a:t>
            </a:r>
            <a:r>
              <a:rPr lang="pt-BR" altLang="pt-BR" sz="2400" i="1" dirty="0">
                <a:solidFill>
                  <a:schemeClr val="tx1"/>
                </a:solidFill>
                <a:latin typeface="Courier New" panose="02070309020205020404" pitchFamily="49" charset="0"/>
              </a:rPr>
              <a:t> Cliente();</a:t>
            </a:r>
          </a:p>
        </p:txBody>
      </p:sp>
    </p:spTree>
    <p:extLst>
      <p:ext uri="{BB962C8B-B14F-4D97-AF65-F5344CB8AC3E}">
        <p14:creationId xmlns:p14="http://schemas.microsoft.com/office/powerpoint/2010/main" val="57689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185</TotalTime>
  <Words>901</Words>
  <Application>Microsoft Office PowerPoint</Application>
  <PresentationFormat>Widescreen</PresentationFormat>
  <Paragraphs>80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Métodos Construtores</vt:lpstr>
      <vt:lpstr>Definição</vt:lpstr>
      <vt:lpstr>Implementação</vt:lpstr>
      <vt:lpstr>O Construtor Padrão (Default)</vt:lpstr>
      <vt:lpstr>Exemplo</vt:lpstr>
      <vt:lpstr>A Palavra-chave this</vt:lpstr>
      <vt:lpstr>Utilização do this</vt:lpstr>
      <vt:lpstr>Utilização do this</vt:lpstr>
      <vt:lpstr>Utilização do this</vt:lpstr>
      <vt:lpstr>Utilização do this</vt:lpstr>
      <vt:lpstr>A Palavra-chave super</vt:lpstr>
      <vt:lpstr>Utilização do super</vt:lpstr>
      <vt:lpstr>Instanciar / Construir</vt:lpstr>
      <vt:lpstr>Instanciar / Construir</vt:lpstr>
      <vt:lpstr>Instanciar / Construir</vt:lpstr>
      <vt:lpstr>Instanciar / Construir</vt:lpstr>
      <vt:lpstr>Instanciar / Construir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21</cp:revision>
  <dcterms:created xsi:type="dcterms:W3CDTF">2026-05-09T23:28:48Z</dcterms:created>
  <dcterms:modified xsi:type="dcterms:W3CDTF">2026-05-11T14:19:15Z</dcterms:modified>
</cp:coreProperties>
</file>